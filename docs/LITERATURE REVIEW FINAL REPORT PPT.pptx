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68" r:id="rId3"/>
    <p:sldId id="269" r:id="rId4"/>
    <p:sldId id="270" r:id="rId5"/>
    <p:sldId id="280" r:id="rId6"/>
    <p:sldId id="271" r:id="rId7"/>
    <p:sldId id="281" r:id="rId8"/>
    <p:sldId id="272" r:id="rId9"/>
    <p:sldId id="273" r:id="rId10"/>
    <p:sldId id="275" r:id="rId11"/>
    <p:sldId id="282" r:id="rId12"/>
    <p:sldId id="283" r:id="rId13"/>
    <p:sldId id="284" r:id="rId14"/>
    <p:sldId id="285" r:id="rId15"/>
    <p:sldId id="286" r:id="rId16"/>
    <p:sldId id="277" r:id="rId17"/>
    <p:sldId id="287" r:id="rId18"/>
    <p:sldId id="278" r:id="rId19"/>
    <p:sldId id="291" r:id="rId20"/>
    <p:sldId id="288" r:id="rId21"/>
    <p:sldId id="279" r:id="rId22"/>
    <p:sldId id="289" r:id="rId23"/>
    <p:sldId id="29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4022F-DBE0-4893-8DA3-AE022014C83B}"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E4C8A-E6B8-456D-B7F8-EB810E55D841}" type="slidenum">
              <a:rPr lang="en-IN" smtClean="0"/>
              <a:t>‹#›</a:t>
            </a:fld>
            <a:endParaRPr lang="en-IN"/>
          </a:p>
        </p:txBody>
      </p:sp>
    </p:spTree>
    <p:extLst>
      <p:ext uri="{BB962C8B-B14F-4D97-AF65-F5344CB8AC3E}">
        <p14:creationId xmlns:p14="http://schemas.microsoft.com/office/powerpoint/2010/main" val="416523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4: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2" name="Google Shape;62;p34: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5: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 name="Google Shape;70;p35: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6: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36: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7: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 name="Google Shape;84;p37: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8: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38: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9: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9: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0:notes"/>
          <p:cNvSpPr txBox="1">
            <a:spLocks noGrp="1"/>
          </p:cNvSpPr>
          <p:nvPr>
            <p:ph type="body" idx="1"/>
          </p:nvPr>
        </p:nvSpPr>
        <p:spPr>
          <a:xfrm>
            <a:off x="679450" y="4751387"/>
            <a:ext cx="5438775" cy="3889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 name="Google Shape;105;p40: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0d9c4f0da6_0_16: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20" name="Google Shape;120;g30d9c4f0da6_0_16:notes"/>
          <p:cNvSpPr txBox="1">
            <a:spLocks noGrp="1"/>
          </p:cNvSpPr>
          <p:nvPr>
            <p:ph type="body" idx="1"/>
          </p:nvPr>
        </p:nvSpPr>
        <p:spPr>
          <a:xfrm>
            <a:off x="679450" y="4751387"/>
            <a:ext cx="5438700" cy="388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g30d9c4f0da6_0_16:notes"/>
          <p:cNvSpPr txBox="1">
            <a:spLocks noGrp="1"/>
          </p:cNvSpPr>
          <p:nvPr>
            <p:ph type="sldNum" idx="12"/>
          </p:nvPr>
        </p:nvSpPr>
        <p:spPr>
          <a:xfrm>
            <a:off x="3849687" y="9378950"/>
            <a:ext cx="2946300" cy="4953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10</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0d9c4f0da6_0_24: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37" name="Google Shape;137;g30d9c4f0da6_0_24:notes"/>
          <p:cNvSpPr txBox="1">
            <a:spLocks noGrp="1"/>
          </p:cNvSpPr>
          <p:nvPr>
            <p:ph type="body" idx="1"/>
          </p:nvPr>
        </p:nvSpPr>
        <p:spPr>
          <a:xfrm>
            <a:off x="679450" y="4751387"/>
            <a:ext cx="5438700" cy="388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30d9c4f0da6_0_24:notes"/>
          <p:cNvSpPr txBox="1">
            <a:spLocks noGrp="1"/>
          </p:cNvSpPr>
          <p:nvPr>
            <p:ph type="sldNum" idx="12"/>
          </p:nvPr>
        </p:nvSpPr>
        <p:spPr>
          <a:xfrm>
            <a:off x="3849687" y="9378950"/>
            <a:ext cx="2946300" cy="4953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16</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56b7084ef_0_8: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53" name="Google Shape;153;g3156b7084ef_0_8:notes"/>
          <p:cNvSpPr txBox="1">
            <a:spLocks noGrp="1"/>
          </p:cNvSpPr>
          <p:nvPr>
            <p:ph type="body" idx="1"/>
          </p:nvPr>
        </p:nvSpPr>
        <p:spPr>
          <a:xfrm>
            <a:off x="679450" y="4751387"/>
            <a:ext cx="5438700" cy="388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56b7084ef_0_8:notes"/>
          <p:cNvSpPr txBox="1">
            <a:spLocks noGrp="1"/>
          </p:cNvSpPr>
          <p:nvPr>
            <p:ph type="sldNum" idx="12"/>
          </p:nvPr>
        </p:nvSpPr>
        <p:spPr>
          <a:xfrm>
            <a:off x="3849687" y="9378950"/>
            <a:ext cx="2946300" cy="4953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18</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0d9c4f0da6_0_39:notes"/>
          <p:cNvSpPr>
            <a:spLocks noGrp="1" noRot="1" noChangeAspect="1"/>
          </p:cNvSpPr>
          <p:nvPr>
            <p:ph type="sldImg" idx="2"/>
          </p:nvPr>
        </p:nvSpPr>
        <p:spPr>
          <a:xfrm>
            <a:off x="436563" y="1233488"/>
            <a:ext cx="5924550" cy="3333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61" name="Google Shape;161;g30d9c4f0da6_0_39:notes"/>
          <p:cNvSpPr txBox="1">
            <a:spLocks noGrp="1"/>
          </p:cNvSpPr>
          <p:nvPr>
            <p:ph type="body" idx="1"/>
          </p:nvPr>
        </p:nvSpPr>
        <p:spPr>
          <a:xfrm>
            <a:off x="679450" y="4751387"/>
            <a:ext cx="5438700" cy="3889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0d9c4f0da6_0_39:notes"/>
          <p:cNvSpPr txBox="1">
            <a:spLocks noGrp="1"/>
          </p:cNvSpPr>
          <p:nvPr>
            <p:ph type="sldNum" idx="12"/>
          </p:nvPr>
        </p:nvSpPr>
        <p:spPr>
          <a:xfrm>
            <a:off x="3849687" y="9378950"/>
            <a:ext cx="2946300" cy="4953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21</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9BDAD7-20D1-4448-AC1E-9C5033CC470B}" type="datetimeFigureOut">
              <a:rPr lang="en-IN" smtClean="0"/>
              <a:t>09-04-2026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4CCE884F-0041-4D18-BBF0-290B84669315}"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0541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BDAD7-20D1-4448-AC1E-9C5033CC470B}"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E884F-0041-4D18-BBF0-290B84669315}"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7550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9BDAD7-20D1-4448-AC1E-9C5033CC470B}"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E884F-0041-4D18-BBF0-290B84669315}"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530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BDAD7-20D1-4448-AC1E-9C5033CC470B}"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CE884F-0041-4D18-BBF0-290B84669315}"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35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9BDAD7-20D1-4448-AC1E-9C5033CC470B}" type="datetimeFigureOut">
              <a:rPr lang="en-IN" smtClean="0"/>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CE884F-0041-4D18-BBF0-290B84669315}"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3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9BDAD7-20D1-4448-AC1E-9C5033CC470B}" type="datetimeFigureOut">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CE884F-0041-4D18-BBF0-290B84669315}"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913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9BDAD7-20D1-4448-AC1E-9C5033CC470B}" type="datetimeFigureOut">
              <a:rPr lang="en-IN" smtClean="0"/>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CE884F-0041-4D18-BBF0-290B84669315}" type="slidenum">
              <a:rPr lang="en-IN" smtClean="0"/>
              <a:t>‹#›</a:t>
            </a:fld>
            <a:endParaRPr lang="en-IN"/>
          </a:p>
        </p:txBody>
      </p:sp>
    </p:spTree>
    <p:extLst>
      <p:ext uri="{BB962C8B-B14F-4D97-AF65-F5344CB8AC3E}">
        <p14:creationId xmlns:p14="http://schemas.microsoft.com/office/powerpoint/2010/main" val="242569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9BDAD7-20D1-4448-AC1E-9C5033CC470B}"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CE884F-0041-4D18-BBF0-290B84669315}"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7125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C9BDAD7-20D1-4448-AC1E-9C5033CC470B}" type="datetimeFigureOut">
              <a:rPr lang="en-IN" smtClean="0"/>
              <a:t>09-04-2026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4CCE884F-0041-4D18-BBF0-290B84669315}"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75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BDAD7-20D1-4448-AC1E-9C5033CC470B}"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E884F-0041-4D18-BBF0-290B84669315}"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6457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BDAD7-20D1-4448-AC1E-9C5033CC470B}"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CE884F-0041-4D18-BBF0-290B84669315}"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08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C9BDAD7-20D1-4448-AC1E-9C5033CC470B}" type="datetimeFigureOut">
              <a:rPr lang="en-IN" smtClean="0"/>
              <a:t>09-04-2026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CCE884F-0041-4D18-BBF0-290B8466931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518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chrome.lnk"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4"/>
          <p:cNvSpPr txBox="1">
            <a:spLocks noGrp="1"/>
          </p:cNvSpPr>
          <p:nvPr>
            <p:ph type="title"/>
          </p:nvPr>
        </p:nvSpPr>
        <p:spPr>
          <a:xfrm>
            <a:off x="1451579" y="1378634"/>
            <a:ext cx="9603277" cy="475120"/>
          </a:xfrm>
        </p:spPr>
        <p:txBody>
          <a:bodyPr>
            <a:normAutofit fontScale="90000"/>
          </a:bodyPr>
          <a:lstStyle/>
          <a:p>
            <a:pPr lvl="0"/>
            <a:r>
              <a:rPr lang="en-US" dirty="0"/>
              <a:t>  </a:t>
            </a:r>
          </a:p>
        </p:txBody>
      </p:sp>
      <p:sp>
        <p:nvSpPr>
          <p:cNvPr id="65" name="Google Shape;65;p34"/>
          <p:cNvSpPr txBox="1">
            <a:spLocks noGrp="1"/>
          </p:cNvSpPr>
          <p:nvPr>
            <p:ph idx="1"/>
          </p:nvPr>
        </p:nvSpPr>
        <p:spPr>
          <a:xfrm>
            <a:off x="1081548" y="2024266"/>
            <a:ext cx="10290241" cy="3097341"/>
          </a:xfrm>
        </p:spPr>
        <p:txBody>
          <a:bodyPr>
            <a:normAutofit/>
          </a:bodyPr>
          <a:lstStyle/>
          <a:p>
            <a:pPr marL="457200" lvl="1" indent="0">
              <a:buNone/>
            </a:pPr>
            <a:r>
              <a:rPr lang="en-US" sz="2000" dirty="0">
                <a:sym typeface="Times New Roman"/>
              </a:rPr>
              <a:t>Submitted By</a:t>
            </a:r>
            <a:endParaRPr lang="en-US" sz="2000" dirty="0">
              <a:sym typeface="Century Gothic"/>
            </a:endParaRPr>
          </a:p>
          <a:p>
            <a:pPr lvl="1"/>
            <a:r>
              <a:rPr lang="en-US" sz="2000" dirty="0">
                <a:sym typeface="Times New Roman"/>
              </a:rPr>
              <a:t>SHIVAM PAJIYAR (1CR23AD115)</a:t>
            </a:r>
            <a:endParaRPr lang="en-US" sz="2000" dirty="0">
              <a:sym typeface="Century Gothic"/>
            </a:endParaRPr>
          </a:p>
          <a:p>
            <a:pPr lvl="1"/>
            <a:r>
              <a:rPr lang="en-US" sz="2000" dirty="0">
                <a:sym typeface="Times New Roman"/>
              </a:rPr>
              <a:t>RAKESH RANJAN (1CR23AD099)</a:t>
            </a:r>
          </a:p>
          <a:p>
            <a:pPr lvl="1"/>
            <a:r>
              <a:rPr lang="en-US" sz="2000" dirty="0">
                <a:sym typeface="Times New Roman"/>
              </a:rPr>
              <a:t>ANISHEK RAUT (1CR23AD015)</a:t>
            </a:r>
            <a:endParaRPr lang="en-US" sz="2000" dirty="0"/>
          </a:p>
          <a:p>
            <a:pPr lvl="1"/>
            <a:r>
              <a:rPr lang="en-US" sz="2000" dirty="0">
                <a:sym typeface="Century Gothic"/>
              </a:rPr>
              <a:t>JITENDRA KUMAR GUPTA (1CR23AD047)</a:t>
            </a:r>
          </a:p>
          <a:p>
            <a:pPr marL="457200" lvl="1" indent="0">
              <a:buNone/>
            </a:pPr>
            <a:r>
              <a:rPr lang="en-US" sz="2000" dirty="0">
                <a:sym typeface="Times New Roman"/>
              </a:rPr>
              <a:t>Guidance of</a:t>
            </a:r>
            <a:endParaRPr lang="en-US" sz="2000" dirty="0">
              <a:sym typeface="Century Gothic"/>
            </a:endParaRPr>
          </a:p>
          <a:p>
            <a:pPr lvl="1"/>
            <a:r>
              <a:rPr lang="en-US" sz="2000" dirty="0">
                <a:sym typeface="Times New Roman"/>
              </a:rPr>
              <a:t>DR. SASIKALA N  (ASSISTANT PROFESSOR)</a:t>
            </a:r>
            <a:endParaRPr lang="en-US" sz="2000" dirty="0">
              <a:sym typeface="Century Gothic"/>
            </a:endParaRPr>
          </a:p>
          <a:p>
            <a:pPr lvl="0"/>
            <a:endParaRPr lang="en-US" dirty="0">
              <a:sym typeface="Georgia"/>
            </a:endParaRPr>
          </a:p>
        </p:txBody>
      </p:sp>
      <p:sp>
        <p:nvSpPr>
          <p:cNvPr id="66" name="Google Shape;66;p34"/>
          <p:cNvSpPr txBox="1"/>
          <p:nvPr/>
        </p:nvSpPr>
        <p:spPr>
          <a:xfrm>
            <a:off x="1246705" y="144950"/>
            <a:ext cx="9498181"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2400" b="1" i="0" u="none" strike="noStrike" cap="none" dirty="0">
                <a:solidFill>
                  <a:schemeClr val="bg2">
                    <a:lumMod val="25000"/>
                  </a:schemeClr>
                </a:solidFill>
                <a:latin typeface="Times New Roman"/>
                <a:ea typeface="Times New Roman"/>
                <a:cs typeface="Times New Roman"/>
                <a:sym typeface="Times New Roman"/>
              </a:rPr>
              <a:t>BAD685 - Project Phase I</a:t>
            </a:r>
            <a:endParaRPr sz="2400" b="1" i="0" u="none" strike="noStrike" cap="none" dirty="0">
              <a:solidFill>
                <a:schemeClr val="bg2">
                  <a:lumMod val="25000"/>
                </a:schemeClr>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600"/>
              <a:buFont typeface="Arial"/>
              <a:buNone/>
            </a:pPr>
            <a:r>
              <a:rPr lang="en-US" sz="2400" b="1" dirty="0">
                <a:solidFill>
                  <a:schemeClr val="bg2">
                    <a:lumMod val="25000"/>
                  </a:schemeClr>
                </a:solidFill>
                <a:latin typeface="Times New Roman"/>
                <a:ea typeface="Times New Roman"/>
                <a:cs typeface="Times New Roman"/>
                <a:sym typeface="Times New Roman"/>
              </a:rPr>
              <a:t>Literature </a:t>
            </a:r>
            <a:r>
              <a:rPr lang="en-US" sz="2400" b="1" i="0" u="none" strike="noStrike" cap="none" dirty="0">
                <a:solidFill>
                  <a:schemeClr val="bg2">
                    <a:lumMod val="25000"/>
                  </a:schemeClr>
                </a:solidFill>
                <a:latin typeface="Times New Roman"/>
                <a:ea typeface="Times New Roman"/>
                <a:cs typeface="Times New Roman"/>
                <a:sym typeface="Times New Roman"/>
              </a:rPr>
              <a:t>Review - 1 </a:t>
            </a:r>
            <a:endParaRPr sz="2400" b="1" i="0" u="none" strike="noStrike" cap="none" dirty="0">
              <a:solidFill>
                <a:schemeClr val="bg2">
                  <a:lumMod val="25000"/>
                </a:schemeClr>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dirty="0">
              <a:solidFill>
                <a:schemeClr val="accent1"/>
              </a:solidFill>
              <a:latin typeface="Times New Roman"/>
              <a:ea typeface="Times New Roman"/>
              <a:cs typeface="Times New Roman"/>
              <a:sym typeface="Times New Roman"/>
            </a:endParaRPr>
          </a:p>
        </p:txBody>
      </p:sp>
      <p:sp>
        <p:nvSpPr>
          <p:cNvPr id="67" name="Google Shape;67;p34"/>
          <p:cNvSpPr txBox="1"/>
          <p:nvPr/>
        </p:nvSpPr>
        <p:spPr>
          <a:xfrm>
            <a:off x="9429135" y="5274945"/>
            <a:ext cx="2762865"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2800" b="1" i="0" u="none" strike="noStrike" cap="none" dirty="0">
                <a:solidFill>
                  <a:schemeClr val="accent1"/>
                </a:solidFill>
                <a:latin typeface="Times New Roman"/>
                <a:ea typeface="Times New Roman"/>
                <a:cs typeface="Times New Roman"/>
                <a:sym typeface="Times New Roman"/>
              </a:rPr>
              <a:t>Date:11/04/2026</a:t>
            </a:r>
            <a:endParaRPr sz="1100" b="0" i="0" u="none" strike="noStrike" cap="none" dirty="0">
              <a:solidFill>
                <a:srgbClr val="000000"/>
              </a:solidFill>
              <a:latin typeface="Arial"/>
              <a:ea typeface="Arial"/>
              <a:cs typeface="Arial"/>
              <a:sym typeface="Arial"/>
            </a:endParaRPr>
          </a:p>
        </p:txBody>
      </p:sp>
      <p:graphicFrame>
        <p:nvGraphicFramePr>
          <p:cNvPr id="4" name="Table 3"/>
          <p:cNvGraphicFramePr>
            <a:graphicFrameLocks noGrp="1"/>
          </p:cNvGraphicFramePr>
          <p:nvPr>
            <p:extLst>
              <p:ext uri="{D42A27DB-BD31-4B8C-83A1-F6EECF244321}">
                <p14:modId xmlns:p14="http://schemas.microsoft.com/office/powerpoint/2010/main" val="1141165349"/>
              </p:ext>
            </p:extLst>
          </p:nvPr>
        </p:nvGraphicFramePr>
        <p:xfrm>
          <a:off x="1661651" y="1022555"/>
          <a:ext cx="9188329" cy="677861"/>
        </p:xfrm>
        <a:graphic>
          <a:graphicData uri="http://schemas.openxmlformats.org/drawingml/2006/table">
            <a:tbl>
              <a:tblPr/>
              <a:tblGrid>
                <a:gridCol w="9188329">
                  <a:extLst>
                    <a:ext uri="{9D8B030D-6E8A-4147-A177-3AD203B41FA5}">
                      <a16:colId xmlns:a16="http://schemas.microsoft.com/office/drawing/2014/main" val="3735555383"/>
                    </a:ext>
                  </a:extLst>
                </a:gridCol>
              </a:tblGrid>
              <a:tr h="677861">
                <a:tc>
                  <a:txBody>
                    <a:bodyPr/>
                    <a:lstStyle/>
                    <a:p>
                      <a:pPr algn="ctr" rtl="0" fontAlgn="b"/>
                      <a:r>
                        <a:rPr lang="en-US" sz="2000" b="1" dirty="0">
                          <a:effectLst/>
                        </a:rPr>
                        <a:t>SATYA: A Multilingual AI-Based System for Government Scheme Eligibility Assessment and Awareness in India</a:t>
                      </a:r>
                    </a:p>
                  </a:txBody>
                  <a:tcPr marL="28575" marR="28575" marT="19050" marB="1905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153892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5"/>
          <p:cNvSpPr txBox="1">
            <a:spLocks noGrp="1"/>
          </p:cNvSpPr>
          <p:nvPr>
            <p:ph type="title"/>
          </p:nvPr>
        </p:nvSpPr>
        <p:spPr>
          <a:xfrm>
            <a:off x="1474840" y="1179871"/>
            <a:ext cx="3146322" cy="59976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sz="2800" dirty="0"/>
              <a:t>Abstract</a:t>
            </a:r>
            <a:endParaRPr sz="2800" dirty="0"/>
          </a:p>
        </p:txBody>
      </p:sp>
      <p:sp>
        <p:nvSpPr>
          <p:cNvPr id="73" name="Google Shape;73;p35"/>
          <p:cNvSpPr txBox="1">
            <a:spLocks noGrp="1"/>
          </p:cNvSpPr>
          <p:nvPr>
            <p:ph idx="1"/>
          </p:nvPr>
        </p:nvSpPr>
        <p:spPr>
          <a:xfrm>
            <a:off x="1268241" y="2125198"/>
            <a:ext cx="8761412" cy="3416300"/>
          </a:xfrm>
          <a:prstGeom prst="rect">
            <a:avLst/>
          </a:prstGeom>
          <a:noFill/>
          <a:ln>
            <a:noFill/>
          </a:ln>
        </p:spPr>
        <p:txBody>
          <a:bodyPr spcFirstLastPara="1" wrap="square" lIns="91425" tIns="45700" rIns="91425" bIns="45700" anchor="t" anchorCtr="0">
            <a:noAutofit/>
          </a:bodyPr>
          <a:lstStyle/>
          <a:p>
            <a:pPr marL="457200" indent="-320040" algn="just">
              <a:lnSpc>
                <a:spcPct val="100000"/>
              </a:lnSpc>
              <a:buSzPts val="1440"/>
              <a:buFont typeface="Arial" panose="020B0604020202020204" pitchFamily="34" charset="0"/>
              <a:buChar char="►"/>
            </a:pPr>
            <a:r>
              <a:rPr lang="en-US" dirty="0"/>
              <a:t>The </a:t>
            </a:r>
            <a:r>
              <a:rPr lang="en-US" b="1" dirty="0"/>
              <a:t>SATYA – Multilingual AI-Based System for Government Scheme Eligibility</a:t>
            </a:r>
            <a:r>
              <a:rPr lang="en-US" dirty="0"/>
              <a:t> is developed to help citizens easily identify government schemes for which they are eligible. Many people are unaware of available schemes or face difficulty understanding eligibility criteria. This system uses </a:t>
            </a:r>
            <a:r>
              <a:rPr lang="en-US" b="1" dirty="0"/>
              <a:t>Artificial Intelligence to analyze user details such as age, income, occupation, and location</a:t>
            </a:r>
            <a:r>
              <a:rPr lang="en-US" dirty="0"/>
              <a:t> to determine suitable government schemes. The platform also provides </a:t>
            </a:r>
            <a:r>
              <a:rPr lang="en-US" b="1" dirty="0"/>
              <a:t>multilingual support</a:t>
            </a:r>
            <a:r>
              <a:rPr lang="en-US" dirty="0"/>
              <a:t>, allowing users to access the system in different regional languages. By providing </a:t>
            </a:r>
            <a:r>
              <a:rPr lang="en-US" b="1" dirty="0"/>
              <a:t>scheme recommendations on a single platform</a:t>
            </a:r>
            <a:r>
              <a:rPr lang="en-US" dirty="0"/>
              <a:t>, the system reduces the time and effort required to search for government benefits. Overall, the project aims to improve accessibility, awareness, and efficient utilization of government welfare schemes for citizens. </a:t>
            </a:r>
          </a:p>
          <a:p>
            <a:pPr marL="137160" lvl="0" indent="0" rtl="0">
              <a:lnSpc>
                <a:spcPct val="100000"/>
              </a:lnSpc>
              <a:spcBef>
                <a:spcPts val="1000"/>
              </a:spcBef>
              <a:spcAft>
                <a:spcPts val="0"/>
              </a:spcAft>
              <a:buSzPts val="1440"/>
              <a:buNone/>
            </a:pPr>
            <a:r>
              <a:rPr lang="en-US" dirty="0"/>
              <a:t> </a:t>
            </a:r>
            <a:endParaRPr dirty="0"/>
          </a:p>
          <a:p>
            <a:pPr marL="457200" lvl="0" indent="-228600" algn="l" rtl="0">
              <a:lnSpc>
                <a:spcPct val="100000"/>
              </a:lnSpc>
              <a:spcBef>
                <a:spcPts val="1000"/>
              </a:spcBef>
              <a:spcAft>
                <a:spcPts val="0"/>
              </a:spcAft>
              <a:buSzPts val="1440"/>
              <a:buNone/>
            </a:pPr>
            <a:endParaRPr dirty="0"/>
          </a:p>
        </p:txBody>
      </p:sp>
      <p:sp>
        <p:nvSpPr>
          <p:cNvPr id="74" name="Google Shape;74;p35"/>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a:off x="1474839" y="1071716"/>
            <a:ext cx="8458637" cy="76691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sz="2800" dirty="0"/>
              <a:t>Outline</a:t>
            </a:r>
            <a:endParaRPr sz="2800" dirty="0"/>
          </a:p>
        </p:txBody>
      </p:sp>
      <p:sp>
        <p:nvSpPr>
          <p:cNvPr id="80" name="Google Shape;80;p36"/>
          <p:cNvSpPr txBox="1">
            <a:spLocks noGrp="1"/>
          </p:cNvSpPr>
          <p:nvPr>
            <p:ph idx="1"/>
          </p:nvPr>
        </p:nvSpPr>
        <p:spPr>
          <a:xfrm>
            <a:off x="1334809" y="2132160"/>
            <a:ext cx="8761412" cy="3416300"/>
          </a:xfrm>
          <a:prstGeom prst="rect">
            <a:avLst/>
          </a:prstGeom>
          <a:noFill/>
          <a:ln>
            <a:noFill/>
          </a:ln>
        </p:spPr>
        <p:txBody>
          <a:bodyPr spcFirstLastPara="1" wrap="square" lIns="91425" tIns="45700" rIns="91425" bIns="45700" anchor="t" anchorCtr="0">
            <a:normAutofit/>
          </a:bodyPr>
          <a:lstStyle/>
          <a:p>
            <a:pPr marL="457200" lvl="0" indent="-320040" algn="l" rtl="0">
              <a:lnSpc>
                <a:spcPct val="100000"/>
              </a:lnSpc>
              <a:spcBef>
                <a:spcPts val="1000"/>
              </a:spcBef>
              <a:spcAft>
                <a:spcPts val="0"/>
              </a:spcAft>
              <a:buSzPts val="1440"/>
              <a:buChar char="►"/>
            </a:pPr>
            <a:r>
              <a:rPr lang="en-US" dirty="0"/>
              <a:t>Introduction</a:t>
            </a:r>
            <a:endParaRPr dirty="0"/>
          </a:p>
          <a:p>
            <a:pPr marL="457200" lvl="0" indent="-320040" algn="l" rtl="0">
              <a:lnSpc>
                <a:spcPct val="100000"/>
              </a:lnSpc>
              <a:spcBef>
                <a:spcPts val="1000"/>
              </a:spcBef>
              <a:spcAft>
                <a:spcPts val="0"/>
              </a:spcAft>
              <a:buSzPts val="1440"/>
              <a:buChar char="►"/>
            </a:pPr>
            <a:r>
              <a:rPr lang="en-US" dirty="0"/>
              <a:t>Problem Statement</a:t>
            </a:r>
            <a:endParaRPr dirty="0"/>
          </a:p>
          <a:p>
            <a:pPr marL="457200" lvl="0" indent="-320040" algn="l" rtl="0">
              <a:lnSpc>
                <a:spcPct val="100000"/>
              </a:lnSpc>
              <a:spcBef>
                <a:spcPts val="1000"/>
              </a:spcBef>
              <a:spcAft>
                <a:spcPts val="0"/>
              </a:spcAft>
              <a:buSzPts val="1440"/>
              <a:buChar char="►"/>
            </a:pPr>
            <a:r>
              <a:rPr lang="en-US" dirty="0"/>
              <a:t>Objectives</a:t>
            </a:r>
            <a:endParaRPr dirty="0"/>
          </a:p>
          <a:p>
            <a:pPr marL="457200" lvl="0" indent="-320040" algn="l" rtl="0">
              <a:lnSpc>
                <a:spcPct val="100000"/>
              </a:lnSpc>
              <a:spcBef>
                <a:spcPts val="1000"/>
              </a:spcBef>
              <a:spcAft>
                <a:spcPts val="0"/>
              </a:spcAft>
              <a:buSzPts val="1440"/>
              <a:buChar char="►"/>
            </a:pPr>
            <a:r>
              <a:rPr lang="en-US" dirty="0"/>
              <a:t>Base Paper – Journal Paper Reference</a:t>
            </a:r>
            <a:endParaRPr dirty="0"/>
          </a:p>
          <a:p>
            <a:pPr marL="457200" lvl="0" indent="-320040" algn="l" rtl="0">
              <a:lnSpc>
                <a:spcPct val="100000"/>
              </a:lnSpc>
              <a:spcBef>
                <a:spcPts val="1000"/>
              </a:spcBef>
              <a:spcAft>
                <a:spcPts val="0"/>
              </a:spcAft>
              <a:buSzPts val="1440"/>
              <a:buChar char="►"/>
            </a:pPr>
            <a:r>
              <a:rPr lang="en-US" dirty="0"/>
              <a:t>Literature Survey</a:t>
            </a:r>
            <a:endParaRPr dirty="0"/>
          </a:p>
          <a:p>
            <a:pPr marL="457200" lvl="0" indent="-320040" algn="l" rtl="0">
              <a:lnSpc>
                <a:spcPct val="100000"/>
              </a:lnSpc>
              <a:spcBef>
                <a:spcPts val="1000"/>
              </a:spcBef>
              <a:spcAft>
                <a:spcPts val="0"/>
              </a:spcAft>
              <a:buSzPts val="1440"/>
              <a:buChar char="►"/>
            </a:pPr>
            <a:r>
              <a:rPr lang="en-US" dirty="0"/>
              <a:t>Gap Identification</a:t>
            </a:r>
            <a:endParaRPr dirty="0"/>
          </a:p>
          <a:p>
            <a:pPr marL="457200" lvl="0" indent="-320040" algn="l" rtl="0">
              <a:lnSpc>
                <a:spcPct val="100000"/>
              </a:lnSpc>
              <a:spcBef>
                <a:spcPts val="1000"/>
              </a:spcBef>
              <a:spcAft>
                <a:spcPts val="0"/>
              </a:spcAft>
              <a:buSzPts val="1440"/>
              <a:buChar char="►"/>
            </a:pPr>
            <a:r>
              <a:rPr lang="en-US" dirty="0"/>
              <a:t>References</a:t>
            </a:r>
            <a:endParaRPr dirty="0"/>
          </a:p>
        </p:txBody>
      </p:sp>
      <p:sp>
        <p:nvSpPr>
          <p:cNvPr id="81" name="Google Shape;81;p36"/>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37"/>
          <p:cNvSpPr txBox="1">
            <a:spLocks noGrp="1"/>
          </p:cNvSpPr>
          <p:nvPr>
            <p:ph type="title"/>
          </p:nvPr>
        </p:nvSpPr>
        <p:spPr>
          <a:xfrm>
            <a:off x="1465006" y="1081547"/>
            <a:ext cx="8452105" cy="69809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sz="2800" dirty="0"/>
              <a:t>Introduction</a:t>
            </a:r>
            <a:endParaRPr sz="2800" dirty="0"/>
          </a:p>
        </p:txBody>
      </p:sp>
      <p:sp>
        <p:nvSpPr>
          <p:cNvPr id="87" name="Google Shape;87;p37"/>
          <p:cNvSpPr txBox="1">
            <a:spLocks noGrp="1"/>
          </p:cNvSpPr>
          <p:nvPr>
            <p:ph idx="1"/>
          </p:nvPr>
        </p:nvSpPr>
        <p:spPr>
          <a:xfrm>
            <a:off x="1394849" y="1858297"/>
            <a:ext cx="8761412" cy="3711337"/>
          </a:xfrm>
          <a:prstGeom prst="rect">
            <a:avLst/>
          </a:prstGeom>
          <a:noFill/>
          <a:ln>
            <a:noFill/>
          </a:ln>
        </p:spPr>
        <p:txBody>
          <a:bodyPr spcFirstLastPara="1" wrap="square" lIns="91425" tIns="45700" rIns="91425" bIns="45700" anchor="t" anchorCtr="0">
            <a:noAutofit/>
          </a:bodyPr>
          <a:lstStyle/>
          <a:p>
            <a:pPr marL="0" indent="0">
              <a:buNone/>
            </a:pPr>
            <a:r>
              <a:rPr lang="en-US" b="1" dirty="0"/>
              <a:t>Project Overview &amp; Need</a:t>
            </a:r>
          </a:p>
          <a:p>
            <a:pPr algn="just"/>
            <a:r>
              <a:rPr lang="en-US" dirty="0"/>
              <a:t>The </a:t>
            </a:r>
            <a:r>
              <a:rPr lang="en-US" b="1" dirty="0"/>
              <a:t>SATYA – Multilingual AI-Based System for Government Scheme Eligibility</a:t>
            </a:r>
            <a:r>
              <a:rPr lang="en-US" dirty="0"/>
              <a:t> is developed to help citizens easily find government schemes for which they are eligible. Many people are unaware of available government schemes or find it difficult to understand eligibility criteria. Because of this, many deserving citizens do not receive the benefits provided by the government. Therefore, there is a need for a system that can simplify the process of identifying suitable government schemes.</a:t>
            </a:r>
          </a:p>
          <a:p>
            <a:pPr marL="457200" lvl="0" indent="-228600" algn="l" rtl="0">
              <a:lnSpc>
                <a:spcPct val="100000"/>
              </a:lnSpc>
              <a:spcBef>
                <a:spcPts val="1000"/>
              </a:spcBef>
              <a:spcAft>
                <a:spcPts val="0"/>
              </a:spcAft>
              <a:buSzPts val="1440"/>
              <a:buNone/>
            </a:pPr>
            <a:endParaRPr dirty="0"/>
          </a:p>
        </p:txBody>
      </p:sp>
      <p:sp>
        <p:nvSpPr>
          <p:cNvPr id="88"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4</a:t>
            </a:fld>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517" y="1251051"/>
            <a:ext cx="9678338" cy="479425"/>
          </a:xfrm>
        </p:spPr>
        <p:txBody>
          <a:bodyPr>
            <a:normAutofit fontScale="90000"/>
          </a:bodyPr>
          <a:lstStyle/>
          <a:p>
            <a:r>
              <a:rPr lang="en-US" dirty="0"/>
              <a:t> </a:t>
            </a:r>
            <a:r>
              <a:rPr lang="en-US" sz="3100" dirty="0"/>
              <a:t>Introduction</a:t>
            </a:r>
            <a:endParaRPr lang="en-US" dirty="0"/>
          </a:p>
        </p:txBody>
      </p:sp>
      <p:sp>
        <p:nvSpPr>
          <p:cNvPr id="3" name="Content Placeholder 2"/>
          <p:cNvSpPr>
            <a:spLocks noGrp="1"/>
          </p:cNvSpPr>
          <p:nvPr>
            <p:ph idx="1"/>
          </p:nvPr>
        </p:nvSpPr>
        <p:spPr>
          <a:xfrm>
            <a:off x="1451580" y="2021258"/>
            <a:ext cx="9603275" cy="3824371"/>
          </a:xfrm>
        </p:spPr>
        <p:txBody>
          <a:bodyPr>
            <a:normAutofit/>
          </a:bodyPr>
          <a:lstStyle/>
          <a:p>
            <a:pPr marL="0" indent="0">
              <a:buNone/>
            </a:pPr>
            <a:r>
              <a:rPr lang="en-US" b="1" dirty="0"/>
              <a:t>Problem and Proposed Solution</a:t>
            </a:r>
          </a:p>
          <a:p>
            <a:pPr algn="just"/>
            <a:r>
              <a:rPr lang="en-US" dirty="0"/>
              <a:t>The main problem is the lack of awareness and difficulty in checking eligibility for different government schemes. To solve this, the proposed system collects user details such as </a:t>
            </a:r>
            <a:r>
              <a:rPr lang="en-US" b="1" dirty="0"/>
              <a:t>age, income, occupation, and location</a:t>
            </a:r>
            <a:r>
              <a:rPr lang="en-US" dirty="0"/>
              <a:t> and uses </a:t>
            </a:r>
            <a:r>
              <a:rPr lang="en-US" b="1" dirty="0"/>
              <a:t>AI-based analysis</a:t>
            </a:r>
            <a:r>
              <a:rPr lang="en-US" dirty="0"/>
              <a:t> to determine eligibility. The system also provides </a:t>
            </a:r>
            <a:r>
              <a:rPr lang="en-US" b="1" dirty="0"/>
              <a:t>multilingual support</a:t>
            </a:r>
            <a:r>
              <a:rPr lang="en-US" dirty="0"/>
              <a:t> so users can interact with the platform in different languages. This helps users easily identify and access suitable government schemes through a single platform. </a:t>
            </a:r>
          </a:p>
          <a:p>
            <a:pPr algn="just"/>
            <a:r>
              <a:rPr lang="en-US" dirty="0"/>
              <a:t>Unlike existing systems, the proposed solution includes Aadhaar-based verification, a fully multilingual chatbot supporting multiple Indian languages, and real-time scheme matching.</a:t>
            </a:r>
          </a:p>
          <a:p>
            <a:pPr algn="just"/>
            <a:endParaRPr lang="en-US" dirty="0"/>
          </a:p>
          <a:p>
            <a:endParaRPr lang="en-US" dirty="0"/>
          </a:p>
          <a:p>
            <a:endParaRPr lang="en-US" dirty="0"/>
          </a:p>
        </p:txBody>
      </p:sp>
      <p:sp>
        <p:nvSpPr>
          <p:cNvPr id="6"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5</a:t>
            </a:r>
            <a:endParaRPr dirty="0"/>
          </a:p>
        </p:txBody>
      </p:sp>
    </p:spTree>
    <p:extLst>
      <p:ext uri="{BB962C8B-B14F-4D97-AF65-F5344CB8AC3E}">
        <p14:creationId xmlns:p14="http://schemas.microsoft.com/office/powerpoint/2010/main" val="183803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38"/>
          <p:cNvSpPr txBox="1">
            <a:spLocks noGrp="1"/>
          </p:cNvSpPr>
          <p:nvPr>
            <p:ph type="title"/>
          </p:nvPr>
        </p:nvSpPr>
        <p:spPr>
          <a:xfrm>
            <a:off x="1465434" y="1130710"/>
            <a:ext cx="8451678" cy="69809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dirty="0"/>
              <a:t>Problem Statement</a:t>
            </a:r>
            <a:endParaRPr dirty="0"/>
          </a:p>
        </p:txBody>
      </p:sp>
      <p:sp>
        <p:nvSpPr>
          <p:cNvPr id="94" name="Google Shape;94;p38"/>
          <p:cNvSpPr txBox="1">
            <a:spLocks noGrp="1"/>
          </p:cNvSpPr>
          <p:nvPr>
            <p:ph idx="1"/>
          </p:nvPr>
        </p:nvSpPr>
        <p:spPr>
          <a:xfrm>
            <a:off x="1378348" y="1828800"/>
            <a:ext cx="9183809" cy="4125686"/>
          </a:xfrm>
          <a:prstGeom prst="rect">
            <a:avLst/>
          </a:prstGeom>
          <a:noFill/>
          <a:ln>
            <a:noFill/>
          </a:ln>
        </p:spPr>
        <p:txBody>
          <a:bodyPr spcFirstLastPara="1" wrap="square" lIns="91425" tIns="45700" rIns="91425" bIns="45700" anchor="t" anchorCtr="0">
            <a:noAutofit/>
          </a:bodyPr>
          <a:lstStyle/>
          <a:p>
            <a:pPr marL="0" indent="0">
              <a:buNone/>
            </a:pPr>
            <a:r>
              <a:rPr lang="en-US" b="1" dirty="0"/>
              <a:t>Problem in Existing System</a:t>
            </a:r>
          </a:p>
          <a:p>
            <a:pPr algn="just"/>
            <a:r>
              <a:rPr lang="en-US" dirty="0"/>
              <a:t>Many citizens are unaware of available government schemes and their eligibility criteria.</a:t>
            </a:r>
          </a:p>
          <a:p>
            <a:pPr algn="just"/>
            <a:r>
              <a:rPr lang="en-US" dirty="0"/>
              <a:t>Information about schemes is scattered across different websites and platforms, making it difficult to access.</a:t>
            </a:r>
          </a:p>
          <a:p>
            <a:pPr marL="0" indent="0">
              <a:buNone/>
            </a:pPr>
            <a:r>
              <a:rPr lang="en-US" b="1" dirty="0"/>
              <a:t>Goal of the Project</a:t>
            </a:r>
          </a:p>
          <a:p>
            <a:pPr algn="just"/>
            <a:r>
              <a:rPr lang="en-US" dirty="0"/>
              <a:t> To develop a system that helps users easily identify government schemes they are eligible for.</a:t>
            </a:r>
          </a:p>
          <a:p>
            <a:pPr algn="just"/>
            <a:r>
              <a:rPr lang="en-US" dirty="0"/>
              <a:t>To provide a simple and multilingual platform for accessing scheme information.</a:t>
            </a:r>
          </a:p>
          <a:p>
            <a:pPr marL="0" indent="0">
              <a:buNone/>
            </a:pPr>
            <a:endParaRPr lang="en-US" dirty="0"/>
          </a:p>
        </p:txBody>
      </p:sp>
      <p:sp>
        <p:nvSpPr>
          <p:cNvPr id="95" name="Google Shape;95;p38"/>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95" y="1199534"/>
            <a:ext cx="6037006" cy="654219"/>
          </a:xfrm>
        </p:spPr>
        <p:txBody>
          <a:bodyPr/>
          <a:lstStyle/>
          <a:p>
            <a:r>
              <a:rPr lang="en-US" dirty="0"/>
              <a:t>       </a:t>
            </a:r>
            <a:r>
              <a:rPr lang="en-US" sz="2800" dirty="0"/>
              <a:t>Problem Statement</a:t>
            </a:r>
            <a:endParaRPr lang="en-US" dirty="0"/>
          </a:p>
        </p:txBody>
      </p:sp>
      <p:sp>
        <p:nvSpPr>
          <p:cNvPr id="3" name="Content Placeholder 2"/>
          <p:cNvSpPr>
            <a:spLocks noGrp="1"/>
          </p:cNvSpPr>
          <p:nvPr>
            <p:ph idx="1"/>
          </p:nvPr>
        </p:nvSpPr>
        <p:spPr>
          <a:xfrm>
            <a:off x="1451579" y="2015732"/>
            <a:ext cx="9603275" cy="3450613"/>
          </a:xfrm>
        </p:spPr>
        <p:txBody>
          <a:bodyPr>
            <a:normAutofit fontScale="92500" lnSpcReduction="20000"/>
          </a:bodyPr>
          <a:lstStyle/>
          <a:p>
            <a:pPr marL="0" indent="0">
              <a:buNone/>
            </a:pPr>
            <a:r>
              <a:rPr lang="en-US" b="1" dirty="0"/>
              <a:t>Gap in Existing System</a:t>
            </a:r>
          </a:p>
          <a:p>
            <a:pPr algn="just"/>
            <a:r>
              <a:rPr lang="en-US" dirty="0"/>
              <a:t>Existing systems do not provide a centralized platform to check eligibility for multiple schemes.</a:t>
            </a:r>
          </a:p>
          <a:p>
            <a:pPr algn="just"/>
            <a:r>
              <a:rPr lang="en-US" dirty="0"/>
              <a:t>There is limited support for regional languages and automated recommendations.</a:t>
            </a:r>
          </a:p>
          <a:p>
            <a:pPr marL="0" indent="0">
              <a:buNone/>
            </a:pPr>
            <a:r>
              <a:rPr lang="en-US" b="1" dirty="0"/>
              <a:t>Proposed Solution and Impact</a:t>
            </a:r>
          </a:p>
          <a:p>
            <a:pPr algn="just"/>
            <a:r>
              <a:rPr lang="en-US" dirty="0"/>
              <a:t>The proposed system uses </a:t>
            </a:r>
            <a:r>
              <a:rPr lang="en-US" b="1" dirty="0"/>
              <a:t>AI-based analysis</a:t>
            </a:r>
            <a:r>
              <a:rPr lang="en-US" dirty="0"/>
              <a:t> to check eligibility and recommend suitable government schemes.</a:t>
            </a:r>
          </a:p>
          <a:p>
            <a:pPr algn="just"/>
            <a:r>
              <a:rPr lang="en-US" dirty="0"/>
              <a:t>It provides </a:t>
            </a:r>
            <a:r>
              <a:rPr lang="en-US" b="1" dirty="0"/>
              <a:t>multilingual support and a single platform</a:t>
            </a:r>
            <a:r>
              <a:rPr lang="en-US" dirty="0"/>
              <a:t>, making scheme information accessible and improving awareness among citizens.</a:t>
            </a:r>
          </a:p>
        </p:txBody>
      </p:sp>
      <p:sp>
        <p:nvSpPr>
          <p:cNvPr id="4"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7</a:t>
            </a:r>
            <a:endParaRPr dirty="0"/>
          </a:p>
        </p:txBody>
      </p:sp>
    </p:spTree>
    <p:extLst>
      <p:ext uri="{BB962C8B-B14F-4D97-AF65-F5344CB8AC3E}">
        <p14:creationId xmlns:p14="http://schemas.microsoft.com/office/powerpoint/2010/main" val="2642085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9"/>
          <p:cNvSpPr txBox="1">
            <a:spLocks noGrp="1"/>
          </p:cNvSpPr>
          <p:nvPr>
            <p:ph type="title"/>
          </p:nvPr>
        </p:nvSpPr>
        <p:spPr>
          <a:xfrm>
            <a:off x="1494503" y="990420"/>
            <a:ext cx="2920181" cy="91703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sz="2800" dirty="0"/>
              <a:t>Objectives</a:t>
            </a:r>
            <a:endParaRPr sz="2800" dirty="0"/>
          </a:p>
        </p:txBody>
      </p:sp>
      <p:sp>
        <p:nvSpPr>
          <p:cNvPr id="101" name="Google Shape;101;p39"/>
          <p:cNvSpPr txBox="1">
            <a:spLocks noGrp="1"/>
          </p:cNvSpPr>
          <p:nvPr>
            <p:ph idx="1"/>
          </p:nvPr>
        </p:nvSpPr>
        <p:spPr>
          <a:xfrm>
            <a:off x="1422986" y="2111130"/>
            <a:ext cx="8761412" cy="3416300"/>
          </a:xfrm>
          <a:prstGeom prst="rect">
            <a:avLst/>
          </a:prstGeom>
          <a:noFill/>
          <a:ln>
            <a:noFill/>
          </a:ln>
        </p:spPr>
        <p:txBody>
          <a:bodyPr spcFirstLastPara="1" wrap="square" lIns="91425" tIns="45700" rIns="91425" bIns="45700" anchor="t" anchorCtr="0">
            <a:noAutofit/>
          </a:bodyPr>
          <a:lstStyle/>
          <a:p>
            <a:pPr algn="just"/>
            <a:r>
              <a:rPr lang="en-US" dirty="0"/>
              <a:t> To develop an </a:t>
            </a:r>
            <a:r>
              <a:rPr lang="en-US" b="1" dirty="0"/>
              <a:t>AI-based system</a:t>
            </a:r>
            <a:r>
              <a:rPr lang="en-US" dirty="0"/>
              <a:t> that determines user eligibility for different government schemes.</a:t>
            </a:r>
          </a:p>
          <a:p>
            <a:pPr algn="just"/>
            <a:r>
              <a:rPr lang="en-US" dirty="0"/>
              <a:t>To create a </a:t>
            </a:r>
            <a:r>
              <a:rPr lang="en-US" b="1" dirty="0"/>
              <a:t>multilingual platform</a:t>
            </a:r>
            <a:r>
              <a:rPr lang="en-US" dirty="0"/>
              <a:t> that allows users to access scheme information in different regional languages.</a:t>
            </a:r>
          </a:p>
          <a:p>
            <a:pPr algn="just"/>
            <a:r>
              <a:rPr lang="en-US" dirty="0"/>
              <a:t>To design a </a:t>
            </a:r>
            <a:r>
              <a:rPr lang="en-US" b="1" dirty="0"/>
              <a:t>centralized system</a:t>
            </a:r>
            <a:r>
              <a:rPr lang="en-US" dirty="0"/>
              <a:t> that provides information about multiple government schemes in one place.</a:t>
            </a:r>
          </a:p>
          <a:p>
            <a:pPr algn="just"/>
            <a:r>
              <a:rPr lang="en-US" dirty="0"/>
              <a:t>To implement </a:t>
            </a:r>
            <a:r>
              <a:rPr lang="en-US" b="1" dirty="0"/>
              <a:t>Aadhaar-based verification </a:t>
            </a:r>
            <a:r>
              <a:rPr lang="en-US" dirty="0"/>
              <a:t>and </a:t>
            </a:r>
            <a:r>
              <a:rPr lang="en-US" b="1" dirty="0"/>
              <a:t>real-time personalized scheme recommendations</a:t>
            </a:r>
            <a:r>
              <a:rPr lang="en-US" dirty="0"/>
              <a:t> using a multilingual chatbot. </a:t>
            </a:r>
          </a:p>
          <a:p>
            <a:pPr marL="457200" lvl="0" indent="-320040" algn="just" rtl="0">
              <a:lnSpc>
                <a:spcPct val="100000"/>
              </a:lnSpc>
              <a:spcBef>
                <a:spcPts val="1000"/>
              </a:spcBef>
              <a:spcAft>
                <a:spcPts val="0"/>
              </a:spcAft>
              <a:buSzPts val="1440"/>
              <a:buChar char="►"/>
            </a:pPr>
            <a:endParaRPr dirty="0"/>
          </a:p>
          <a:p>
            <a:pPr marL="457200" lvl="0" indent="-228600" algn="l" rtl="0">
              <a:lnSpc>
                <a:spcPct val="100000"/>
              </a:lnSpc>
              <a:spcBef>
                <a:spcPts val="1000"/>
              </a:spcBef>
              <a:spcAft>
                <a:spcPts val="0"/>
              </a:spcAft>
              <a:buSzPts val="1440"/>
              <a:buNone/>
            </a:pPr>
            <a:endParaRPr dirty="0"/>
          </a:p>
        </p:txBody>
      </p:sp>
      <p:sp>
        <p:nvSpPr>
          <p:cNvPr id="102" name="Google Shape;102;p39"/>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0"/>
          <p:cNvSpPr txBox="1">
            <a:spLocks noGrp="1"/>
          </p:cNvSpPr>
          <p:nvPr>
            <p:ph type="title"/>
          </p:nvPr>
        </p:nvSpPr>
        <p:spPr>
          <a:xfrm>
            <a:off x="1465006" y="1189703"/>
            <a:ext cx="4218040" cy="6784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lt2"/>
              </a:buClr>
              <a:buSzPts val="1800"/>
              <a:buNone/>
            </a:pPr>
            <a:r>
              <a:rPr lang="en-US" sz="2800" dirty="0"/>
              <a:t>Base Paper</a:t>
            </a:r>
            <a:endParaRPr sz="2800" dirty="0"/>
          </a:p>
        </p:txBody>
      </p:sp>
      <p:sp>
        <p:nvSpPr>
          <p:cNvPr id="108" name="Google Shape;108;p40"/>
          <p:cNvSpPr txBox="1">
            <a:spLocks noGrp="1"/>
          </p:cNvSpPr>
          <p:nvPr>
            <p:ph idx="1"/>
          </p:nvPr>
        </p:nvSpPr>
        <p:spPr>
          <a:xfrm>
            <a:off x="1155699" y="1956386"/>
            <a:ext cx="8761412" cy="3416300"/>
          </a:xfrm>
          <a:prstGeom prst="rect">
            <a:avLst/>
          </a:prstGeom>
          <a:noFill/>
          <a:ln>
            <a:noFill/>
          </a:ln>
        </p:spPr>
        <p:txBody>
          <a:bodyPr spcFirstLastPara="1" wrap="square" lIns="91425" tIns="45700" rIns="91425" bIns="45700" anchor="t" anchorCtr="0">
            <a:noAutofit/>
          </a:bodyPr>
          <a:lstStyle/>
          <a:p>
            <a:pPr marL="457200" lvl="0" indent="-320040" algn="just">
              <a:lnSpc>
                <a:spcPct val="100000"/>
              </a:lnSpc>
              <a:buSzPts val="1440"/>
              <a:buChar char="►"/>
            </a:pPr>
            <a:r>
              <a:rPr lang="en-US" dirty="0"/>
              <a:t>Reference Paper - S. </a:t>
            </a:r>
            <a:r>
              <a:rPr lang="en-US" dirty="0" err="1"/>
              <a:t>Yellisetti</a:t>
            </a:r>
            <a:r>
              <a:rPr lang="en-US" dirty="0"/>
              <a:t>, M. A. </a:t>
            </a:r>
            <a:r>
              <a:rPr lang="en-US" dirty="0" err="1"/>
              <a:t>Priya</a:t>
            </a:r>
            <a:r>
              <a:rPr lang="en-US" dirty="0"/>
              <a:t>, P. V. N. R. </a:t>
            </a:r>
            <a:r>
              <a:rPr lang="en-US" dirty="0" err="1"/>
              <a:t>Chowdary</a:t>
            </a:r>
            <a:r>
              <a:rPr lang="en-US" dirty="0"/>
              <a:t>, and R. L. </a:t>
            </a:r>
            <a:r>
              <a:rPr lang="en-US" dirty="0" err="1"/>
              <a:t>Sravanthi</a:t>
            </a:r>
            <a:r>
              <a:rPr lang="en-US" dirty="0"/>
              <a:t>, “Creation of Web-Based Eligibility System for Government Programs,” in </a:t>
            </a:r>
            <a:r>
              <a:rPr lang="en-US" i="1" dirty="0"/>
              <a:t>Proceedings of the 2023 3rd International Conference on Smart Data Intelligence (ICSMDI)</a:t>
            </a:r>
            <a:r>
              <a:rPr lang="en-US" dirty="0"/>
              <a:t>, 2023.</a:t>
            </a:r>
          </a:p>
          <a:p>
            <a:pPr marL="137160" lvl="0" indent="0">
              <a:lnSpc>
                <a:spcPct val="100000"/>
              </a:lnSpc>
              <a:buSzPts val="1440"/>
              <a:buNone/>
            </a:pPr>
            <a:r>
              <a:rPr lang="en-US" dirty="0">
                <a:hlinkClick r:id="rId3" action="ppaction://hlinkfile"/>
              </a:rPr>
              <a:t>https://ieeexplore.ieee.org/document/10127902</a:t>
            </a:r>
            <a:r>
              <a:rPr lang="en-US" dirty="0">
                <a:highlight>
                  <a:srgbClr val="FFFF00"/>
                </a:highlight>
                <a:hlinkClick r:id="rId3" action="ppaction://hlinkfile"/>
              </a:rPr>
              <a:t> </a:t>
            </a:r>
            <a:endParaRPr dirty="0">
              <a:highlight>
                <a:srgbClr val="FFFF00"/>
              </a:highlight>
            </a:endParaRPr>
          </a:p>
        </p:txBody>
      </p:sp>
      <p:sp>
        <p:nvSpPr>
          <p:cNvPr id="109" name="Google Shape;109;p40"/>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28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0d9c4f0da6_0_16"/>
          <p:cNvSpPr txBox="1">
            <a:spLocks noGrp="1"/>
          </p:cNvSpPr>
          <p:nvPr>
            <p:ph type="title"/>
          </p:nvPr>
        </p:nvSpPr>
        <p:spPr>
          <a:xfrm>
            <a:off x="1465006" y="1042219"/>
            <a:ext cx="8452052" cy="81607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800"/>
              <a:buNone/>
            </a:pPr>
            <a:r>
              <a:rPr lang="en-US" sz="2800" dirty="0"/>
              <a:t>Literature Survey - Comparison Chart</a:t>
            </a:r>
            <a:endParaRPr sz="2800" dirty="0"/>
          </a:p>
        </p:txBody>
      </p:sp>
      <p:sp>
        <p:nvSpPr>
          <p:cNvPr id="125" name="Google Shape;125;g30d9c4f0da6_0_16"/>
          <p:cNvSpPr txBox="1">
            <a:spLocks noGrp="1"/>
          </p:cNvSpPr>
          <p:nvPr>
            <p:ph type="sldNum" sz="quarter" idx="12"/>
          </p:nvPr>
        </p:nvSpPr>
        <p:spPr>
          <a:xfrm>
            <a:off x="10339387" y="152400"/>
            <a:ext cx="838200" cy="479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10</a:t>
            </a:fld>
            <a:endParaRPr/>
          </a:p>
        </p:txBody>
      </p:sp>
      <p:graphicFrame>
        <p:nvGraphicFramePr>
          <p:cNvPr id="7" name="Table 6">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2835202250"/>
              </p:ext>
            </p:extLst>
          </p:nvPr>
        </p:nvGraphicFramePr>
        <p:xfrm>
          <a:off x="1465006" y="2238338"/>
          <a:ext cx="9712582" cy="3670093"/>
        </p:xfrm>
        <a:graphic>
          <a:graphicData uri="http://schemas.openxmlformats.org/drawingml/2006/table">
            <a:tbl>
              <a:tblPr firstRow="1" bandRow="1"/>
              <a:tblGrid>
                <a:gridCol w="527231">
                  <a:extLst>
                    <a:ext uri="{9D8B030D-6E8A-4147-A177-3AD203B41FA5}">
                      <a16:colId xmlns:a16="http://schemas.microsoft.com/office/drawing/2014/main" val="299110558"/>
                    </a:ext>
                  </a:extLst>
                </a:gridCol>
                <a:gridCol w="2786025">
                  <a:extLst>
                    <a:ext uri="{9D8B030D-6E8A-4147-A177-3AD203B41FA5}">
                      <a16:colId xmlns:a16="http://schemas.microsoft.com/office/drawing/2014/main" val="2371221148"/>
                    </a:ext>
                  </a:extLst>
                </a:gridCol>
                <a:gridCol w="1451086">
                  <a:extLst>
                    <a:ext uri="{9D8B030D-6E8A-4147-A177-3AD203B41FA5}">
                      <a16:colId xmlns:a16="http://schemas.microsoft.com/office/drawing/2014/main" val="1195321742"/>
                    </a:ext>
                  </a:extLst>
                </a:gridCol>
                <a:gridCol w="1793092">
                  <a:extLst>
                    <a:ext uri="{9D8B030D-6E8A-4147-A177-3AD203B41FA5}">
                      <a16:colId xmlns:a16="http://schemas.microsoft.com/office/drawing/2014/main" val="3583637318"/>
                    </a:ext>
                  </a:extLst>
                </a:gridCol>
                <a:gridCol w="1704190">
                  <a:extLst>
                    <a:ext uri="{9D8B030D-6E8A-4147-A177-3AD203B41FA5}">
                      <a16:colId xmlns:a16="http://schemas.microsoft.com/office/drawing/2014/main" val="211691514"/>
                    </a:ext>
                  </a:extLst>
                </a:gridCol>
                <a:gridCol w="1450958">
                  <a:extLst>
                    <a:ext uri="{9D8B030D-6E8A-4147-A177-3AD203B41FA5}">
                      <a16:colId xmlns:a16="http://schemas.microsoft.com/office/drawing/2014/main" val="1125257413"/>
                    </a:ext>
                  </a:extLst>
                </a:gridCol>
              </a:tblGrid>
              <a:tr h="276032">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1578236">
                <a:tc>
                  <a:txBody>
                    <a:bodyPr/>
                    <a:lstStyle/>
                    <a:p>
                      <a:pPr algn="l"/>
                      <a:r>
                        <a:rPr lang="en-US" sz="1200" dirty="0"/>
                        <a:t>[1]</a:t>
                      </a:r>
                    </a:p>
                  </a:txBody>
                  <a:tcPr/>
                </a:tc>
                <a:tc>
                  <a:txBody>
                    <a:bodyPr/>
                    <a:lstStyle/>
                    <a:p>
                      <a:pPr algn="l"/>
                      <a:r>
                        <a:rPr lang="en-US" sz="1000" b="0" i="0" kern="1200" dirty="0" err="1">
                          <a:solidFill>
                            <a:schemeClr val="tx1"/>
                          </a:solidFill>
                          <a:effectLst/>
                          <a:latin typeface="+mn-lt"/>
                          <a:ea typeface="+mn-ea"/>
                          <a:cs typeface="+mn-cs"/>
                        </a:rPr>
                        <a:t>Yellisetti</a:t>
                      </a:r>
                      <a:r>
                        <a:rPr lang="en-US" sz="1000" b="0" i="0" kern="1200" dirty="0">
                          <a:solidFill>
                            <a:schemeClr val="tx1"/>
                          </a:solidFill>
                          <a:effectLst/>
                          <a:latin typeface="+mn-lt"/>
                          <a:ea typeface="+mn-ea"/>
                          <a:cs typeface="+mn-cs"/>
                        </a:rPr>
                        <a:t>, S., </a:t>
                      </a:r>
                      <a:r>
                        <a:rPr lang="en-US" sz="1000" b="0" i="0" kern="1200" dirty="0" err="1">
                          <a:solidFill>
                            <a:schemeClr val="tx1"/>
                          </a:solidFill>
                          <a:effectLst/>
                          <a:latin typeface="+mn-lt"/>
                          <a:ea typeface="+mn-ea"/>
                          <a:cs typeface="+mn-cs"/>
                        </a:rPr>
                        <a:t>Polavarapu</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Venkata</a:t>
                      </a:r>
                      <a:r>
                        <a:rPr lang="en-US" sz="1000" b="0" i="0" kern="1200" dirty="0">
                          <a:solidFill>
                            <a:schemeClr val="tx1"/>
                          </a:solidFill>
                          <a:effectLst/>
                          <a:latin typeface="+mn-lt"/>
                          <a:ea typeface="+mn-ea"/>
                          <a:cs typeface="+mn-cs"/>
                        </a:rPr>
                        <a:t> Naga </a:t>
                      </a:r>
                      <a:r>
                        <a:rPr lang="en-US" sz="1000" b="0" i="0" kern="1200" dirty="0" err="1">
                          <a:solidFill>
                            <a:schemeClr val="tx1"/>
                          </a:solidFill>
                          <a:effectLst/>
                          <a:latin typeface="+mn-lt"/>
                          <a:ea typeface="+mn-ea"/>
                          <a:cs typeface="+mn-cs"/>
                        </a:rPr>
                        <a:t>Rishitha</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Chowdary</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Manam</a:t>
                      </a:r>
                      <a:r>
                        <a:rPr lang="en-US" sz="1000" b="0" i="0" kern="1200" dirty="0">
                          <a:solidFill>
                            <a:schemeClr val="tx1"/>
                          </a:solidFill>
                          <a:effectLst/>
                          <a:latin typeface="+mn-lt"/>
                          <a:ea typeface="+mn-ea"/>
                          <a:cs typeface="+mn-cs"/>
                        </a:rPr>
                        <a:t> Anju </a:t>
                      </a:r>
                      <a:r>
                        <a:rPr lang="en-US" sz="1000" b="0" i="0" kern="1200" dirty="0" err="1">
                          <a:solidFill>
                            <a:schemeClr val="tx1"/>
                          </a:solidFill>
                          <a:effectLst/>
                          <a:latin typeface="+mn-lt"/>
                          <a:ea typeface="+mn-ea"/>
                          <a:cs typeface="+mn-cs"/>
                        </a:rPr>
                        <a:t>Priya</a:t>
                      </a:r>
                      <a:r>
                        <a:rPr lang="en-US" sz="1000" b="0" i="0" kern="1200" dirty="0">
                          <a:solidFill>
                            <a:schemeClr val="tx1"/>
                          </a:solidFill>
                          <a:effectLst/>
                          <a:latin typeface="+mn-lt"/>
                          <a:ea typeface="+mn-ea"/>
                          <a:cs typeface="+mn-cs"/>
                        </a:rPr>
                        <a:t> &amp; </a:t>
                      </a:r>
                      <a:r>
                        <a:rPr lang="en-US" sz="1000" b="0" i="0" kern="1200" dirty="0" err="1">
                          <a:solidFill>
                            <a:schemeClr val="tx1"/>
                          </a:solidFill>
                          <a:effectLst/>
                          <a:latin typeface="+mn-lt"/>
                          <a:ea typeface="+mn-ea"/>
                          <a:cs typeface="+mn-cs"/>
                        </a:rPr>
                        <a:t>Rangisetti</a:t>
                      </a:r>
                      <a:r>
                        <a:rPr lang="en-US" sz="1000" b="0" i="0" kern="1200" dirty="0">
                          <a:solidFill>
                            <a:schemeClr val="tx1"/>
                          </a:solidFill>
                          <a:effectLst/>
                          <a:latin typeface="+mn-lt"/>
                          <a:ea typeface="+mn-ea"/>
                          <a:cs typeface="+mn-cs"/>
                        </a:rPr>
                        <a:t> Lakshmi </a:t>
                      </a:r>
                      <a:r>
                        <a:rPr lang="en-US" sz="1000" b="0" i="0" kern="1200" dirty="0" err="1">
                          <a:solidFill>
                            <a:schemeClr val="tx1"/>
                          </a:solidFill>
                          <a:effectLst/>
                          <a:latin typeface="+mn-lt"/>
                          <a:ea typeface="+mn-ea"/>
                          <a:cs typeface="+mn-cs"/>
                        </a:rPr>
                        <a:t>Sravanthi</a:t>
                      </a:r>
                      <a:r>
                        <a:rPr lang="en-US" sz="1000" b="0" i="0" kern="1200" dirty="0">
                          <a:solidFill>
                            <a:schemeClr val="tx1"/>
                          </a:solidFill>
                          <a:effectLst/>
                          <a:latin typeface="+mn-lt"/>
                          <a:ea typeface="+mn-ea"/>
                          <a:cs typeface="+mn-cs"/>
                        </a:rPr>
                        <a:t> (2023)</a:t>
                      </a:r>
                      <a:endParaRPr lang="en-US" sz="1000" dirty="0"/>
                    </a:p>
                  </a:txBody>
                  <a:tcPr/>
                </a:tc>
                <a:tc>
                  <a:txBody>
                    <a:bodyPr/>
                    <a:lstStyle/>
                    <a:p>
                      <a:r>
                        <a:rPr lang="en-US" sz="1000" b="0" i="0" kern="1200" dirty="0">
                          <a:solidFill>
                            <a:schemeClr val="tx1"/>
                          </a:solidFill>
                          <a:effectLst/>
                          <a:latin typeface="+mn-lt"/>
                          <a:ea typeface="+mn-ea"/>
                          <a:cs typeface="+mn-cs"/>
                        </a:rPr>
                        <a:t>Creation of Web based Eligibility System for Government Programs</a:t>
                      </a:r>
                    </a:p>
                    <a:p>
                      <a:br>
                        <a:rPr lang="en-US" sz="1200" dirty="0"/>
                      </a:br>
                      <a:endParaRPr lang="en-US" sz="1200" dirty="0"/>
                    </a:p>
                  </a:txBody>
                  <a:tcPr/>
                </a:tc>
                <a:tc>
                  <a:txBody>
                    <a:bodyPr/>
                    <a:lstStyle/>
                    <a:p>
                      <a:r>
                        <a:rPr lang="en-US" sz="1000" b="0" i="0" kern="1200" dirty="0">
                          <a:solidFill>
                            <a:schemeClr val="tx1"/>
                          </a:solidFill>
                          <a:effectLst/>
                          <a:latin typeface="+mn-lt"/>
                          <a:ea typeface="+mn-ea"/>
                          <a:cs typeface="+mn-cs"/>
                        </a:rPr>
                        <a:t>Web application built with </a:t>
                      </a:r>
                      <a:r>
                        <a:rPr lang="en-US" sz="1000" b="1" i="0" kern="1200" dirty="0">
                          <a:solidFill>
                            <a:schemeClr val="tx1"/>
                          </a:solidFill>
                          <a:effectLst/>
                          <a:latin typeface="+mn-lt"/>
                          <a:ea typeface="+mn-ea"/>
                          <a:cs typeface="+mn-cs"/>
                        </a:rPr>
                        <a:t>PHP and MySQL</a:t>
                      </a:r>
                      <a:r>
                        <a:rPr lang="en-US" sz="1000" b="0" i="0" kern="1200" dirty="0">
                          <a:solidFill>
                            <a:schemeClr val="tx1"/>
                          </a:solidFill>
                          <a:effectLst/>
                          <a:latin typeface="+mn-lt"/>
                          <a:ea typeface="+mn-ea"/>
                          <a:cs typeface="+mn-cs"/>
                        </a:rPr>
                        <a:t>.</a:t>
                      </a:r>
                    </a:p>
                    <a:p>
                      <a:r>
                        <a:rPr lang="en-US" sz="1000" b="0" i="0" kern="1200" dirty="0">
                          <a:solidFill>
                            <a:schemeClr val="tx1"/>
                          </a:solidFill>
                          <a:effectLst/>
                          <a:latin typeface="+mn-lt"/>
                          <a:ea typeface="+mn-ea"/>
                          <a:cs typeface="+mn-cs"/>
                        </a:rPr>
                        <a:t>Uses a two-step process: standard login followed by </a:t>
                      </a:r>
                      <a:r>
                        <a:rPr lang="en-US" sz="1000" b="1" i="0" kern="1200" dirty="0" err="1">
                          <a:solidFill>
                            <a:schemeClr val="tx1"/>
                          </a:solidFill>
                          <a:effectLst/>
                          <a:latin typeface="+mn-lt"/>
                          <a:ea typeface="+mn-ea"/>
                          <a:cs typeface="+mn-cs"/>
                        </a:rPr>
                        <a:t>Aadhaar</a:t>
                      </a:r>
                      <a:r>
                        <a:rPr lang="en-US" sz="1000" b="1" i="0" kern="1200" dirty="0">
                          <a:solidFill>
                            <a:schemeClr val="tx1"/>
                          </a:solidFill>
                          <a:effectLst/>
                          <a:latin typeface="+mn-lt"/>
                          <a:ea typeface="+mn-ea"/>
                          <a:cs typeface="+mn-cs"/>
                        </a:rPr>
                        <a:t> number verification</a:t>
                      </a:r>
                      <a:r>
                        <a:rPr lang="en-US" sz="1000" b="0" i="0" kern="1200" dirty="0">
                          <a:solidFill>
                            <a:schemeClr val="tx1"/>
                          </a:solidFill>
                          <a:effectLst/>
                          <a:latin typeface="+mn-lt"/>
                          <a:ea typeface="+mn-ea"/>
                          <a:cs typeface="+mn-cs"/>
                        </a:rPr>
                        <a:t> against eligibility tables.</a:t>
                      </a:r>
                    </a:p>
                    <a:p>
                      <a:pPr algn="l"/>
                      <a:endParaRPr lang="en-US" sz="1200" dirty="0"/>
                    </a:p>
                  </a:txBody>
                  <a:tcPr/>
                </a:tc>
                <a:tc>
                  <a:txBody>
                    <a:bodyPr/>
                    <a:lstStyle/>
                    <a:p>
                      <a:r>
                        <a:rPr lang="en-US" sz="1000" b="0" i="0" kern="1200" dirty="0">
                          <a:solidFill>
                            <a:schemeClr val="tx1"/>
                          </a:solidFill>
                          <a:effectLst/>
                          <a:latin typeface="+mn-lt"/>
                          <a:ea typeface="+mn-ea"/>
                          <a:cs typeface="+mn-cs"/>
                        </a:rPr>
                        <a:t>Reduces administrative labor by allowing direct application to schemes like </a:t>
                      </a:r>
                      <a:r>
                        <a:rPr lang="en-US" sz="1000" b="0" i="0" kern="1200" dirty="0" err="1">
                          <a:solidFill>
                            <a:schemeClr val="tx1"/>
                          </a:solidFill>
                          <a:effectLst/>
                          <a:latin typeface="+mn-lt"/>
                          <a:ea typeface="+mn-ea"/>
                          <a:cs typeface="+mn-cs"/>
                        </a:rPr>
                        <a:t>Arogyasri</a:t>
                      </a:r>
                      <a:r>
                        <a:rPr lang="en-US" sz="1000" b="0" i="0" kern="1200" dirty="0">
                          <a:solidFill>
                            <a:schemeClr val="tx1"/>
                          </a:solidFill>
                          <a:effectLst/>
                          <a:latin typeface="+mn-lt"/>
                          <a:ea typeface="+mn-ea"/>
                          <a:cs typeface="+mn-cs"/>
                        </a:rPr>
                        <a:t> via the portal,</a:t>
                      </a:r>
                    </a:p>
                    <a:p>
                      <a:r>
                        <a:rPr lang="en-US" sz="1000" b="0" i="0" kern="1200" dirty="0">
                          <a:solidFill>
                            <a:schemeClr val="tx1"/>
                          </a:solidFill>
                          <a:effectLst/>
                          <a:latin typeface="+mn-lt"/>
                          <a:ea typeface="+mn-ea"/>
                          <a:cs typeface="+mn-cs"/>
                        </a:rPr>
                        <a:t>Enhances transparency in the application approval/rejection process</a:t>
                      </a:r>
                      <a:r>
                        <a:rPr lang="en-US" sz="1200" b="0" i="0" kern="1200" dirty="0">
                          <a:solidFill>
                            <a:schemeClr val="tx1"/>
                          </a:solidFill>
                          <a:effectLst/>
                          <a:latin typeface="+mn-lt"/>
                          <a:ea typeface="+mn-ea"/>
                          <a:cs typeface="+mn-cs"/>
                        </a:rPr>
                        <a:t>.</a:t>
                      </a:r>
                      <a:endParaRPr lang="en-US" sz="1000" b="0" i="0" kern="1200" dirty="0">
                        <a:solidFill>
                          <a:schemeClr val="tx1"/>
                        </a:solidFill>
                        <a:effectLst/>
                        <a:latin typeface="+mn-lt"/>
                        <a:ea typeface="+mn-ea"/>
                        <a:cs typeface="+mn-cs"/>
                      </a:endParaRPr>
                    </a:p>
                  </a:txBody>
                  <a:tcPr/>
                </a:tc>
                <a:tc>
                  <a:txBody>
                    <a:bodyPr/>
                    <a:lstStyle/>
                    <a:p>
                      <a:pPr algn="l"/>
                      <a:r>
                        <a:rPr lang="en-US" sz="1000" b="0" i="0" kern="1200" dirty="0">
                          <a:solidFill>
                            <a:schemeClr val="tx1"/>
                          </a:solidFill>
                          <a:effectLst/>
                          <a:latin typeface="+mn-lt"/>
                          <a:ea typeface="+mn-ea"/>
                          <a:cs typeface="+mn-cs"/>
                        </a:rPr>
                        <a:t>Lacks regional language support and a mobile application version.</a:t>
                      </a:r>
                      <a:br>
                        <a:rPr lang="en-US" sz="1200" dirty="0"/>
                      </a:br>
                      <a:endParaRPr lang="en-US" sz="1200" dirty="0"/>
                    </a:p>
                  </a:txBody>
                  <a:tcPr/>
                </a:tc>
                <a:extLst>
                  <a:ext uri="{0D108BD9-81ED-4DB2-BD59-A6C34878D82A}">
                    <a16:rowId xmlns:a16="http://schemas.microsoft.com/office/drawing/2014/main" val="1311254684"/>
                  </a:ext>
                </a:extLst>
              </a:tr>
              <a:tr h="1815825">
                <a:tc>
                  <a:txBody>
                    <a:bodyPr/>
                    <a:lstStyle/>
                    <a:p>
                      <a:pPr algn="l"/>
                      <a:r>
                        <a:rPr lang="en-US" sz="1200" dirty="0"/>
                        <a:t>[2]</a:t>
                      </a:r>
                    </a:p>
                  </a:txBody>
                  <a:tcPr/>
                </a:tc>
                <a:tc>
                  <a:txBody>
                    <a:bodyPr/>
                    <a:lstStyle/>
                    <a:p>
                      <a:pPr algn="l"/>
                      <a:r>
                        <a:rPr lang="en-US" sz="1000" b="0" i="0" kern="1200" dirty="0" err="1">
                          <a:solidFill>
                            <a:schemeClr val="tx1"/>
                          </a:solidFill>
                          <a:effectLst/>
                          <a:latin typeface="+mn-lt"/>
                          <a:ea typeface="+mn-ea"/>
                          <a:cs typeface="+mn-cs"/>
                        </a:rPr>
                        <a:t>Nanthakumar</a:t>
                      </a:r>
                      <a:r>
                        <a:rPr lang="en-US" sz="1000" b="0" i="0" kern="1200" dirty="0">
                          <a:solidFill>
                            <a:schemeClr val="tx1"/>
                          </a:solidFill>
                          <a:effectLst/>
                          <a:latin typeface="+mn-lt"/>
                          <a:ea typeface="+mn-ea"/>
                          <a:cs typeface="+mn-cs"/>
                        </a:rPr>
                        <a:t>, G., </a:t>
                      </a:r>
                      <a:r>
                        <a:rPr lang="en-US" sz="1000" b="0" i="0" kern="1200" dirty="0" err="1">
                          <a:solidFill>
                            <a:schemeClr val="tx1"/>
                          </a:solidFill>
                          <a:effectLst/>
                          <a:latin typeface="+mn-lt"/>
                          <a:ea typeface="+mn-ea"/>
                          <a:cs typeface="+mn-cs"/>
                        </a:rPr>
                        <a:t>Pazhanivel</a:t>
                      </a:r>
                      <a:r>
                        <a:rPr lang="en-US" sz="1000" b="0" i="0" kern="1200" dirty="0">
                          <a:solidFill>
                            <a:schemeClr val="tx1"/>
                          </a:solidFill>
                          <a:effectLst/>
                          <a:latin typeface="+mn-lt"/>
                          <a:ea typeface="+mn-ea"/>
                          <a:cs typeface="+mn-cs"/>
                        </a:rPr>
                        <a:t>, K., </a:t>
                      </a:r>
                      <a:r>
                        <a:rPr lang="en-US" sz="1000" b="0" i="0" kern="1200" dirty="0" err="1">
                          <a:solidFill>
                            <a:schemeClr val="tx1"/>
                          </a:solidFill>
                          <a:effectLst/>
                          <a:latin typeface="+mn-lt"/>
                          <a:ea typeface="+mn-ea"/>
                          <a:cs typeface="+mn-cs"/>
                        </a:rPr>
                        <a:t>Saivasanth</a:t>
                      </a:r>
                      <a:r>
                        <a:rPr lang="en-US" sz="1000" b="0" i="0" kern="1200" dirty="0">
                          <a:solidFill>
                            <a:schemeClr val="tx1"/>
                          </a:solidFill>
                          <a:effectLst/>
                          <a:latin typeface="+mn-lt"/>
                          <a:ea typeface="+mn-ea"/>
                          <a:cs typeface="+mn-cs"/>
                        </a:rPr>
                        <a:t>, R., Sri Hari, R. M. &amp; </a:t>
                      </a:r>
                      <a:r>
                        <a:rPr lang="en-US" sz="1000" b="0" i="0" kern="1200" dirty="0" err="1">
                          <a:solidFill>
                            <a:schemeClr val="tx1"/>
                          </a:solidFill>
                          <a:effectLst/>
                          <a:latin typeface="+mn-lt"/>
                          <a:ea typeface="+mn-ea"/>
                          <a:cs typeface="+mn-cs"/>
                        </a:rPr>
                        <a:t>Vignesh</a:t>
                      </a:r>
                      <a:r>
                        <a:rPr lang="en-US" sz="1000" b="0" i="0" kern="1200" dirty="0">
                          <a:solidFill>
                            <a:schemeClr val="tx1"/>
                          </a:solidFill>
                          <a:effectLst/>
                          <a:latin typeface="+mn-lt"/>
                          <a:ea typeface="+mn-ea"/>
                          <a:cs typeface="+mn-cs"/>
                        </a:rPr>
                        <a:t>, R. (2024)</a:t>
                      </a:r>
                      <a:endParaRPr lang="en-US" sz="1000" dirty="0"/>
                    </a:p>
                  </a:txBody>
                  <a:tcPr/>
                </a:tc>
                <a:tc>
                  <a:txBody>
                    <a:bodyPr/>
                    <a:lstStyle/>
                    <a:p>
                      <a:pPr algn="l"/>
                      <a:r>
                        <a:rPr lang="en-US" sz="1000" b="0" i="0" kern="1200" dirty="0">
                          <a:solidFill>
                            <a:schemeClr val="tx1"/>
                          </a:solidFill>
                          <a:effectLst/>
                          <a:latin typeface="+mn-lt"/>
                          <a:ea typeface="+mn-ea"/>
                          <a:cs typeface="+mn-cs"/>
                        </a:rPr>
                        <a:t>Government Schemes </a:t>
                      </a:r>
                      <a:r>
                        <a:rPr lang="en-US" sz="1000" b="0" i="0" kern="1200" dirty="0" err="1">
                          <a:solidFill>
                            <a:schemeClr val="tx1"/>
                          </a:solidFill>
                          <a:effectLst/>
                          <a:latin typeface="+mn-lt"/>
                          <a:ea typeface="+mn-ea"/>
                          <a:cs typeface="+mn-cs"/>
                        </a:rPr>
                        <a:t>Chatbot</a:t>
                      </a:r>
                      <a:r>
                        <a:rPr lang="en-US" sz="1000" b="0" i="0" kern="1200" dirty="0">
                          <a:solidFill>
                            <a:schemeClr val="tx1"/>
                          </a:solidFill>
                          <a:effectLst/>
                          <a:latin typeface="+mn-lt"/>
                          <a:ea typeface="+mn-ea"/>
                          <a:cs typeface="+mn-cs"/>
                        </a:rPr>
                        <a:t> Using Machine Learning</a:t>
                      </a:r>
                      <a:endParaRPr lang="en-US" sz="1000" dirty="0"/>
                    </a:p>
                  </a:txBody>
                  <a:tcPr/>
                </a:tc>
                <a:tc>
                  <a:txBody>
                    <a:bodyPr/>
                    <a:lstStyle/>
                    <a:p>
                      <a:r>
                        <a:rPr lang="en-US" sz="1000" b="0" i="0" kern="1200" dirty="0">
                          <a:solidFill>
                            <a:schemeClr val="tx1"/>
                          </a:solidFill>
                          <a:effectLst/>
                          <a:latin typeface="+mn-lt"/>
                          <a:ea typeface="+mn-ea"/>
                          <a:cs typeface="+mn-cs"/>
                        </a:rPr>
                        <a:t>Utilizes </a:t>
                      </a:r>
                      <a:r>
                        <a:rPr lang="en-US" sz="1000" b="1" i="0" kern="1200" dirty="0">
                          <a:solidFill>
                            <a:schemeClr val="tx1"/>
                          </a:solidFill>
                          <a:effectLst/>
                          <a:latin typeface="+mn-lt"/>
                          <a:ea typeface="+mn-ea"/>
                          <a:cs typeface="+mn-cs"/>
                        </a:rPr>
                        <a:t>Natural Language Processing (NLP)</a:t>
                      </a:r>
                      <a:r>
                        <a:rPr lang="en-US" sz="1000" b="0" i="0" kern="1200" dirty="0">
                          <a:solidFill>
                            <a:schemeClr val="tx1"/>
                          </a:solidFill>
                          <a:effectLst/>
                          <a:latin typeface="+mn-lt"/>
                          <a:ea typeface="+mn-ea"/>
                          <a:cs typeface="+mn-cs"/>
                        </a:rPr>
                        <a:t> for tokenization and intent classification,.</a:t>
                      </a:r>
                    </a:p>
                    <a:p>
                      <a:r>
                        <a:rPr lang="en-US" sz="1000" b="0" i="0" kern="1200" dirty="0">
                          <a:solidFill>
                            <a:schemeClr val="tx1"/>
                          </a:solidFill>
                          <a:effectLst/>
                          <a:latin typeface="+mn-lt"/>
                          <a:ea typeface="+mn-ea"/>
                          <a:cs typeface="+mn-cs"/>
                        </a:rPr>
                        <a:t>Employs a </a:t>
                      </a:r>
                      <a:r>
                        <a:rPr lang="en-US" sz="1000" b="1" i="0" kern="1200" dirty="0">
                          <a:solidFill>
                            <a:schemeClr val="tx1"/>
                          </a:solidFill>
                          <a:effectLst/>
                          <a:latin typeface="+mn-lt"/>
                          <a:ea typeface="+mn-ea"/>
                          <a:cs typeface="+mn-cs"/>
                        </a:rPr>
                        <a:t>Machine Learning model</a:t>
                      </a:r>
                      <a:r>
                        <a:rPr lang="en-US" sz="1000" b="0" i="0" kern="1200" dirty="0">
                          <a:solidFill>
                            <a:schemeClr val="tx1"/>
                          </a:solidFill>
                          <a:effectLst/>
                          <a:latin typeface="+mn-lt"/>
                          <a:ea typeface="+mn-ea"/>
                          <a:cs typeface="+mn-cs"/>
                        </a:rPr>
                        <a:t> trained on a JSON database to categorize queries and retrieve responses</a:t>
                      </a:r>
                    </a:p>
                    <a:p>
                      <a:pPr lvl="1"/>
                      <a:endParaRPr lang="en-US" sz="1800" dirty="0"/>
                    </a:p>
                  </a:txBody>
                  <a:tcPr/>
                </a:tc>
                <a:tc>
                  <a:txBody>
                    <a:bodyPr/>
                    <a:lstStyle/>
                    <a:p>
                      <a:r>
                        <a:rPr lang="en-US" sz="1000" b="0" i="0" kern="1200" dirty="0">
                          <a:solidFill>
                            <a:schemeClr val="tx1"/>
                          </a:solidFill>
                          <a:effectLst/>
                          <a:latin typeface="+mn-lt"/>
                          <a:ea typeface="+mn-ea"/>
                          <a:cs typeface="+mn-cs"/>
                        </a:rPr>
                        <a:t>Demonstrated a functional </a:t>
                      </a:r>
                      <a:r>
                        <a:rPr lang="en-US" sz="1000" b="0" i="0" kern="1200" dirty="0" err="1">
                          <a:solidFill>
                            <a:schemeClr val="tx1"/>
                          </a:solidFill>
                          <a:effectLst/>
                          <a:latin typeface="+mn-lt"/>
                          <a:ea typeface="+mn-ea"/>
                          <a:cs typeface="+mn-cs"/>
                        </a:rPr>
                        <a:t>chatbot</a:t>
                      </a:r>
                      <a:r>
                        <a:rPr lang="en-US" sz="1000" b="0" i="0" kern="1200" dirty="0">
                          <a:solidFill>
                            <a:schemeClr val="tx1"/>
                          </a:solidFill>
                          <a:effectLst/>
                          <a:latin typeface="+mn-lt"/>
                          <a:ea typeface="+mn-ea"/>
                          <a:cs typeface="+mn-cs"/>
                        </a:rPr>
                        <a:t> specializing in schemes like hostels and scholarships,.</a:t>
                      </a:r>
                    </a:p>
                    <a:p>
                      <a:r>
                        <a:rPr lang="en-US" sz="1000" b="0" i="0" kern="1200" dirty="0">
                          <a:solidFill>
                            <a:schemeClr val="tx1"/>
                          </a:solidFill>
                          <a:effectLst/>
                          <a:latin typeface="+mn-lt"/>
                          <a:ea typeface="+mn-ea"/>
                          <a:cs typeface="+mn-cs"/>
                        </a:rPr>
                        <a:t>Performance metrics (accuracy, precision) proved more effective than older manual or rule-based systems.</a:t>
                      </a:r>
                    </a:p>
                    <a:p>
                      <a:pPr algn="l"/>
                      <a:endParaRPr lang="en-US" sz="1200" dirty="0"/>
                    </a:p>
                  </a:txBody>
                  <a:tcPr/>
                </a:tc>
                <a:tc>
                  <a:txBody>
                    <a:bodyPr/>
                    <a:lstStyle/>
                    <a:p>
                      <a:r>
                        <a:rPr lang="en-US" sz="1000" b="0" i="0" kern="1200" dirty="0">
                          <a:solidFill>
                            <a:schemeClr val="tx1"/>
                          </a:solidFill>
                          <a:effectLst/>
                          <a:latin typeface="+mn-lt"/>
                          <a:ea typeface="+mn-ea"/>
                          <a:cs typeface="+mn-cs"/>
                        </a:rPr>
                        <a:t>Current version lacks sentiment analysis and multi-turn dialogue handling.</a:t>
                      </a:r>
                    </a:p>
                    <a:p>
                      <a:r>
                        <a:rPr lang="en-US" sz="1000" b="0" i="0" kern="1200" dirty="0">
                          <a:solidFill>
                            <a:schemeClr val="tx1"/>
                          </a:solidFill>
                          <a:effectLst/>
                          <a:latin typeface="+mn-lt"/>
                          <a:ea typeface="+mn-ea"/>
                          <a:cs typeface="+mn-cs"/>
                        </a:rPr>
                        <a:t>Does not yet support multiple languages</a:t>
                      </a:r>
                    </a:p>
                    <a:p>
                      <a:pPr algn="l"/>
                      <a:r>
                        <a:rPr lang="en-US" sz="1200" dirty="0"/>
                        <a:t>.</a:t>
                      </a:r>
                    </a:p>
                  </a:txBody>
                  <a:tcPr/>
                </a:tc>
                <a:extLst>
                  <a:ext uri="{0D108BD9-81ED-4DB2-BD59-A6C34878D82A}">
                    <a16:rowId xmlns:a16="http://schemas.microsoft.com/office/drawing/2014/main" val="365174042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503" y="1199535"/>
            <a:ext cx="7875941" cy="813720"/>
          </a:xfrm>
        </p:spPr>
        <p:txBody>
          <a:bodyPr>
            <a:normAutofit/>
          </a:bodyPr>
          <a:lstStyle/>
          <a:p>
            <a:r>
              <a:rPr lang="en-US" sz="2800" dirty="0"/>
              <a:t>Literature Survey - Comparison Chart</a:t>
            </a:r>
          </a:p>
        </p:txBody>
      </p:sp>
      <p:graphicFrame>
        <p:nvGraphicFramePr>
          <p:cNvPr id="4" name="Table 3">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2886093817"/>
              </p:ext>
            </p:extLst>
          </p:nvPr>
        </p:nvGraphicFramePr>
        <p:xfrm>
          <a:off x="1494503" y="2013255"/>
          <a:ext cx="9596199" cy="3852973"/>
        </p:xfrm>
        <a:graphic>
          <a:graphicData uri="http://schemas.openxmlformats.org/drawingml/2006/table">
            <a:tbl>
              <a:tblPr firstRow="1" bandRow="1"/>
              <a:tblGrid>
                <a:gridCol w="520913">
                  <a:extLst>
                    <a:ext uri="{9D8B030D-6E8A-4147-A177-3AD203B41FA5}">
                      <a16:colId xmlns:a16="http://schemas.microsoft.com/office/drawing/2014/main" val="299110558"/>
                    </a:ext>
                  </a:extLst>
                </a:gridCol>
                <a:gridCol w="2752641">
                  <a:extLst>
                    <a:ext uri="{9D8B030D-6E8A-4147-A177-3AD203B41FA5}">
                      <a16:colId xmlns:a16="http://schemas.microsoft.com/office/drawing/2014/main" val="2371221148"/>
                    </a:ext>
                  </a:extLst>
                </a:gridCol>
                <a:gridCol w="1433698">
                  <a:extLst>
                    <a:ext uri="{9D8B030D-6E8A-4147-A177-3AD203B41FA5}">
                      <a16:colId xmlns:a16="http://schemas.microsoft.com/office/drawing/2014/main" val="1195321742"/>
                    </a:ext>
                  </a:extLst>
                </a:gridCol>
                <a:gridCol w="1771606">
                  <a:extLst>
                    <a:ext uri="{9D8B030D-6E8A-4147-A177-3AD203B41FA5}">
                      <a16:colId xmlns:a16="http://schemas.microsoft.com/office/drawing/2014/main" val="3583637318"/>
                    </a:ext>
                  </a:extLst>
                </a:gridCol>
                <a:gridCol w="1683769">
                  <a:extLst>
                    <a:ext uri="{9D8B030D-6E8A-4147-A177-3AD203B41FA5}">
                      <a16:colId xmlns:a16="http://schemas.microsoft.com/office/drawing/2014/main" val="211691514"/>
                    </a:ext>
                  </a:extLst>
                </a:gridCol>
                <a:gridCol w="1433572">
                  <a:extLst>
                    <a:ext uri="{9D8B030D-6E8A-4147-A177-3AD203B41FA5}">
                      <a16:colId xmlns:a16="http://schemas.microsoft.com/office/drawing/2014/main" val="1125257413"/>
                    </a:ext>
                  </a:extLst>
                </a:gridCol>
              </a:tblGrid>
              <a:tr h="438166">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1848209">
                <a:tc>
                  <a:txBody>
                    <a:bodyPr/>
                    <a:lstStyle/>
                    <a:p>
                      <a:pPr algn="l"/>
                      <a:r>
                        <a:rPr lang="en-US" sz="1200" dirty="0"/>
                        <a:t>[3]</a:t>
                      </a:r>
                    </a:p>
                  </a:txBody>
                  <a:tcPr/>
                </a:tc>
                <a:tc>
                  <a:txBody>
                    <a:bodyPr/>
                    <a:lstStyle/>
                    <a:p>
                      <a:pPr algn="l"/>
                      <a:r>
                        <a:rPr lang="en-US" sz="1000" b="0" i="0" kern="1200" dirty="0" err="1">
                          <a:solidFill>
                            <a:schemeClr val="tx1"/>
                          </a:solidFill>
                          <a:effectLst/>
                          <a:latin typeface="+mn-lt"/>
                          <a:ea typeface="+mn-ea"/>
                          <a:cs typeface="+mn-cs"/>
                        </a:rPr>
                        <a:t>Rokade</a:t>
                      </a:r>
                      <a:r>
                        <a:rPr lang="en-US" sz="1000" b="0" i="0" kern="1200" dirty="0">
                          <a:solidFill>
                            <a:schemeClr val="tx1"/>
                          </a:solidFill>
                          <a:effectLst/>
                          <a:latin typeface="+mn-lt"/>
                          <a:ea typeface="+mn-ea"/>
                          <a:cs typeface="+mn-cs"/>
                        </a:rPr>
                        <a:t>, S., </a:t>
                      </a:r>
                      <a:r>
                        <a:rPr lang="en-US" sz="1000" b="0" i="0" kern="1200" dirty="0" err="1">
                          <a:solidFill>
                            <a:schemeClr val="tx1"/>
                          </a:solidFill>
                          <a:effectLst/>
                          <a:latin typeface="+mn-lt"/>
                          <a:ea typeface="+mn-ea"/>
                          <a:cs typeface="+mn-cs"/>
                        </a:rPr>
                        <a:t>Sitaphale</a:t>
                      </a:r>
                      <a:r>
                        <a:rPr lang="en-US" sz="1000" b="0" i="0" kern="1200" dirty="0">
                          <a:solidFill>
                            <a:schemeClr val="tx1"/>
                          </a:solidFill>
                          <a:effectLst/>
                          <a:latin typeface="+mn-lt"/>
                          <a:ea typeface="+mn-ea"/>
                          <a:cs typeface="+mn-cs"/>
                        </a:rPr>
                        <a:t>, A., </a:t>
                      </a:r>
                      <a:r>
                        <a:rPr lang="en-US" sz="1000" b="0" i="0" kern="1200" dirty="0" err="1">
                          <a:solidFill>
                            <a:schemeClr val="tx1"/>
                          </a:solidFill>
                          <a:effectLst/>
                          <a:latin typeface="+mn-lt"/>
                          <a:ea typeface="+mn-ea"/>
                          <a:cs typeface="+mn-cs"/>
                        </a:rPr>
                        <a:t>Nimbal</a:t>
                      </a:r>
                      <a:r>
                        <a:rPr lang="en-US" sz="1000" b="0" i="0" kern="1200" dirty="0">
                          <a:solidFill>
                            <a:schemeClr val="tx1"/>
                          </a:solidFill>
                          <a:effectLst/>
                          <a:latin typeface="+mn-lt"/>
                          <a:ea typeface="+mn-ea"/>
                          <a:cs typeface="+mn-cs"/>
                        </a:rPr>
                        <a:t>, U., Konda, M. &amp; </a:t>
                      </a:r>
                      <a:r>
                        <a:rPr lang="en-US" sz="1000" b="0" i="0" kern="1200" dirty="0" err="1">
                          <a:solidFill>
                            <a:schemeClr val="tx1"/>
                          </a:solidFill>
                          <a:effectLst/>
                          <a:latin typeface="+mn-lt"/>
                          <a:ea typeface="+mn-ea"/>
                          <a:cs typeface="+mn-cs"/>
                        </a:rPr>
                        <a:t>Hosale</a:t>
                      </a:r>
                      <a:r>
                        <a:rPr lang="en-US" sz="1000" b="0" i="0" kern="1200" dirty="0">
                          <a:solidFill>
                            <a:schemeClr val="tx1"/>
                          </a:solidFill>
                          <a:effectLst/>
                          <a:latin typeface="+mn-lt"/>
                          <a:ea typeface="+mn-ea"/>
                          <a:cs typeface="+mn-cs"/>
                        </a:rPr>
                        <a:t>, A. (2024))</a:t>
                      </a:r>
                      <a:endParaRPr lang="en-US" sz="1000" dirty="0"/>
                    </a:p>
                  </a:txBody>
                  <a:tcPr/>
                </a:tc>
                <a:tc>
                  <a:txBody>
                    <a:bodyPr/>
                    <a:lstStyle/>
                    <a:p>
                      <a:r>
                        <a:rPr lang="en-US" sz="1000" b="0" i="0" kern="1200" dirty="0">
                          <a:solidFill>
                            <a:schemeClr val="tx1"/>
                          </a:solidFill>
                          <a:effectLst/>
                          <a:latin typeface="+mn-lt"/>
                          <a:ea typeface="+mn-ea"/>
                          <a:cs typeface="+mn-cs"/>
                        </a:rPr>
                        <a:t>Government Schemes Recommendation System: Integrating NLP, AI, and Citizen Data for Smart Welfare Assistance</a:t>
                      </a:r>
                      <a:endParaRPr lang="en-US" sz="1000" dirty="0"/>
                    </a:p>
                  </a:txBody>
                  <a:tcPr/>
                </a:tc>
                <a:tc>
                  <a:txBody>
                    <a:bodyPr/>
                    <a:lstStyle/>
                    <a:p>
                      <a:r>
                        <a:rPr lang="en-US" sz="1000" b="0" i="0" kern="1200" dirty="0">
                          <a:solidFill>
                            <a:schemeClr val="tx1"/>
                          </a:solidFill>
                          <a:effectLst/>
                          <a:latin typeface="+mn-lt"/>
                          <a:ea typeface="+mn-ea"/>
                          <a:cs typeface="+mn-cs"/>
                        </a:rPr>
                        <a:t>Integrates five core modules: </a:t>
                      </a:r>
                      <a:r>
                        <a:rPr lang="en-US" sz="1000" b="1" i="0" kern="1200" dirty="0">
                          <a:solidFill>
                            <a:schemeClr val="tx1"/>
                          </a:solidFill>
                          <a:effectLst/>
                          <a:latin typeface="+mn-lt"/>
                          <a:ea typeface="+mn-ea"/>
                          <a:cs typeface="+mn-cs"/>
                        </a:rPr>
                        <a:t>User Profile Analyzer</a:t>
                      </a:r>
                      <a:r>
                        <a:rPr lang="en-US" sz="1000" b="0" i="0" kern="120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Eligibility Predictor</a:t>
                      </a:r>
                      <a:r>
                        <a:rPr lang="en-US" sz="1000" b="0" i="0" kern="120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Knowledge Base</a:t>
                      </a:r>
                      <a:r>
                        <a:rPr lang="en-US" sz="1000" b="0" i="0" kern="120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Recommendation Engine</a:t>
                      </a:r>
                      <a:r>
                        <a:rPr lang="en-US" sz="1000" b="0" i="0" kern="1200" dirty="0">
                          <a:solidFill>
                            <a:schemeClr val="tx1"/>
                          </a:solidFill>
                          <a:effectLst/>
                          <a:latin typeface="+mn-lt"/>
                          <a:ea typeface="+mn-ea"/>
                          <a:cs typeface="+mn-cs"/>
                        </a:rPr>
                        <a:t>, and a </a:t>
                      </a:r>
                      <a:r>
                        <a:rPr lang="en-US" sz="1000" b="1" i="0" kern="1200" dirty="0">
                          <a:solidFill>
                            <a:schemeClr val="tx1"/>
                          </a:solidFill>
                          <a:effectLst/>
                          <a:latin typeface="+mn-lt"/>
                          <a:ea typeface="+mn-ea"/>
                          <a:cs typeface="+mn-cs"/>
                        </a:rPr>
                        <a:t>Feedback Module</a:t>
                      </a:r>
                      <a:r>
                        <a:rPr lang="en-US" sz="1000" b="0" i="0" kern="1200" dirty="0">
                          <a:solidFill>
                            <a:schemeClr val="tx1"/>
                          </a:solidFill>
                          <a:effectLst/>
                          <a:latin typeface="+mn-lt"/>
                          <a:ea typeface="+mn-ea"/>
                          <a:cs typeface="+mn-cs"/>
                        </a:rPr>
                        <a:t>,.</a:t>
                      </a:r>
                    </a:p>
                    <a:p>
                      <a:r>
                        <a:rPr lang="en-US" sz="1000" b="0" i="0" kern="1200" dirty="0">
                          <a:solidFill>
                            <a:schemeClr val="tx1"/>
                          </a:solidFill>
                          <a:effectLst/>
                          <a:latin typeface="+mn-lt"/>
                          <a:ea typeface="+mn-ea"/>
                          <a:cs typeface="+mn-cs"/>
                        </a:rPr>
                        <a:t>Uses </a:t>
                      </a:r>
                      <a:r>
                        <a:rPr lang="en-US" sz="1000" b="1" i="0" kern="1200" dirty="0">
                          <a:solidFill>
                            <a:schemeClr val="tx1"/>
                          </a:solidFill>
                          <a:effectLst/>
                          <a:latin typeface="+mn-lt"/>
                          <a:ea typeface="+mn-ea"/>
                          <a:cs typeface="+mn-cs"/>
                        </a:rPr>
                        <a:t>ML classifiers</a:t>
                      </a:r>
                      <a:r>
                        <a:rPr lang="en-US" sz="1000" b="0" i="0" kern="1200" dirty="0">
                          <a:solidFill>
                            <a:schemeClr val="tx1"/>
                          </a:solidFill>
                          <a:effectLst/>
                          <a:latin typeface="+mn-lt"/>
                          <a:ea typeface="+mn-ea"/>
                          <a:cs typeface="+mn-cs"/>
                        </a:rPr>
                        <a:t> for eligibility and </a:t>
                      </a:r>
                      <a:r>
                        <a:rPr lang="en-US" sz="1000" b="1" i="0" kern="1200" dirty="0">
                          <a:solidFill>
                            <a:schemeClr val="tx1"/>
                          </a:solidFill>
                          <a:effectLst/>
                          <a:latin typeface="+mn-lt"/>
                          <a:ea typeface="+mn-ea"/>
                          <a:cs typeface="+mn-cs"/>
                        </a:rPr>
                        <a:t>NLP semantic matching</a:t>
                      </a:r>
                      <a:r>
                        <a:rPr lang="en-US" sz="1000" b="0" i="0" kern="1200" dirty="0">
                          <a:solidFill>
                            <a:schemeClr val="tx1"/>
                          </a:solidFill>
                          <a:effectLst/>
                          <a:latin typeface="+mn-lt"/>
                          <a:ea typeface="+mn-ea"/>
                          <a:cs typeface="+mn-cs"/>
                        </a:rPr>
                        <a:t> to rank results</a:t>
                      </a:r>
                    </a:p>
                    <a:p>
                      <a:r>
                        <a:rPr lang="en-US" sz="1000" b="0" i="0" kern="1200" dirty="0">
                          <a:solidFill>
                            <a:schemeClr val="tx1"/>
                          </a:solidFill>
                          <a:effectLst/>
                          <a:latin typeface="+mn-lt"/>
                          <a:ea typeface="+mn-ea"/>
                          <a:cs typeface="+mn-cs"/>
                        </a:rPr>
                        <a:t>.</a:t>
                      </a:r>
                    </a:p>
                    <a:p>
                      <a:pPr algn="l"/>
                      <a:endParaRPr lang="en-US" sz="1200" dirty="0"/>
                    </a:p>
                  </a:txBody>
                  <a:tcPr/>
                </a:tc>
                <a:tc>
                  <a:txBody>
                    <a:bodyPr/>
                    <a:lstStyle/>
                    <a:p>
                      <a:r>
                        <a:rPr lang="en-US" sz="1000" b="0" i="0" kern="1200" dirty="0">
                          <a:solidFill>
                            <a:schemeClr val="tx1"/>
                          </a:solidFill>
                          <a:effectLst/>
                          <a:latin typeface="+mn-lt"/>
                          <a:ea typeface="+mn-ea"/>
                          <a:cs typeface="+mn-cs"/>
                        </a:rPr>
                        <a:t>Achieved </a:t>
                      </a:r>
                      <a:r>
                        <a:rPr lang="en-US" sz="1000" b="1" i="0" kern="1200" dirty="0">
                          <a:solidFill>
                            <a:schemeClr val="tx1"/>
                          </a:solidFill>
                          <a:effectLst/>
                          <a:latin typeface="+mn-lt"/>
                          <a:ea typeface="+mn-ea"/>
                          <a:cs typeface="+mn-cs"/>
                        </a:rPr>
                        <a:t>92% accuracy</a:t>
                      </a:r>
                      <a:r>
                        <a:rPr lang="en-US" sz="1000" b="0" i="0" kern="1200" dirty="0">
                          <a:solidFill>
                            <a:schemeClr val="tx1"/>
                          </a:solidFill>
                          <a:effectLst/>
                          <a:latin typeface="+mn-lt"/>
                          <a:ea typeface="+mn-ea"/>
                          <a:cs typeface="+mn-cs"/>
                        </a:rPr>
                        <a:t> in matching schemes to user profiles.</a:t>
                      </a:r>
                    </a:p>
                    <a:p>
                      <a:r>
                        <a:rPr lang="en-US" sz="1000" b="0" i="0" kern="1200" dirty="0">
                          <a:solidFill>
                            <a:schemeClr val="tx1"/>
                          </a:solidFill>
                          <a:effectLst/>
                          <a:latin typeface="+mn-lt"/>
                          <a:ea typeface="+mn-ea"/>
                          <a:cs typeface="+mn-cs"/>
                        </a:rPr>
                        <a:t>Reduced manual search time for citizens by 70%</a:t>
                      </a:r>
                    </a:p>
                    <a:p>
                      <a:br>
                        <a:rPr lang="en-US" sz="1000" dirty="0"/>
                      </a:br>
                      <a:endParaRPr lang="en-US" sz="1000" b="0" i="0" kern="1200" dirty="0">
                        <a:solidFill>
                          <a:schemeClr val="tx1"/>
                        </a:solidFill>
                        <a:effectLst/>
                        <a:latin typeface="+mn-lt"/>
                        <a:ea typeface="+mn-ea"/>
                        <a:cs typeface="+mn-cs"/>
                      </a:endParaRPr>
                    </a:p>
                  </a:txBody>
                  <a:tcPr/>
                </a:tc>
                <a:tc>
                  <a:txBody>
                    <a:bodyPr/>
                    <a:lstStyle/>
                    <a:p>
                      <a:pPr algn="l"/>
                      <a:r>
                        <a:rPr lang="en-US" sz="1000" b="0" i="0" kern="1200" dirty="0">
                          <a:solidFill>
                            <a:schemeClr val="tx1"/>
                          </a:solidFill>
                          <a:effectLst/>
                          <a:latin typeface="+mn-lt"/>
                          <a:ea typeface="+mn-ea"/>
                          <a:cs typeface="+mn-cs"/>
                        </a:rPr>
                        <a:t>Requires a continuous feedback loop and reinforcement learning to maintain model accuracy</a:t>
                      </a:r>
                      <a:endParaRPr lang="en-US" sz="1000" dirty="0"/>
                    </a:p>
                  </a:txBody>
                  <a:tcPr/>
                </a:tc>
                <a:extLst>
                  <a:ext uri="{0D108BD9-81ED-4DB2-BD59-A6C34878D82A}">
                    <a16:rowId xmlns:a16="http://schemas.microsoft.com/office/drawing/2014/main" val="1311254684"/>
                  </a:ext>
                </a:extLst>
              </a:tr>
              <a:tr h="1566598">
                <a:tc>
                  <a:txBody>
                    <a:bodyPr/>
                    <a:lstStyle/>
                    <a:p>
                      <a:pPr algn="l"/>
                      <a:r>
                        <a:rPr lang="en-US" sz="1200" dirty="0"/>
                        <a:t>[4]</a:t>
                      </a:r>
                    </a:p>
                  </a:txBody>
                  <a:tcPr/>
                </a:tc>
                <a:tc>
                  <a:txBody>
                    <a:bodyPr/>
                    <a:lstStyle/>
                    <a:p>
                      <a:pPr algn="l"/>
                      <a:r>
                        <a:rPr lang="pt-BR" sz="1000" b="0" i="0" kern="1200" dirty="0">
                          <a:solidFill>
                            <a:schemeClr val="tx1"/>
                          </a:solidFill>
                          <a:effectLst/>
                          <a:latin typeface="+mn-lt"/>
                          <a:ea typeface="+mn-ea"/>
                          <a:cs typeface="+mn-cs"/>
                        </a:rPr>
                        <a:t>Ramathilagam, A., Vignesh Abranantham, T., Nova, S. &amp; Elamparithi Pandian (2025)</a:t>
                      </a:r>
                      <a:endParaRPr lang="en-US" sz="1000" dirty="0"/>
                    </a:p>
                  </a:txBody>
                  <a:tcPr/>
                </a:tc>
                <a:tc>
                  <a:txBody>
                    <a:bodyPr/>
                    <a:lstStyle/>
                    <a:p>
                      <a:r>
                        <a:rPr lang="en-US" sz="1000" b="0" i="0" kern="1200" dirty="0">
                          <a:solidFill>
                            <a:schemeClr val="tx1"/>
                          </a:solidFill>
                          <a:effectLst/>
                          <a:latin typeface="+mn-lt"/>
                          <a:ea typeface="+mn-ea"/>
                          <a:cs typeface="+mn-cs"/>
                        </a:rPr>
                        <a:t>AI-Driven Conversational Agent for Enhancing Government Schemes</a:t>
                      </a:r>
                    </a:p>
                    <a:p>
                      <a:br>
                        <a:rPr lang="en-US" sz="1000" dirty="0"/>
                      </a:br>
                      <a:endParaRPr lang="en-US" sz="1000" dirty="0"/>
                    </a:p>
                  </a:txBody>
                  <a:tcPr/>
                </a:tc>
                <a:tc>
                  <a:txBody>
                    <a:bodyPr/>
                    <a:lstStyle/>
                    <a:p>
                      <a:r>
                        <a:rPr lang="en-US" sz="1000" b="0" i="0" kern="1200" dirty="0">
                          <a:solidFill>
                            <a:schemeClr val="tx1"/>
                          </a:solidFill>
                          <a:effectLst/>
                          <a:latin typeface="+mn-lt"/>
                          <a:ea typeface="+mn-ea"/>
                          <a:cs typeface="+mn-cs"/>
                        </a:rPr>
                        <a:t>Hybrid approach using </a:t>
                      </a:r>
                      <a:r>
                        <a:rPr lang="en-US" sz="1000" b="1" i="0" kern="1200" dirty="0">
                          <a:solidFill>
                            <a:schemeClr val="tx1"/>
                          </a:solidFill>
                          <a:effectLst/>
                          <a:latin typeface="+mn-lt"/>
                          <a:ea typeface="+mn-ea"/>
                          <a:cs typeface="+mn-cs"/>
                        </a:rPr>
                        <a:t>rule-based methods and ML models</a:t>
                      </a:r>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Scikit</a:t>
                      </a:r>
                      <a:r>
                        <a:rPr lang="en-US" sz="1000" b="0" i="0" kern="1200" dirty="0">
                          <a:solidFill>
                            <a:schemeClr val="tx1"/>
                          </a:solidFill>
                          <a:effectLst/>
                          <a:latin typeface="+mn-lt"/>
                          <a:ea typeface="+mn-ea"/>
                          <a:cs typeface="+mn-cs"/>
                        </a:rPr>
                        <a:t>-Learn, </a:t>
                      </a:r>
                      <a:r>
                        <a:rPr lang="en-US" sz="1000" b="0" i="0" kern="1200" dirty="0" err="1">
                          <a:solidFill>
                            <a:schemeClr val="tx1"/>
                          </a:solidFill>
                          <a:effectLst/>
                          <a:latin typeface="+mn-lt"/>
                          <a:ea typeface="+mn-ea"/>
                          <a:cs typeface="+mn-cs"/>
                        </a:rPr>
                        <a:t>TensorFlow</a:t>
                      </a:r>
                      <a:r>
                        <a:rPr lang="en-US" sz="1000" b="0" i="0" kern="1200" dirty="0">
                          <a:solidFill>
                            <a:schemeClr val="tx1"/>
                          </a:solidFill>
                          <a:effectLst/>
                          <a:latin typeface="+mn-lt"/>
                          <a:ea typeface="+mn-ea"/>
                          <a:cs typeface="+mn-cs"/>
                        </a:rPr>
                        <a:t>),.</a:t>
                      </a:r>
                    </a:p>
                    <a:p>
                      <a:r>
                        <a:rPr lang="en-US" sz="1000" b="0" i="0" kern="1200" dirty="0">
                          <a:solidFill>
                            <a:schemeClr val="tx1"/>
                          </a:solidFill>
                          <a:effectLst/>
                          <a:latin typeface="+mn-lt"/>
                          <a:ea typeface="+mn-ea"/>
                          <a:cs typeface="+mn-cs"/>
                        </a:rPr>
                        <a:t>Backend powered by </a:t>
                      </a:r>
                      <a:r>
                        <a:rPr lang="en-US" sz="1000" b="1" i="0" kern="1200" dirty="0">
                          <a:solidFill>
                            <a:schemeClr val="tx1"/>
                          </a:solidFill>
                          <a:effectLst/>
                          <a:latin typeface="+mn-lt"/>
                          <a:ea typeface="+mn-ea"/>
                          <a:cs typeface="+mn-cs"/>
                        </a:rPr>
                        <a:t>Flask and Firebase</a:t>
                      </a:r>
                      <a:r>
                        <a:rPr lang="en-US" sz="1000" b="0" i="0" kern="1200" dirty="0">
                          <a:solidFill>
                            <a:schemeClr val="tx1"/>
                          </a:solidFill>
                          <a:effectLst/>
                          <a:latin typeface="+mn-lt"/>
                          <a:ea typeface="+mn-ea"/>
                          <a:cs typeface="+mn-cs"/>
                        </a:rPr>
                        <a:t> with NLP libraries like </a:t>
                      </a:r>
                      <a:r>
                        <a:rPr lang="en-US" sz="1000" b="1" i="0" kern="1200" dirty="0" err="1">
                          <a:solidFill>
                            <a:schemeClr val="tx1"/>
                          </a:solidFill>
                          <a:effectLst/>
                          <a:latin typeface="+mn-lt"/>
                          <a:ea typeface="+mn-ea"/>
                          <a:cs typeface="+mn-cs"/>
                        </a:rPr>
                        <a:t>spaCy</a:t>
                      </a:r>
                      <a:r>
                        <a:rPr lang="en-US" sz="1000" b="1" i="0" kern="1200" dirty="0">
                          <a:solidFill>
                            <a:schemeClr val="tx1"/>
                          </a:solidFill>
                          <a:effectLst/>
                          <a:latin typeface="+mn-lt"/>
                          <a:ea typeface="+mn-ea"/>
                          <a:cs typeface="+mn-cs"/>
                        </a:rPr>
                        <a:t> and NLTK</a:t>
                      </a:r>
                      <a:endParaRPr lang="en-US" sz="1000" b="0" i="0" kern="1200" dirty="0">
                        <a:solidFill>
                          <a:schemeClr val="tx1"/>
                        </a:solidFill>
                        <a:effectLst/>
                        <a:latin typeface="+mn-lt"/>
                        <a:ea typeface="+mn-ea"/>
                        <a:cs typeface="+mn-cs"/>
                      </a:endParaRPr>
                    </a:p>
                    <a:p>
                      <a:r>
                        <a:rPr lang="en-US" sz="1000" b="0" i="0" kern="1200" dirty="0">
                          <a:solidFill>
                            <a:schemeClr val="tx1"/>
                          </a:solidFill>
                          <a:effectLst/>
                          <a:latin typeface="+mn-lt"/>
                          <a:ea typeface="+mn-ea"/>
                          <a:cs typeface="+mn-cs"/>
                        </a:rPr>
                        <a:t>.</a:t>
                      </a:r>
                    </a:p>
                  </a:txBody>
                  <a:tcPr/>
                </a:tc>
                <a:tc>
                  <a:txBody>
                    <a:bodyPr/>
                    <a:lstStyle/>
                    <a:p>
                      <a:r>
                        <a:rPr lang="en-US" sz="1000" b="0" i="0" kern="1200" dirty="0">
                          <a:solidFill>
                            <a:schemeClr val="tx1"/>
                          </a:solidFill>
                          <a:effectLst/>
                          <a:latin typeface="+mn-lt"/>
                          <a:ea typeface="+mn-ea"/>
                          <a:cs typeface="+mn-cs"/>
                        </a:rPr>
                        <a:t>Created an interactive conversational interface specifically for Tamil Nadu services,.</a:t>
                      </a:r>
                    </a:p>
                    <a:p>
                      <a:r>
                        <a:rPr lang="en-US" sz="1000" b="0" i="0" kern="1200" dirty="0">
                          <a:solidFill>
                            <a:schemeClr val="tx1"/>
                          </a:solidFill>
                          <a:effectLst/>
                          <a:latin typeface="+mn-lt"/>
                          <a:ea typeface="+mn-ea"/>
                          <a:cs typeface="+mn-cs"/>
                        </a:rPr>
                        <a:t>Features secure authentication and personalized advice based on user demographics</a:t>
                      </a:r>
                    </a:p>
                  </a:txBody>
                  <a:tcPr/>
                </a:tc>
                <a:tc>
                  <a:txBody>
                    <a:bodyPr/>
                    <a:lstStyle/>
                    <a:p>
                      <a:pPr algn="l"/>
                      <a:r>
                        <a:rPr lang="en-US" sz="1000" b="0" i="0" kern="1200" dirty="0">
                          <a:solidFill>
                            <a:schemeClr val="tx1"/>
                          </a:solidFill>
                          <a:effectLst/>
                          <a:latin typeface="+mn-lt"/>
                          <a:ea typeface="+mn-ea"/>
                          <a:cs typeface="+mn-cs"/>
                        </a:rPr>
                        <a:t>High dependency on training data quality; struggles with multi-step complex queries</a:t>
                      </a:r>
                      <a:endParaRPr lang="en-US" sz="1000" dirty="0"/>
                    </a:p>
                  </a:txBody>
                  <a:tcPr/>
                </a:tc>
                <a:extLst>
                  <a:ext uri="{0D108BD9-81ED-4DB2-BD59-A6C34878D82A}">
                    <a16:rowId xmlns:a16="http://schemas.microsoft.com/office/drawing/2014/main" val="3651740429"/>
                  </a:ext>
                </a:extLst>
              </a:tr>
            </a:tbl>
          </a:graphicData>
        </a:graphic>
      </p:graphicFrame>
      <p:sp>
        <p:nvSpPr>
          <p:cNvPr id="5"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11</a:t>
            </a:r>
            <a:endParaRPr dirty="0"/>
          </a:p>
        </p:txBody>
      </p:sp>
    </p:spTree>
    <p:extLst>
      <p:ext uri="{BB962C8B-B14F-4D97-AF65-F5344CB8AC3E}">
        <p14:creationId xmlns:p14="http://schemas.microsoft.com/office/powerpoint/2010/main" val="143660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37187"/>
            <a:ext cx="8072249" cy="558770"/>
          </a:xfrm>
        </p:spPr>
        <p:txBody>
          <a:bodyPr>
            <a:normAutofit/>
          </a:bodyPr>
          <a:lstStyle/>
          <a:p>
            <a:r>
              <a:rPr lang="en-US" sz="2800" dirty="0"/>
              <a:t>Literature Survey - Comparison Chart</a:t>
            </a:r>
          </a:p>
        </p:txBody>
      </p:sp>
      <p:graphicFrame>
        <p:nvGraphicFramePr>
          <p:cNvPr id="4" name="Table 3">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400479262"/>
              </p:ext>
            </p:extLst>
          </p:nvPr>
        </p:nvGraphicFramePr>
        <p:xfrm>
          <a:off x="1451580" y="2055459"/>
          <a:ext cx="9649039" cy="2896369"/>
        </p:xfrm>
        <a:graphic>
          <a:graphicData uri="http://schemas.openxmlformats.org/drawingml/2006/table">
            <a:tbl>
              <a:tblPr firstRow="1" bandRow="1"/>
              <a:tblGrid>
                <a:gridCol w="523781">
                  <a:extLst>
                    <a:ext uri="{9D8B030D-6E8A-4147-A177-3AD203B41FA5}">
                      <a16:colId xmlns:a16="http://schemas.microsoft.com/office/drawing/2014/main" val="299110558"/>
                    </a:ext>
                  </a:extLst>
                </a:gridCol>
                <a:gridCol w="2767799">
                  <a:extLst>
                    <a:ext uri="{9D8B030D-6E8A-4147-A177-3AD203B41FA5}">
                      <a16:colId xmlns:a16="http://schemas.microsoft.com/office/drawing/2014/main" val="2371221148"/>
                    </a:ext>
                  </a:extLst>
                </a:gridCol>
                <a:gridCol w="1441593">
                  <a:extLst>
                    <a:ext uri="{9D8B030D-6E8A-4147-A177-3AD203B41FA5}">
                      <a16:colId xmlns:a16="http://schemas.microsoft.com/office/drawing/2014/main" val="1195321742"/>
                    </a:ext>
                  </a:extLst>
                </a:gridCol>
                <a:gridCol w="1781360">
                  <a:extLst>
                    <a:ext uri="{9D8B030D-6E8A-4147-A177-3AD203B41FA5}">
                      <a16:colId xmlns:a16="http://schemas.microsoft.com/office/drawing/2014/main" val="3583637318"/>
                    </a:ext>
                  </a:extLst>
                </a:gridCol>
                <a:gridCol w="1693040">
                  <a:extLst>
                    <a:ext uri="{9D8B030D-6E8A-4147-A177-3AD203B41FA5}">
                      <a16:colId xmlns:a16="http://schemas.microsoft.com/office/drawing/2014/main" val="211691514"/>
                    </a:ext>
                  </a:extLst>
                </a:gridCol>
                <a:gridCol w="1441466">
                  <a:extLst>
                    <a:ext uri="{9D8B030D-6E8A-4147-A177-3AD203B41FA5}">
                      <a16:colId xmlns:a16="http://schemas.microsoft.com/office/drawing/2014/main" val="1125257413"/>
                    </a:ext>
                  </a:extLst>
                </a:gridCol>
              </a:tblGrid>
              <a:tr h="294586">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2601783">
                <a:tc>
                  <a:txBody>
                    <a:bodyPr/>
                    <a:lstStyle/>
                    <a:p>
                      <a:pPr algn="l"/>
                      <a:r>
                        <a:rPr lang="en-US" sz="1200" dirty="0"/>
                        <a:t>[5]</a:t>
                      </a:r>
                    </a:p>
                  </a:txBody>
                  <a:tcPr/>
                </a:tc>
                <a:tc>
                  <a:txBody>
                    <a:bodyPr/>
                    <a:lstStyle/>
                    <a:p>
                      <a:pPr algn="l"/>
                      <a:r>
                        <a:rPr lang="fi-FI" sz="1000" b="0" i="0" kern="1200" dirty="0">
                          <a:solidFill>
                            <a:schemeClr val="tx1"/>
                          </a:solidFill>
                          <a:effectLst/>
                          <a:latin typeface="+mn-lt"/>
                          <a:ea typeface="+mn-ea"/>
                          <a:cs typeface="+mn-cs"/>
                        </a:rPr>
                        <a:t>Kalaiselvi, G., Monisha, N., Kasthuri, T. &amp; Devadharshini, P. (2024)</a:t>
                      </a:r>
                      <a:endParaRPr lang="en-US" sz="1000" dirty="0"/>
                    </a:p>
                  </a:txBody>
                  <a:tcPr/>
                </a:tc>
                <a:tc>
                  <a:txBody>
                    <a:bodyPr/>
                    <a:lstStyle/>
                    <a:p>
                      <a:pPr algn="l"/>
                      <a:r>
                        <a:rPr lang="en-US" sz="1000" b="0" i="0" kern="1200" dirty="0">
                          <a:solidFill>
                            <a:schemeClr val="tx1"/>
                          </a:solidFill>
                          <a:effectLst/>
                          <a:latin typeface="+mn-lt"/>
                          <a:ea typeface="+mn-ea"/>
                          <a:cs typeface="+mn-cs"/>
                        </a:rPr>
                        <a:t>CitizenConnectBot(CCB): The interactive guide to government schemes</a:t>
                      </a:r>
                      <a:endParaRPr lang="en-US" sz="1000" dirty="0"/>
                    </a:p>
                  </a:txBody>
                  <a:tcPr/>
                </a:tc>
                <a:tc>
                  <a:txBody>
                    <a:bodyPr/>
                    <a:lstStyle/>
                    <a:p>
                      <a:pPr lvl="0" algn="l"/>
                      <a:r>
                        <a:rPr lang="en-US" sz="1000" b="0" i="0" kern="1200" dirty="0">
                          <a:solidFill>
                            <a:schemeClr val="tx1"/>
                          </a:solidFill>
                          <a:effectLst/>
                          <a:latin typeface="+mn-lt"/>
                          <a:ea typeface="+mn-ea"/>
                          <a:cs typeface="+mn-cs"/>
                        </a:rPr>
                        <a:t>Employs </a:t>
                      </a:r>
                      <a:r>
                        <a:rPr lang="en-US" sz="1000" b="1" i="0" kern="1200" dirty="0">
                          <a:solidFill>
                            <a:schemeClr val="tx1"/>
                          </a:solidFill>
                          <a:effectLst/>
                          <a:latin typeface="+mn-lt"/>
                          <a:ea typeface="+mn-ea"/>
                          <a:cs typeface="+mn-cs"/>
                        </a:rPr>
                        <a:t>Support Vector</a:t>
                      </a:r>
                      <a:r>
                        <a:rPr lang="en-US" sz="1000" b="1" i="0" kern="1200" baseline="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Machines (SVM)</a:t>
                      </a:r>
                      <a:r>
                        <a:rPr lang="en-US" sz="1000" b="0" i="0" kern="1200" dirty="0">
                          <a:solidFill>
                            <a:schemeClr val="tx1"/>
                          </a:solidFill>
                          <a:effectLst/>
                          <a:latin typeface="+mn-lt"/>
                          <a:ea typeface="+mn-ea"/>
                          <a:cs typeface="+mn-cs"/>
                        </a:rPr>
                        <a:t> for query classification and </a:t>
                      </a:r>
                      <a:r>
                        <a:rPr lang="en-US" sz="1000" b="1" i="0" kern="1200" dirty="0">
                          <a:solidFill>
                            <a:schemeClr val="tx1"/>
                          </a:solidFill>
                          <a:effectLst/>
                          <a:latin typeface="+mn-lt"/>
                          <a:ea typeface="+mn-ea"/>
                          <a:cs typeface="+mn-cs"/>
                        </a:rPr>
                        <a:t>TF-IDF</a:t>
                      </a:r>
                      <a:r>
                        <a:rPr lang="en-US" sz="1000" b="0" i="0" kern="1200" dirty="0">
                          <a:solidFill>
                            <a:schemeClr val="tx1"/>
                          </a:solidFill>
                          <a:effectLst/>
                          <a:latin typeface="+mn-lt"/>
                          <a:ea typeface="+mn-ea"/>
                          <a:cs typeface="+mn-cs"/>
                        </a:rPr>
                        <a:t> for feature extraction,.</a:t>
                      </a:r>
                    </a:p>
                    <a:p>
                      <a:pPr lvl="0" algn="l"/>
                      <a:r>
                        <a:rPr lang="en-US" sz="1000" b="0" i="0" kern="1200" dirty="0">
                          <a:solidFill>
                            <a:schemeClr val="tx1"/>
                          </a:solidFill>
                          <a:effectLst/>
                          <a:latin typeface="+mn-lt"/>
                          <a:ea typeface="+mn-ea"/>
                          <a:cs typeface="+mn-cs"/>
                        </a:rPr>
                        <a:t>Uses </a:t>
                      </a:r>
                      <a:r>
                        <a:rPr lang="en-US" sz="1000" b="1" i="0" kern="1200" dirty="0">
                          <a:solidFill>
                            <a:schemeClr val="tx1"/>
                          </a:solidFill>
                          <a:effectLst/>
                          <a:latin typeface="+mn-lt"/>
                          <a:ea typeface="+mn-ea"/>
                          <a:cs typeface="+mn-cs"/>
                        </a:rPr>
                        <a:t>session</a:t>
                      </a:r>
                      <a:r>
                        <a:rPr lang="en-US" sz="1000" b="1" i="0" kern="1200" baseline="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management</a:t>
                      </a:r>
                      <a:r>
                        <a:rPr lang="en-US" sz="1000" b="0" i="0" kern="1200" dirty="0">
                          <a:solidFill>
                            <a:schemeClr val="tx1"/>
                          </a:solidFill>
                          <a:effectLst/>
                          <a:latin typeface="+mn-lt"/>
                          <a:ea typeface="+mn-ea"/>
                          <a:cs typeface="+mn-cs"/>
                        </a:rPr>
                        <a:t> to maintain conversation context,</a:t>
                      </a:r>
                    </a:p>
                  </a:txBody>
                  <a:tcPr/>
                </a:tc>
                <a:tc>
                  <a:txBody>
                    <a:bodyPr/>
                    <a:lstStyle/>
                    <a:p>
                      <a:r>
                        <a:rPr lang="en-US" sz="1000" b="0" i="0" kern="1200" dirty="0">
                          <a:solidFill>
                            <a:schemeClr val="tx1"/>
                          </a:solidFill>
                          <a:effectLst/>
                          <a:latin typeface="+mn-lt"/>
                          <a:ea typeface="+mn-ea"/>
                          <a:cs typeface="+mn-cs"/>
                        </a:rPr>
                        <a:t>Provides a </a:t>
                      </a:r>
                      <a:r>
                        <a:rPr lang="en-US" sz="1000" b="1" i="0" kern="1200" dirty="0">
                          <a:solidFill>
                            <a:schemeClr val="tx1"/>
                          </a:solidFill>
                          <a:effectLst/>
                          <a:latin typeface="+mn-lt"/>
                          <a:ea typeface="+mn-ea"/>
                          <a:cs typeface="+mn-cs"/>
                        </a:rPr>
                        <a:t>bilingual (English/Tamil) interface</a:t>
                      </a:r>
                      <a:r>
                        <a:rPr lang="en-US" sz="1000" b="0" i="0" kern="1200" dirty="0">
                          <a:solidFill>
                            <a:schemeClr val="tx1"/>
                          </a:solidFill>
                          <a:effectLst/>
                          <a:latin typeface="+mn-lt"/>
                          <a:ea typeface="+mn-ea"/>
                          <a:cs typeface="+mn-cs"/>
                        </a:rPr>
                        <a:t> with search-by-name and eligibility check functionality,.</a:t>
                      </a:r>
                    </a:p>
                    <a:p>
                      <a:r>
                        <a:rPr lang="en-US" sz="1000" b="0" i="0" kern="1200" dirty="0">
                          <a:solidFill>
                            <a:schemeClr val="tx1"/>
                          </a:solidFill>
                          <a:effectLst/>
                          <a:latin typeface="+mn-lt"/>
                          <a:ea typeface="+mn-ea"/>
                          <a:cs typeface="+mn-cs"/>
                        </a:rPr>
                        <a:t>Demonstrated robust capabilities in responding to diverse inquiries regarding Tamil Nadu schemes</a:t>
                      </a:r>
                    </a:p>
                    <a:p>
                      <a:br>
                        <a:rPr lang="en-US" sz="1000" dirty="0"/>
                      </a:br>
                      <a:br>
                        <a:rPr lang="en-US" sz="1000" dirty="0"/>
                      </a:b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tx1"/>
                          </a:solidFill>
                          <a:effectLst/>
                          <a:latin typeface="+mn-lt"/>
                          <a:ea typeface="+mn-ea"/>
                          <a:cs typeface="+mn-cs"/>
                        </a:rPr>
                        <a:t>Needs better handling of complex/ambiguous queries and real-time external data integration</a:t>
                      </a:r>
                      <a:endParaRPr lang="en-US" sz="1000" dirty="0"/>
                    </a:p>
                  </a:txBody>
                  <a:tcPr/>
                </a:tc>
                <a:extLst>
                  <a:ext uri="{0D108BD9-81ED-4DB2-BD59-A6C34878D82A}">
                    <a16:rowId xmlns:a16="http://schemas.microsoft.com/office/drawing/2014/main" val="3651740429"/>
                  </a:ext>
                </a:extLst>
              </a:tr>
            </a:tbl>
          </a:graphicData>
        </a:graphic>
      </p:graphicFrame>
      <p:sp>
        <p:nvSpPr>
          <p:cNvPr id="6"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12</a:t>
            </a:r>
          </a:p>
        </p:txBody>
      </p:sp>
    </p:spTree>
    <p:extLst>
      <p:ext uri="{BB962C8B-B14F-4D97-AF65-F5344CB8AC3E}">
        <p14:creationId xmlns:p14="http://schemas.microsoft.com/office/powerpoint/2010/main" val="995210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47750"/>
            <a:ext cx="8030046" cy="634139"/>
          </a:xfrm>
        </p:spPr>
        <p:txBody>
          <a:bodyPr>
            <a:normAutofit/>
          </a:bodyPr>
          <a:lstStyle/>
          <a:p>
            <a:r>
              <a:rPr lang="en-US" sz="2800" dirty="0"/>
              <a:t>Literature Survey - Comparison Chart</a:t>
            </a:r>
          </a:p>
        </p:txBody>
      </p:sp>
      <p:graphicFrame>
        <p:nvGraphicFramePr>
          <p:cNvPr id="4" name="Table 3">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1363572349"/>
              </p:ext>
            </p:extLst>
          </p:nvPr>
        </p:nvGraphicFramePr>
        <p:xfrm>
          <a:off x="1451579" y="2013255"/>
          <a:ext cx="9639208" cy="3901795"/>
        </p:xfrm>
        <a:graphic>
          <a:graphicData uri="http://schemas.openxmlformats.org/drawingml/2006/table">
            <a:tbl>
              <a:tblPr firstRow="1" bandRow="1"/>
              <a:tblGrid>
                <a:gridCol w="523248">
                  <a:extLst>
                    <a:ext uri="{9D8B030D-6E8A-4147-A177-3AD203B41FA5}">
                      <a16:colId xmlns:a16="http://schemas.microsoft.com/office/drawing/2014/main" val="299110558"/>
                    </a:ext>
                  </a:extLst>
                </a:gridCol>
                <a:gridCol w="2764978">
                  <a:extLst>
                    <a:ext uri="{9D8B030D-6E8A-4147-A177-3AD203B41FA5}">
                      <a16:colId xmlns:a16="http://schemas.microsoft.com/office/drawing/2014/main" val="2371221148"/>
                    </a:ext>
                  </a:extLst>
                </a:gridCol>
                <a:gridCol w="1440125">
                  <a:extLst>
                    <a:ext uri="{9D8B030D-6E8A-4147-A177-3AD203B41FA5}">
                      <a16:colId xmlns:a16="http://schemas.microsoft.com/office/drawing/2014/main" val="1195321742"/>
                    </a:ext>
                  </a:extLst>
                </a:gridCol>
                <a:gridCol w="1779545">
                  <a:extLst>
                    <a:ext uri="{9D8B030D-6E8A-4147-A177-3AD203B41FA5}">
                      <a16:colId xmlns:a16="http://schemas.microsoft.com/office/drawing/2014/main" val="3583637318"/>
                    </a:ext>
                  </a:extLst>
                </a:gridCol>
                <a:gridCol w="1691315">
                  <a:extLst>
                    <a:ext uri="{9D8B030D-6E8A-4147-A177-3AD203B41FA5}">
                      <a16:colId xmlns:a16="http://schemas.microsoft.com/office/drawing/2014/main" val="211691514"/>
                    </a:ext>
                  </a:extLst>
                </a:gridCol>
                <a:gridCol w="1439997">
                  <a:extLst>
                    <a:ext uri="{9D8B030D-6E8A-4147-A177-3AD203B41FA5}">
                      <a16:colId xmlns:a16="http://schemas.microsoft.com/office/drawing/2014/main" val="1125257413"/>
                    </a:ext>
                  </a:extLst>
                </a:gridCol>
              </a:tblGrid>
              <a:tr h="305155">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360845">
                <a:tc>
                  <a:txBody>
                    <a:bodyPr/>
                    <a:lstStyle/>
                    <a:p>
                      <a:pPr algn="l"/>
                      <a:r>
                        <a:rPr lang="en-US" sz="1200" dirty="0"/>
                        <a:t>[6]</a:t>
                      </a:r>
                    </a:p>
                  </a:txBody>
                  <a:tcPr/>
                </a:tc>
                <a:tc>
                  <a:txBody>
                    <a:bodyPr/>
                    <a:lstStyle/>
                    <a:p>
                      <a:pPr algn="l"/>
                      <a:r>
                        <a:rPr lang="en-US" sz="1000" b="0" i="0" kern="1200" dirty="0" err="1">
                          <a:solidFill>
                            <a:schemeClr val="tx1"/>
                          </a:solidFill>
                          <a:effectLst/>
                          <a:latin typeface="+mn-lt"/>
                          <a:ea typeface="+mn-ea"/>
                          <a:cs typeface="+mn-cs"/>
                        </a:rPr>
                        <a:t>Naresh</a:t>
                      </a:r>
                      <a:r>
                        <a:rPr lang="en-US" sz="1000" b="0" i="0" kern="1200" dirty="0">
                          <a:solidFill>
                            <a:schemeClr val="tx1"/>
                          </a:solidFill>
                          <a:effectLst/>
                          <a:latin typeface="+mn-lt"/>
                          <a:ea typeface="+mn-ea"/>
                          <a:cs typeface="+mn-cs"/>
                        </a:rPr>
                        <a:t>, S.R., </a:t>
                      </a:r>
                      <a:r>
                        <a:rPr lang="en-US" sz="1000" b="0" i="0" kern="1200" dirty="0" err="1">
                          <a:solidFill>
                            <a:schemeClr val="tx1"/>
                          </a:solidFill>
                          <a:effectLst/>
                          <a:latin typeface="+mn-lt"/>
                          <a:ea typeface="+mn-ea"/>
                          <a:cs typeface="+mn-cs"/>
                        </a:rPr>
                        <a:t>Gopika</a:t>
                      </a:r>
                      <a:r>
                        <a:rPr lang="en-US" sz="1000" b="0" i="0" kern="1200" dirty="0">
                          <a:solidFill>
                            <a:schemeClr val="tx1"/>
                          </a:solidFill>
                          <a:effectLst/>
                          <a:latin typeface="+mn-lt"/>
                          <a:ea typeface="+mn-ea"/>
                          <a:cs typeface="+mn-cs"/>
                        </a:rPr>
                        <a:t>, M., </a:t>
                      </a:r>
                      <a:r>
                        <a:rPr lang="en-US" sz="1000" b="0" i="0" kern="1200" dirty="0" err="1">
                          <a:solidFill>
                            <a:schemeClr val="tx1"/>
                          </a:solidFill>
                          <a:effectLst/>
                          <a:latin typeface="+mn-lt"/>
                          <a:ea typeface="+mn-ea"/>
                          <a:cs typeface="+mn-cs"/>
                        </a:rPr>
                        <a:t>Haryni</a:t>
                      </a:r>
                      <a:r>
                        <a:rPr lang="en-US" sz="1000" b="0" i="0" kern="1200" dirty="0">
                          <a:solidFill>
                            <a:schemeClr val="tx1"/>
                          </a:solidFill>
                          <a:effectLst/>
                          <a:latin typeface="+mn-lt"/>
                          <a:ea typeface="+mn-ea"/>
                          <a:cs typeface="+mn-cs"/>
                        </a:rPr>
                        <a:t>, M., Janet </a:t>
                      </a:r>
                      <a:r>
                        <a:rPr lang="en-US" sz="1000" b="0" i="0" kern="1200" dirty="0" err="1">
                          <a:solidFill>
                            <a:schemeClr val="tx1"/>
                          </a:solidFill>
                          <a:effectLst/>
                          <a:latin typeface="+mn-lt"/>
                          <a:ea typeface="+mn-ea"/>
                          <a:cs typeface="+mn-cs"/>
                        </a:rPr>
                        <a:t>Rajakiruba</a:t>
                      </a:r>
                      <a:r>
                        <a:rPr lang="en-US" sz="1000" b="0" i="0" kern="1200" dirty="0">
                          <a:solidFill>
                            <a:schemeClr val="tx1"/>
                          </a:solidFill>
                          <a:effectLst/>
                          <a:latin typeface="+mn-lt"/>
                          <a:ea typeface="+mn-ea"/>
                          <a:cs typeface="+mn-cs"/>
                        </a:rPr>
                        <a:t>, R. &amp; </a:t>
                      </a:r>
                      <a:r>
                        <a:rPr lang="en-US" sz="1000" b="0" i="0" kern="1200" dirty="0" err="1">
                          <a:solidFill>
                            <a:schemeClr val="tx1"/>
                          </a:solidFill>
                          <a:effectLst/>
                          <a:latin typeface="+mn-lt"/>
                          <a:ea typeface="+mn-ea"/>
                          <a:cs typeface="+mn-cs"/>
                        </a:rPr>
                        <a:t>Anushaa</a:t>
                      </a:r>
                      <a:r>
                        <a:rPr lang="en-US" sz="1000" b="0" i="0" kern="1200" dirty="0">
                          <a:solidFill>
                            <a:schemeClr val="tx1"/>
                          </a:solidFill>
                          <a:effectLst/>
                          <a:latin typeface="+mn-lt"/>
                          <a:ea typeface="+mn-ea"/>
                          <a:cs typeface="+mn-cs"/>
                        </a:rPr>
                        <a:t> Uma Lakshmi, S. (2025)</a:t>
                      </a:r>
                      <a:endParaRPr lang="en-US" sz="1000" dirty="0"/>
                    </a:p>
                  </a:txBody>
                  <a:tcPr/>
                </a:tc>
                <a:tc>
                  <a:txBody>
                    <a:bodyPr/>
                    <a:lstStyle/>
                    <a:p>
                      <a:r>
                        <a:rPr lang="en-US" sz="1000" b="0" i="0" kern="1200" dirty="0">
                          <a:solidFill>
                            <a:schemeClr val="tx1"/>
                          </a:solidFill>
                          <a:effectLst/>
                          <a:latin typeface="+mn-lt"/>
                          <a:ea typeface="+mn-ea"/>
                          <a:cs typeface="+mn-cs"/>
                        </a:rPr>
                        <a:t>Bridging Government Schemes with Citizens for Inclusive Governance</a:t>
                      </a:r>
                      <a:endParaRPr lang="en-US" sz="1000" dirty="0"/>
                    </a:p>
                  </a:txBody>
                  <a:tcPr/>
                </a:tc>
                <a:tc>
                  <a:txBody>
                    <a:bodyPr/>
                    <a:lstStyle/>
                    <a:p>
                      <a:r>
                        <a:rPr lang="en-US" sz="1000" b="0" i="0" kern="1200" dirty="0">
                          <a:solidFill>
                            <a:schemeClr val="tx1"/>
                          </a:solidFill>
                          <a:effectLst/>
                          <a:latin typeface="+mn-lt"/>
                          <a:ea typeface="+mn-ea"/>
                          <a:cs typeface="+mn-cs"/>
                        </a:rPr>
                        <a:t>A five-stage workflow involving </a:t>
                      </a:r>
                      <a:r>
                        <a:rPr lang="en-US" sz="1000" b="1" i="0" kern="1200" dirty="0">
                          <a:solidFill>
                            <a:schemeClr val="tx1"/>
                          </a:solidFill>
                          <a:effectLst/>
                          <a:latin typeface="+mn-lt"/>
                          <a:ea typeface="+mn-ea"/>
                          <a:cs typeface="+mn-cs"/>
                        </a:rPr>
                        <a:t>Preprocessing</a:t>
                      </a:r>
                      <a:r>
                        <a:rPr lang="en-US" sz="1000" b="0" i="0" kern="1200" dirty="0">
                          <a:solidFill>
                            <a:schemeClr val="tx1"/>
                          </a:solidFill>
                          <a:effectLst/>
                          <a:latin typeface="+mn-lt"/>
                          <a:ea typeface="+mn-ea"/>
                          <a:cs typeface="+mn-cs"/>
                        </a:rPr>
                        <a:t>, </a:t>
                      </a:r>
                      <a:r>
                        <a:rPr lang="en-US" sz="1000" b="1" i="0" kern="1200" dirty="0">
                          <a:solidFill>
                            <a:schemeClr val="tx1"/>
                          </a:solidFill>
                          <a:effectLst/>
                          <a:latin typeface="+mn-lt"/>
                          <a:ea typeface="+mn-ea"/>
                          <a:cs typeface="+mn-cs"/>
                        </a:rPr>
                        <a:t>Rule-based Eligibility Assessment</a:t>
                      </a:r>
                      <a:r>
                        <a:rPr lang="en-US" sz="1000" b="0" i="0" kern="1200" dirty="0">
                          <a:solidFill>
                            <a:schemeClr val="tx1"/>
                          </a:solidFill>
                          <a:effectLst/>
                          <a:latin typeface="+mn-lt"/>
                          <a:ea typeface="+mn-ea"/>
                          <a:cs typeface="+mn-cs"/>
                        </a:rPr>
                        <a:t>, and </a:t>
                      </a:r>
                      <a:r>
                        <a:rPr lang="en-US" sz="1000" b="1" i="0" kern="1200" dirty="0">
                          <a:solidFill>
                            <a:schemeClr val="tx1"/>
                          </a:solidFill>
                          <a:effectLst/>
                          <a:latin typeface="+mn-lt"/>
                          <a:ea typeface="+mn-ea"/>
                          <a:cs typeface="+mn-cs"/>
                        </a:rPr>
                        <a:t>Adaptive Matching</a:t>
                      </a:r>
                      <a:r>
                        <a:rPr lang="en-US" sz="1000" b="0" i="0" kern="1200" dirty="0">
                          <a:solidFill>
                            <a:schemeClr val="tx1"/>
                          </a:solidFill>
                          <a:effectLst/>
                          <a:latin typeface="+mn-lt"/>
                          <a:ea typeface="+mn-ea"/>
                          <a:cs typeface="+mn-cs"/>
                        </a:rPr>
                        <a:t>,.</a:t>
                      </a:r>
                    </a:p>
                    <a:p>
                      <a:r>
                        <a:rPr lang="en-US" sz="1000" b="0" i="0" kern="1200" dirty="0">
                          <a:solidFill>
                            <a:schemeClr val="tx1"/>
                          </a:solidFill>
                          <a:effectLst/>
                          <a:latin typeface="+mn-lt"/>
                          <a:ea typeface="+mn-ea"/>
                          <a:cs typeface="+mn-cs"/>
                        </a:rPr>
                        <a:t>Uses a mapping process to compare socio-economic data against scheme repositories</a:t>
                      </a:r>
                    </a:p>
                    <a:p>
                      <a:br>
                        <a:rPr lang="en-US" sz="1000" dirty="0"/>
                      </a:br>
                      <a:r>
                        <a:rPr lang="en-US" sz="1000" b="0" i="0" kern="1200" dirty="0">
                          <a:solidFill>
                            <a:schemeClr val="tx1"/>
                          </a:solidFill>
                          <a:effectLst/>
                          <a:latin typeface="+mn-lt"/>
                          <a:ea typeface="+mn-ea"/>
                          <a:cs typeface="+mn-cs"/>
                        </a:rPr>
                        <a:t>.</a:t>
                      </a:r>
                    </a:p>
                    <a:p>
                      <a:pPr algn="l"/>
                      <a:endParaRPr lang="en-US" sz="1200" dirty="0"/>
                    </a:p>
                  </a:txBody>
                  <a:tcPr/>
                </a:tc>
                <a:tc>
                  <a:txBody>
                    <a:bodyPr/>
                    <a:lstStyle/>
                    <a:p>
                      <a:r>
                        <a:rPr lang="en-US" sz="1000" b="0" i="0" kern="1200" dirty="0">
                          <a:solidFill>
                            <a:schemeClr val="tx1"/>
                          </a:solidFill>
                          <a:effectLst/>
                          <a:latin typeface="+mn-lt"/>
                          <a:ea typeface="+mn-ea"/>
                          <a:cs typeface="+mn-cs"/>
                        </a:rPr>
                        <a:t>Prototype showed a significant reduction in search time and high accuracy in scheme mapping,.</a:t>
                      </a:r>
                    </a:p>
                    <a:p>
                      <a:r>
                        <a:rPr lang="en-US" sz="1000" b="0" i="0" kern="1200" dirty="0">
                          <a:solidFill>
                            <a:schemeClr val="tx1"/>
                          </a:solidFill>
                          <a:effectLst/>
                          <a:latin typeface="+mn-lt"/>
                          <a:ea typeface="+mn-ea"/>
                          <a:cs typeface="+mn-cs"/>
                        </a:rPr>
                        <a:t>Simplifies access to welfare by automating the redirection to official application sites</a:t>
                      </a:r>
                    </a:p>
                  </a:txBody>
                  <a:tcPr/>
                </a:tc>
                <a:tc>
                  <a:txBody>
                    <a:bodyPr/>
                    <a:lstStyle/>
                    <a:p>
                      <a:pPr algn="l"/>
                      <a:r>
                        <a:rPr lang="en-US" sz="1000" b="0" i="0" kern="1200" dirty="0">
                          <a:solidFill>
                            <a:schemeClr val="tx1"/>
                          </a:solidFill>
                          <a:effectLst/>
                          <a:latin typeface="+mn-lt"/>
                          <a:ea typeface="+mn-ea"/>
                          <a:cs typeface="+mn-cs"/>
                        </a:rPr>
                        <a:t>Lacks </a:t>
                      </a:r>
                      <a:r>
                        <a:rPr lang="en-US" sz="1000" b="0" i="0" kern="1200" dirty="0" err="1">
                          <a:solidFill>
                            <a:schemeClr val="tx1"/>
                          </a:solidFill>
                          <a:effectLst/>
                          <a:latin typeface="+mn-lt"/>
                          <a:ea typeface="+mn-ea"/>
                          <a:cs typeface="+mn-cs"/>
                        </a:rPr>
                        <a:t>blockchain</a:t>
                      </a:r>
                      <a:r>
                        <a:rPr lang="en-US" sz="1000" b="0" i="0" kern="1200" dirty="0">
                          <a:solidFill>
                            <a:schemeClr val="tx1"/>
                          </a:solidFill>
                          <a:effectLst/>
                          <a:latin typeface="+mn-lt"/>
                          <a:ea typeface="+mn-ea"/>
                          <a:cs typeface="+mn-cs"/>
                        </a:rPr>
                        <a:t>-based verification and broader multilingual support</a:t>
                      </a:r>
                      <a:br>
                        <a:rPr lang="en-US" sz="1000" dirty="0"/>
                      </a:br>
                      <a:endParaRPr lang="en-US" sz="1000" dirty="0"/>
                    </a:p>
                  </a:txBody>
                  <a:tcPr/>
                </a:tc>
                <a:extLst>
                  <a:ext uri="{0D108BD9-81ED-4DB2-BD59-A6C34878D82A}">
                    <a16:rowId xmlns:a16="http://schemas.microsoft.com/office/drawing/2014/main" val="1311254684"/>
                  </a:ext>
                </a:extLst>
              </a:tr>
              <a:tr h="360845">
                <a:tc>
                  <a:txBody>
                    <a:bodyPr/>
                    <a:lstStyle/>
                    <a:p>
                      <a:pPr algn="l"/>
                      <a:r>
                        <a:rPr lang="en-US" sz="1200" dirty="0"/>
                        <a:t>[7]</a:t>
                      </a:r>
                    </a:p>
                  </a:txBody>
                  <a:tcPr/>
                </a:tc>
                <a:tc>
                  <a:txBody>
                    <a:bodyPr/>
                    <a:lstStyle/>
                    <a:p>
                      <a:pPr algn="l"/>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Sowndharya</a:t>
                      </a:r>
                      <a:r>
                        <a:rPr lang="en-US" sz="1000" b="0" i="0" kern="1200" dirty="0">
                          <a:solidFill>
                            <a:schemeClr val="tx1"/>
                          </a:solidFill>
                          <a:effectLst/>
                          <a:latin typeface="+mn-lt"/>
                          <a:ea typeface="+mn-ea"/>
                          <a:cs typeface="+mn-cs"/>
                        </a:rPr>
                        <a:t>, K., </a:t>
                      </a:r>
                      <a:r>
                        <a:rPr lang="en-US" sz="1000" b="0" i="0" kern="1200" dirty="0" err="1">
                          <a:solidFill>
                            <a:schemeClr val="tx1"/>
                          </a:solidFill>
                          <a:effectLst/>
                          <a:latin typeface="+mn-lt"/>
                          <a:ea typeface="+mn-ea"/>
                          <a:cs typeface="+mn-cs"/>
                        </a:rPr>
                        <a:t>Mukilan</a:t>
                      </a:r>
                      <a:r>
                        <a:rPr lang="en-US" sz="1000" b="0" i="0" kern="1200" dirty="0">
                          <a:solidFill>
                            <a:schemeClr val="tx1"/>
                          </a:solidFill>
                          <a:effectLst/>
                          <a:latin typeface="+mn-lt"/>
                          <a:ea typeface="+mn-ea"/>
                          <a:cs typeface="+mn-cs"/>
                        </a:rPr>
                        <a:t>, M., </a:t>
                      </a:r>
                      <a:r>
                        <a:rPr lang="en-US" sz="1000" b="0" i="0" kern="1200" dirty="0" err="1">
                          <a:solidFill>
                            <a:schemeClr val="tx1"/>
                          </a:solidFill>
                          <a:effectLst/>
                          <a:latin typeface="+mn-lt"/>
                          <a:ea typeface="+mn-ea"/>
                          <a:cs typeface="+mn-cs"/>
                        </a:rPr>
                        <a:t>Srinikethan</a:t>
                      </a:r>
                      <a:r>
                        <a:rPr lang="en-US" sz="1000" b="0" i="0" kern="1200" dirty="0">
                          <a:solidFill>
                            <a:schemeClr val="tx1"/>
                          </a:solidFill>
                          <a:effectLst/>
                          <a:latin typeface="+mn-lt"/>
                          <a:ea typeface="+mn-ea"/>
                          <a:cs typeface="+mn-cs"/>
                        </a:rPr>
                        <a:t>, S.M. &amp; Stephen, J. (2024)</a:t>
                      </a:r>
                      <a:endParaRPr lang="en-US" sz="1000" dirty="0"/>
                    </a:p>
                  </a:txBody>
                  <a:tcPr/>
                </a:tc>
                <a:tc>
                  <a:txBody>
                    <a:bodyPr/>
                    <a:lstStyle/>
                    <a:p>
                      <a:pPr algn="l"/>
                      <a:r>
                        <a:rPr lang="en-US" sz="1000" b="0" i="0" kern="1200" dirty="0">
                          <a:solidFill>
                            <a:schemeClr val="tx1"/>
                          </a:solidFill>
                          <a:effectLst/>
                          <a:latin typeface="+mn-lt"/>
                          <a:ea typeface="+mn-ea"/>
                          <a:cs typeface="+mn-cs"/>
                        </a:rPr>
                        <a:t>Government Scheme Navigator </a:t>
                      </a:r>
                      <a:r>
                        <a:rPr lang="en-US" sz="1000" b="0" i="0" kern="1200" dirty="0" err="1">
                          <a:solidFill>
                            <a:schemeClr val="tx1"/>
                          </a:solidFill>
                          <a:effectLst/>
                          <a:latin typeface="+mn-lt"/>
                          <a:ea typeface="+mn-ea"/>
                          <a:cs typeface="+mn-cs"/>
                        </a:rPr>
                        <a:t>Chatbot</a:t>
                      </a:r>
                      <a:endParaRPr lang="en-US" sz="1000" dirty="0"/>
                    </a:p>
                  </a:txBody>
                  <a:tcPr/>
                </a:tc>
                <a:tc>
                  <a:txBody>
                    <a:bodyPr/>
                    <a:lstStyle/>
                    <a:p>
                      <a:r>
                        <a:rPr lang="en-US" sz="1000" b="0" i="0" kern="1200" dirty="0">
                          <a:solidFill>
                            <a:schemeClr val="tx1"/>
                          </a:solidFill>
                          <a:effectLst/>
                          <a:latin typeface="+mn-lt"/>
                          <a:ea typeface="+mn-ea"/>
                          <a:cs typeface="+mn-cs"/>
                        </a:rPr>
                        <a:t>Uses </a:t>
                      </a:r>
                      <a:r>
                        <a:rPr lang="en-US" sz="1000" b="1" i="0" kern="1200" dirty="0">
                          <a:solidFill>
                            <a:schemeClr val="tx1"/>
                          </a:solidFill>
                          <a:effectLst/>
                          <a:latin typeface="+mn-lt"/>
                          <a:ea typeface="+mn-ea"/>
                          <a:cs typeface="+mn-cs"/>
                        </a:rPr>
                        <a:t>NLP and ML algorithms</a:t>
                      </a:r>
                      <a:r>
                        <a:rPr lang="en-US" sz="1000" b="0" i="0" kern="1200" dirty="0">
                          <a:solidFill>
                            <a:schemeClr val="tx1"/>
                          </a:solidFill>
                          <a:effectLst/>
                          <a:latin typeface="+mn-lt"/>
                          <a:ea typeface="+mn-ea"/>
                          <a:cs typeface="+mn-cs"/>
                        </a:rPr>
                        <a:t> to interpret queries with precision,.</a:t>
                      </a:r>
                    </a:p>
                    <a:p>
                      <a:r>
                        <a:rPr lang="en-US" sz="1000" b="0" i="0" kern="1200" dirty="0">
                          <a:solidFill>
                            <a:schemeClr val="tx1"/>
                          </a:solidFill>
                          <a:effectLst/>
                          <a:latin typeface="+mn-lt"/>
                          <a:ea typeface="+mn-ea"/>
                          <a:cs typeface="+mn-cs"/>
                        </a:rPr>
                        <a:t>Employs </a:t>
                      </a:r>
                      <a:r>
                        <a:rPr lang="en-US" sz="1000" b="1" i="0" kern="1200" dirty="0">
                          <a:solidFill>
                            <a:schemeClr val="tx1"/>
                          </a:solidFill>
                          <a:effectLst/>
                          <a:latin typeface="+mn-lt"/>
                          <a:ea typeface="+mn-ea"/>
                          <a:cs typeface="+mn-cs"/>
                        </a:rPr>
                        <a:t>"Pilgrim free" techniques</a:t>
                      </a:r>
                      <a:r>
                        <a:rPr lang="en-US" sz="1000" b="0" i="0" kern="1200" dirty="0">
                          <a:solidFill>
                            <a:schemeClr val="tx1"/>
                          </a:solidFill>
                          <a:effectLst/>
                          <a:latin typeface="+mn-lt"/>
                          <a:ea typeface="+mn-ea"/>
                          <a:cs typeface="+mn-cs"/>
                        </a:rPr>
                        <a:t> for demographic insights and scheme categorization</a:t>
                      </a:r>
                    </a:p>
                    <a:p>
                      <a:br>
                        <a:rPr lang="en-US" sz="1000" dirty="0"/>
                      </a:br>
                      <a:br>
                        <a:rPr lang="en-US" sz="1000" dirty="0"/>
                      </a:br>
                      <a:endParaRPr lang="en-US" sz="1800" dirty="0"/>
                    </a:p>
                  </a:txBody>
                  <a:tcPr/>
                </a:tc>
                <a:tc>
                  <a:txBody>
                    <a:bodyPr/>
                    <a:lstStyle/>
                    <a:p>
                      <a:r>
                        <a:rPr lang="en-US" sz="1000" b="0" i="0" kern="1200" dirty="0">
                          <a:solidFill>
                            <a:schemeClr val="tx1"/>
                          </a:solidFill>
                          <a:effectLst/>
                          <a:latin typeface="+mn-lt"/>
                          <a:ea typeface="+mn-ea"/>
                          <a:cs typeface="+mn-cs"/>
                        </a:rPr>
                        <a:t>Guides citizens through complex programs (health, education) using tailored responses and voice/text commands,.</a:t>
                      </a:r>
                    </a:p>
                    <a:p>
                      <a:r>
                        <a:rPr lang="en-US" sz="1000" b="0" i="0" kern="1200" dirty="0">
                          <a:solidFill>
                            <a:schemeClr val="tx1"/>
                          </a:solidFill>
                          <a:effectLst/>
                          <a:latin typeface="+mn-lt"/>
                          <a:ea typeface="+mn-ea"/>
                          <a:cs typeface="+mn-cs"/>
                        </a:rPr>
                        <a:t>Successfully created a user-friendly interface that prioritizes accessibility for non-technical users.</a:t>
                      </a:r>
                    </a:p>
                    <a:p>
                      <a:br>
                        <a:rPr lang="en-US" sz="1000" dirty="0"/>
                      </a:b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tx1"/>
                          </a:solidFill>
                          <a:effectLst/>
                          <a:latin typeface="+mn-lt"/>
                          <a:ea typeface="+mn-ea"/>
                          <a:cs typeface="+mn-cs"/>
                        </a:rPr>
                        <a:t>Requires constant manual updates to maintain the scheme database's relevance.</a:t>
                      </a:r>
                    </a:p>
                    <a:p>
                      <a:br>
                        <a:rPr lang="en-US" sz="1000" dirty="0"/>
                      </a:br>
                      <a:endParaRPr lang="en-US" sz="1200" dirty="0"/>
                    </a:p>
                  </a:txBody>
                  <a:tcPr/>
                </a:tc>
                <a:extLst>
                  <a:ext uri="{0D108BD9-81ED-4DB2-BD59-A6C34878D82A}">
                    <a16:rowId xmlns:a16="http://schemas.microsoft.com/office/drawing/2014/main" val="3651740429"/>
                  </a:ext>
                </a:extLst>
              </a:tr>
            </a:tbl>
          </a:graphicData>
        </a:graphic>
      </p:graphicFrame>
      <p:sp>
        <p:nvSpPr>
          <p:cNvPr id="5"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13</a:t>
            </a:r>
            <a:endParaRPr dirty="0"/>
          </a:p>
        </p:txBody>
      </p:sp>
    </p:spTree>
    <p:extLst>
      <p:ext uri="{BB962C8B-B14F-4D97-AF65-F5344CB8AC3E}">
        <p14:creationId xmlns:p14="http://schemas.microsoft.com/office/powerpoint/2010/main" val="124308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29032"/>
            <a:ext cx="7481406" cy="617887"/>
          </a:xfrm>
        </p:spPr>
        <p:txBody>
          <a:bodyPr>
            <a:normAutofit/>
          </a:bodyPr>
          <a:lstStyle/>
          <a:p>
            <a:r>
              <a:rPr lang="en-US" sz="2800" dirty="0"/>
              <a:t>Literature Survey - Comparison Chart</a:t>
            </a:r>
          </a:p>
        </p:txBody>
      </p:sp>
      <p:graphicFrame>
        <p:nvGraphicFramePr>
          <p:cNvPr id="4" name="Table 3">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2196548218"/>
              </p:ext>
            </p:extLst>
          </p:nvPr>
        </p:nvGraphicFramePr>
        <p:xfrm>
          <a:off x="1451579" y="2013255"/>
          <a:ext cx="9619545" cy="3688435"/>
        </p:xfrm>
        <a:graphic>
          <a:graphicData uri="http://schemas.openxmlformats.org/drawingml/2006/table">
            <a:tbl>
              <a:tblPr firstRow="1" bandRow="1"/>
              <a:tblGrid>
                <a:gridCol w="522181">
                  <a:extLst>
                    <a:ext uri="{9D8B030D-6E8A-4147-A177-3AD203B41FA5}">
                      <a16:colId xmlns:a16="http://schemas.microsoft.com/office/drawing/2014/main" val="299110558"/>
                    </a:ext>
                  </a:extLst>
                </a:gridCol>
                <a:gridCol w="2759338">
                  <a:extLst>
                    <a:ext uri="{9D8B030D-6E8A-4147-A177-3AD203B41FA5}">
                      <a16:colId xmlns:a16="http://schemas.microsoft.com/office/drawing/2014/main" val="2371221148"/>
                    </a:ext>
                  </a:extLst>
                </a:gridCol>
                <a:gridCol w="1437187">
                  <a:extLst>
                    <a:ext uri="{9D8B030D-6E8A-4147-A177-3AD203B41FA5}">
                      <a16:colId xmlns:a16="http://schemas.microsoft.com/office/drawing/2014/main" val="1195321742"/>
                    </a:ext>
                  </a:extLst>
                </a:gridCol>
                <a:gridCol w="1775915">
                  <a:extLst>
                    <a:ext uri="{9D8B030D-6E8A-4147-A177-3AD203B41FA5}">
                      <a16:colId xmlns:a16="http://schemas.microsoft.com/office/drawing/2014/main" val="3583637318"/>
                    </a:ext>
                  </a:extLst>
                </a:gridCol>
                <a:gridCol w="1687865">
                  <a:extLst>
                    <a:ext uri="{9D8B030D-6E8A-4147-A177-3AD203B41FA5}">
                      <a16:colId xmlns:a16="http://schemas.microsoft.com/office/drawing/2014/main" val="211691514"/>
                    </a:ext>
                  </a:extLst>
                </a:gridCol>
                <a:gridCol w="1437059">
                  <a:extLst>
                    <a:ext uri="{9D8B030D-6E8A-4147-A177-3AD203B41FA5}">
                      <a16:colId xmlns:a16="http://schemas.microsoft.com/office/drawing/2014/main" val="1125257413"/>
                    </a:ext>
                  </a:extLst>
                </a:gridCol>
              </a:tblGrid>
              <a:tr h="305155">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360845">
                <a:tc>
                  <a:txBody>
                    <a:bodyPr/>
                    <a:lstStyle/>
                    <a:p>
                      <a:pPr algn="l"/>
                      <a:r>
                        <a:rPr lang="en-US" sz="1200" dirty="0"/>
                        <a:t>[8]</a:t>
                      </a:r>
                    </a:p>
                  </a:txBody>
                  <a:tcPr/>
                </a:tc>
                <a:tc>
                  <a:txBody>
                    <a:bodyPr/>
                    <a:lstStyle/>
                    <a:p>
                      <a:pPr algn="l"/>
                      <a:r>
                        <a:rPr lang="en-US" sz="1000" b="0" i="0" kern="1200" dirty="0" err="1">
                          <a:solidFill>
                            <a:schemeClr val="tx1"/>
                          </a:solidFill>
                          <a:effectLst/>
                          <a:latin typeface="+mn-lt"/>
                          <a:ea typeface="+mn-ea"/>
                          <a:cs typeface="+mn-cs"/>
                        </a:rPr>
                        <a:t>Rajpoot</a:t>
                      </a:r>
                      <a:r>
                        <a:rPr lang="en-US" sz="1000" b="0" i="0" kern="1200" dirty="0">
                          <a:solidFill>
                            <a:schemeClr val="tx1"/>
                          </a:solidFill>
                          <a:effectLst/>
                          <a:latin typeface="+mn-lt"/>
                          <a:ea typeface="+mn-ea"/>
                          <a:cs typeface="+mn-cs"/>
                        </a:rPr>
                        <a:t>, M., Thakur, A. &amp; Kumar, S. (2025)</a:t>
                      </a:r>
                      <a:endParaRPr lang="en-US" sz="1000" dirty="0"/>
                    </a:p>
                  </a:txBody>
                  <a:tcPr/>
                </a:tc>
                <a:tc>
                  <a:txBody>
                    <a:bodyPr/>
                    <a:lstStyle/>
                    <a:p>
                      <a:r>
                        <a:rPr lang="en-US" sz="1000" b="0" i="0" kern="1200" dirty="0">
                          <a:solidFill>
                            <a:schemeClr val="tx1"/>
                          </a:solidFill>
                          <a:effectLst/>
                          <a:latin typeface="+mn-lt"/>
                          <a:ea typeface="+mn-ea"/>
                          <a:cs typeface="+mn-cs"/>
                        </a:rPr>
                        <a:t>Government Schemes AI Recommendation System</a:t>
                      </a:r>
                      <a:endParaRPr lang="en-US" sz="1000" dirty="0"/>
                    </a:p>
                  </a:txBody>
                  <a:tcPr/>
                </a:tc>
                <a:tc>
                  <a:txBody>
                    <a:bodyPr/>
                    <a:lstStyle/>
                    <a:p>
                      <a:r>
                        <a:rPr lang="en-US" sz="1000" b="0" i="0" kern="1200" dirty="0">
                          <a:solidFill>
                            <a:schemeClr val="tx1"/>
                          </a:solidFill>
                          <a:effectLst/>
                          <a:latin typeface="+mn-lt"/>
                          <a:ea typeface="+mn-ea"/>
                          <a:cs typeface="+mn-cs"/>
                        </a:rPr>
                        <a:t>Implements </a:t>
                      </a:r>
                      <a:r>
                        <a:rPr lang="en-US" sz="1000" b="1" i="0" kern="1200" dirty="0">
                          <a:solidFill>
                            <a:schemeClr val="tx1"/>
                          </a:solidFill>
                          <a:effectLst/>
                          <a:latin typeface="+mn-lt"/>
                          <a:ea typeface="+mn-ea"/>
                          <a:cs typeface="+mn-cs"/>
                        </a:rPr>
                        <a:t>K-Means and Hierarchical clustering</a:t>
                      </a:r>
                      <a:r>
                        <a:rPr lang="en-US" sz="1000" b="0" i="0" kern="1200" dirty="0">
                          <a:solidFill>
                            <a:schemeClr val="tx1"/>
                          </a:solidFill>
                          <a:effectLst/>
                          <a:latin typeface="+mn-lt"/>
                          <a:ea typeface="+mn-ea"/>
                          <a:cs typeface="+mn-cs"/>
                        </a:rPr>
                        <a:t> for beneficiary segmentation,.</a:t>
                      </a:r>
                    </a:p>
                    <a:p>
                      <a:r>
                        <a:rPr lang="en-US" sz="1000" b="0" i="0" kern="1200" dirty="0">
                          <a:solidFill>
                            <a:schemeClr val="tx1"/>
                          </a:solidFill>
                          <a:effectLst/>
                          <a:latin typeface="+mn-lt"/>
                          <a:ea typeface="+mn-ea"/>
                          <a:cs typeface="+mn-cs"/>
                        </a:rPr>
                        <a:t>Uses </a:t>
                      </a:r>
                      <a:r>
                        <a:rPr lang="en-US" sz="1000" b="1" i="0" kern="1200" dirty="0">
                          <a:solidFill>
                            <a:schemeClr val="tx1"/>
                          </a:solidFill>
                          <a:effectLst/>
                          <a:latin typeface="+mn-lt"/>
                          <a:ea typeface="+mn-ea"/>
                          <a:cs typeface="+mn-cs"/>
                        </a:rPr>
                        <a:t>Content-Based and Collaborative filtering</a:t>
                      </a:r>
                      <a:r>
                        <a:rPr lang="en-US" sz="1000" b="0" i="0" kern="1200" dirty="0">
                          <a:solidFill>
                            <a:schemeClr val="tx1"/>
                          </a:solidFill>
                          <a:effectLst/>
                          <a:latin typeface="+mn-lt"/>
                          <a:ea typeface="+mn-ea"/>
                          <a:cs typeface="+mn-cs"/>
                        </a:rPr>
                        <a:t> via </a:t>
                      </a:r>
                      <a:r>
                        <a:rPr lang="en-US" sz="1000" b="1" i="0" kern="1200" dirty="0" err="1">
                          <a:solidFill>
                            <a:schemeClr val="tx1"/>
                          </a:solidFill>
                          <a:effectLst/>
                          <a:latin typeface="+mn-lt"/>
                          <a:ea typeface="+mn-ea"/>
                          <a:cs typeface="+mn-cs"/>
                        </a:rPr>
                        <a:t>Scikit</a:t>
                      </a:r>
                      <a:r>
                        <a:rPr lang="en-US" sz="1000" b="1" i="0" kern="1200" dirty="0">
                          <a:solidFill>
                            <a:schemeClr val="tx1"/>
                          </a:solidFill>
                          <a:effectLst/>
                          <a:latin typeface="+mn-lt"/>
                          <a:ea typeface="+mn-ea"/>
                          <a:cs typeface="+mn-cs"/>
                        </a:rPr>
                        <a:t>-learn and </a:t>
                      </a:r>
                      <a:r>
                        <a:rPr lang="en-US" sz="1000" b="1" i="0" kern="1200" dirty="0" err="1">
                          <a:solidFill>
                            <a:schemeClr val="tx1"/>
                          </a:solidFill>
                          <a:effectLst/>
                          <a:latin typeface="+mn-lt"/>
                          <a:ea typeface="+mn-ea"/>
                          <a:cs typeface="+mn-cs"/>
                        </a:rPr>
                        <a:t>spaCy</a:t>
                      </a:r>
                      <a:endParaRPr lang="en-US" sz="1000" b="0" i="0" kern="1200" dirty="0">
                        <a:solidFill>
                          <a:schemeClr val="tx1"/>
                        </a:solidFill>
                        <a:effectLst/>
                        <a:latin typeface="+mn-lt"/>
                        <a:ea typeface="+mn-ea"/>
                        <a:cs typeface="+mn-cs"/>
                      </a:endParaRPr>
                    </a:p>
                    <a:p>
                      <a:br>
                        <a:rPr lang="en-US" sz="1000" dirty="0"/>
                      </a:br>
                      <a:br>
                        <a:rPr lang="en-US" sz="1000" dirty="0"/>
                      </a:br>
                      <a:r>
                        <a:rPr lang="en-US" sz="1000" b="0" i="0" kern="1200" dirty="0">
                          <a:solidFill>
                            <a:schemeClr val="tx1"/>
                          </a:solidFill>
                          <a:effectLst/>
                          <a:latin typeface="+mn-lt"/>
                          <a:ea typeface="+mn-ea"/>
                          <a:cs typeface="+mn-cs"/>
                        </a:rPr>
                        <a:t>.</a:t>
                      </a:r>
                    </a:p>
                    <a:p>
                      <a:pPr algn="l"/>
                      <a:endParaRPr lang="en-US" sz="1200" dirty="0"/>
                    </a:p>
                  </a:txBody>
                  <a:tcPr/>
                </a:tc>
                <a:tc>
                  <a:txBody>
                    <a:bodyPr/>
                    <a:lstStyle/>
                    <a:p>
                      <a:r>
                        <a:rPr lang="en-US" sz="1000" b="0" i="0" kern="1200" dirty="0">
                          <a:solidFill>
                            <a:schemeClr val="tx1"/>
                          </a:solidFill>
                          <a:effectLst/>
                          <a:latin typeface="+mn-lt"/>
                          <a:ea typeface="+mn-ea"/>
                          <a:cs typeface="+mn-cs"/>
                        </a:rPr>
                        <a:t>Achieved an </a:t>
                      </a:r>
                      <a:r>
                        <a:rPr lang="en-US" sz="1000" b="1" i="0" kern="1200" dirty="0">
                          <a:solidFill>
                            <a:schemeClr val="tx1"/>
                          </a:solidFill>
                          <a:effectLst/>
                          <a:latin typeface="+mn-lt"/>
                          <a:ea typeface="+mn-ea"/>
                          <a:cs typeface="+mn-cs"/>
                        </a:rPr>
                        <a:t>87% relevance rate</a:t>
                      </a:r>
                      <a:r>
                        <a:rPr lang="en-US" sz="1000" b="0" i="0" kern="1200" dirty="0">
                          <a:solidFill>
                            <a:schemeClr val="tx1"/>
                          </a:solidFill>
                          <a:effectLst/>
                          <a:latin typeface="+mn-lt"/>
                          <a:ea typeface="+mn-ea"/>
                          <a:cs typeface="+mn-cs"/>
                        </a:rPr>
                        <a:t> in recommendations.</a:t>
                      </a:r>
                    </a:p>
                    <a:p>
                      <a:r>
                        <a:rPr lang="en-US" sz="1000" b="0" i="0" kern="1200" dirty="0">
                          <a:solidFill>
                            <a:schemeClr val="tx1"/>
                          </a:solidFill>
                          <a:effectLst/>
                          <a:latin typeface="+mn-lt"/>
                          <a:ea typeface="+mn-ea"/>
                          <a:cs typeface="+mn-cs"/>
                        </a:rPr>
                        <a:t>Uncovered patterns such as youth focusing on skill development while low-income groups prioritized healthcare</a:t>
                      </a:r>
                    </a:p>
                  </a:txBody>
                  <a:tcPr/>
                </a:tc>
                <a:tc>
                  <a:txBody>
                    <a:bodyPr/>
                    <a:lstStyle/>
                    <a:p>
                      <a:r>
                        <a:rPr lang="en-US" sz="1000" b="0" i="0" kern="1200" dirty="0">
                          <a:solidFill>
                            <a:schemeClr val="tx1"/>
                          </a:solidFill>
                          <a:effectLst/>
                          <a:latin typeface="+mn-lt"/>
                          <a:ea typeface="+mn-ea"/>
                          <a:cs typeface="+mn-cs"/>
                        </a:rPr>
                        <a:t>Data imbalances negatively affect accuracy in less-documented regions.</a:t>
                      </a:r>
                    </a:p>
                    <a:p>
                      <a:r>
                        <a:rPr lang="en-US" sz="1000" b="0" i="0" kern="1200" dirty="0">
                          <a:solidFill>
                            <a:schemeClr val="tx1"/>
                          </a:solidFill>
                          <a:effectLst/>
                          <a:latin typeface="+mn-lt"/>
                          <a:ea typeface="+mn-ea"/>
                          <a:cs typeface="+mn-cs"/>
                        </a:rPr>
                        <a:t>Challenges in interpreting ambiguous or nuanced free-text queries</a:t>
                      </a:r>
                    </a:p>
                  </a:txBody>
                  <a:tcPr/>
                </a:tc>
                <a:extLst>
                  <a:ext uri="{0D108BD9-81ED-4DB2-BD59-A6C34878D82A}">
                    <a16:rowId xmlns:a16="http://schemas.microsoft.com/office/drawing/2014/main" val="1311254684"/>
                  </a:ext>
                </a:extLst>
              </a:tr>
              <a:tr h="360845">
                <a:tc>
                  <a:txBody>
                    <a:bodyPr/>
                    <a:lstStyle/>
                    <a:p>
                      <a:pPr algn="l"/>
                      <a:r>
                        <a:rPr lang="en-US" sz="1200" dirty="0"/>
                        <a:t>[9]</a:t>
                      </a:r>
                    </a:p>
                  </a:txBody>
                  <a:tcPr/>
                </a:tc>
                <a:tc>
                  <a:txBody>
                    <a:bodyPr/>
                    <a:lstStyle/>
                    <a:p>
                      <a:pPr algn="l"/>
                      <a:r>
                        <a:rPr lang="en-US" sz="1000" b="0" i="0" kern="1200" dirty="0">
                          <a:solidFill>
                            <a:schemeClr val="tx1"/>
                          </a:solidFill>
                          <a:effectLst/>
                          <a:latin typeface="+mn-lt"/>
                          <a:ea typeface="+mn-ea"/>
                          <a:cs typeface="+mn-cs"/>
                        </a:rPr>
                        <a:t> </a:t>
                      </a:r>
                      <a:r>
                        <a:rPr lang="en-US" sz="1000" b="0" i="0" kern="1200" dirty="0" err="1">
                          <a:solidFill>
                            <a:schemeClr val="tx1"/>
                          </a:solidFill>
                          <a:effectLst/>
                          <a:latin typeface="+mn-lt"/>
                          <a:ea typeface="+mn-ea"/>
                          <a:cs typeface="+mn-cs"/>
                        </a:rPr>
                        <a:t>Thiyagarajan</a:t>
                      </a:r>
                      <a:r>
                        <a:rPr lang="en-US" sz="1000" b="0" i="0" kern="1200" dirty="0">
                          <a:solidFill>
                            <a:schemeClr val="tx1"/>
                          </a:solidFill>
                          <a:effectLst/>
                          <a:latin typeface="+mn-lt"/>
                          <a:ea typeface="+mn-ea"/>
                          <a:cs typeface="+mn-cs"/>
                        </a:rPr>
                        <a:t>, P., </a:t>
                      </a:r>
                      <a:r>
                        <a:rPr lang="en-US" sz="1000" b="0" i="0" kern="1200" dirty="0" err="1">
                          <a:solidFill>
                            <a:schemeClr val="tx1"/>
                          </a:solidFill>
                          <a:effectLst/>
                          <a:latin typeface="+mn-lt"/>
                          <a:ea typeface="+mn-ea"/>
                          <a:cs typeface="+mn-cs"/>
                        </a:rPr>
                        <a:t>Tamizhanban</a:t>
                      </a:r>
                      <a:r>
                        <a:rPr lang="en-US" sz="1000" b="0" i="0" kern="1200" dirty="0">
                          <a:solidFill>
                            <a:schemeClr val="tx1"/>
                          </a:solidFill>
                          <a:effectLst/>
                          <a:latin typeface="+mn-lt"/>
                          <a:ea typeface="+mn-ea"/>
                          <a:cs typeface="+mn-cs"/>
                        </a:rPr>
                        <a:t>, G., </a:t>
                      </a:r>
                      <a:r>
                        <a:rPr lang="en-US" sz="1000" b="0" i="0" kern="1200" dirty="0" err="1">
                          <a:solidFill>
                            <a:schemeClr val="tx1"/>
                          </a:solidFill>
                          <a:effectLst/>
                          <a:latin typeface="+mn-lt"/>
                          <a:ea typeface="+mn-ea"/>
                          <a:cs typeface="+mn-cs"/>
                        </a:rPr>
                        <a:t>Nandhakumar</a:t>
                      </a:r>
                      <a:r>
                        <a:rPr lang="en-US" sz="1000" b="0" i="0" kern="1200" dirty="0">
                          <a:solidFill>
                            <a:schemeClr val="tx1"/>
                          </a:solidFill>
                          <a:effectLst/>
                          <a:latin typeface="+mn-lt"/>
                          <a:ea typeface="+mn-ea"/>
                          <a:cs typeface="+mn-cs"/>
                        </a:rPr>
                        <a:t>, A. &amp; Gorla </a:t>
                      </a:r>
                      <a:r>
                        <a:rPr lang="en-US" sz="1000" b="0" i="0" kern="1200" dirty="0" err="1">
                          <a:solidFill>
                            <a:schemeClr val="tx1"/>
                          </a:solidFill>
                          <a:effectLst/>
                          <a:latin typeface="+mn-lt"/>
                          <a:ea typeface="+mn-ea"/>
                          <a:cs typeface="+mn-cs"/>
                        </a:rPr>
                        <a:t>Vamshidhar</a:t>
                      </a:r>
                      <a:r>
                        <a:rPr lang="en-US" sz="1000" b="0" i="0" kern="1200" dirty="0">
                          <a:solidFill>
                            <a:schemeClr val="tx1"/>
                          </a:solidFill>
                          <a:effectLst/>
                          <a:latin typeface="+mn-lt"/>
                          <a:ea typeface="+mn-ea"/>
                          <a:cs typeface="+mn-cs"/>
                        </a:rPr>
                        <a:t> Reddy (2025)</a:t>
                      </a:r>
                      <a:endParaRPr lang="en-US" sz="1000" dirty="0"/>
                    </a:p>
                  </a:txBody>
                  <a:tcPr/>
                </a:tc>
                <a:tc>
                  <a:txBody>
                    <a:bodyPr/>
                    <a:lstStyle/>
                    <a:p>
                      <a:pPr algn="l"/>
                      <a:r>
                        <a:rPr lang="en-US" sz="1000" b="0" i="0" kern="1200" dirty="0">
                          <a:solidFill>
                            <a:schemeClr val="tx1"/>
                          </a:solidFill>
                          <a:effectLst/>
                          <a:latin typeface="+mn-lt"/>
                          <a:ea typeface="+mn-ea"/>
                          <a:cs typeface="+mn-cs"/>
                        </a:rPr>
                        <a:t>AI-Driven Welfare Scheme Assistance and Management System.</a:t>
                      </a:r>
                      <a:endParaRPr lang="en-US" sz="1000" dirty="0"/>
                    </a:p>
                  </a:txBody>
                  <a:tcPr/>
                </a:tc>
                <a:tc>
                  <a:txBody>
                    <a:bodyPr/>
                    <a:lstStyle/>
                    <a:p>
                      <a:r>
                        <a:rPr lang="en-US" sz="1000" b="0" i="0" kern="1200" dirty="0">
                          <a:solidFill>
                            <a:schemeClr val="tx1"/>
                          </a:solidFill>
                          <a:effectLst/>
                          <a:latin typeface="+mn-lt"/>
                          <a:ea typeface="+mn-ea"/>
                          <a:cs typeface="+mn-cs"/>
                        </a:rPr>
                        <a:t>Intelligent platform using </a:t>
                      </a:r>
                      <a:r>
                        <a:rPr lang="en-US" sz="1000" b="1" i="0" kern="1200" dirty="0">
                          <a:solidFill>
                            <a:schemeClr val="tx1"/>
                          </a:solidFill>
                          <a:effectLst/>
                          <a:latin typeface="+mn-lt"/>
                          <a:ea typeface="+mn-ea"/>
                          <a:cs typeface="+mn-cs"/>
                        </a:rPr>
                        <a:t>Logistic Regression</a:t>
                      </a:r>
                      <a:r>
                        <a:rPr lang="en-US" sz="1000" b="0" i="0" kern="1200" dirty="0">
                          <a:solidFill>
                            <a:schemeClr val="tx1"/>
                          </a:solidFill>
                          <a:effectLst/>
                          <a:latin typeface="+mn-lt"/>
                          <a:ea typeface="+mn-ea"/>
                          <a:cs typeface="+mn-cs"/>
                        </a:rPr>
                        <a:t> for eligibility prediction,.</a:t>
                      </a:r>
                    </a:p>
                    <a:p>
                      <a:r>
                        <a:rPr lang="en-US" sz="1000" b="0" i="0" kern="1200" dirty="0">
                          <a:solidFill>
                            <a:schemeClr val="tx1"/>
                          </a:solidFill>
                          <a:effectLst/>
                          <a:latin typeface="+mn-lt"/>
                          <a:ea typeface="+mn-ea"/>
                          <a:cs typeface="+mn-cs"/>
                        </a:rPr>
                        <a:t>Features </a:t>
                      </a:r>
                      <a:r>
                        <a:rPr lang="en-US" sz="1000" b="1" i="0" kern="1200" dirty="0">
                          <a:solidFill>
                            <a:schemeClr val="tx1"/>
                          </a:solidFill>
                          <a:effectLst/>
                          <a:latin typeface="+mn-lt"/>
                          <a:ea typeface="+mn-ea"/>
                          <a:cs typeface="+mn-cs"/>
                        </a:rPr>
                        <a:t>OCR for document verification</a:t>
                      </a:r>
                      <a:r>
                        <a:rPr lang="en-US" sz="1000" b="0" i="0" kern="1200" dirty="0">
                          <a:solidFill>
                            <a:schemeClr val="tx1"/>
                          </a:solidFill>
                          <a:effectLst/>
                          <a:latin typeface="+mn-lt"/>
                          <a:ea typeface="+mn-ea"/>
                          <a:cs typeface="+mn-cs"/>
                        </a:rPr>
                        <a:t> and a multilingual </a:t>
                      </a:r>
                      <a:r>
                        <a:rPr lang="en-US" sz="1000" b="0" i="0" kern="1200" dirty="0" err="1">
                          <a:solidFill>
                            <a:schemeClr val="tx1"/>
                          </a:solidFill>
                          <a:effectLst/>
                          <a:latin typeface="+mn-lt"/>
                          <a:ea typeface="+mn-ea"/>
                          <a:cs typeface="+mn-cs"/>
                        </a:rPr>
                        <a:t>chatbot</a:t>
                      </a:r>
                      <a:endParaRPr lang="en-US" sz="1000" b="0" i="0" kern="1200" dirty="0">
                        <a:solidFill>
                          <a:schemeClr val="tx1"/>
                        </a:solidFill>
                        <a:effectLst/>
                        <a:latin typeface="+mn-lt"/>
                        <a:ea typeface="+mn-ea"/>
                        <a:cs typeface="+mn-cs"/>
                      </a:endParaRPr>
                    </a:p>
                    <a:p>
                      <a:br>
                        <a:rPr lang="en-US" sz="1000" dirty="0"/>
                      </a:br>
                      <a:br>
                        <a:rPr lang="en-US" sz="1000" dirty="0"/>
                      </a:br>
                      <a:br>
                        <a:rPr lang="en-US" sz="1000" dirty="0"/>
                      </a:br>
                      <a:endParaRPr lang="en-US" sz="1800" dirty="0"/>
                    </a:p>
                  </a:txBody>
                  <a:tcPr/>
                </a:tc>
                <a:tc>
                  <a:txBody>
                    <a:bodyPr/>
                    <a:lstStyle/>
                    <a:p>
                      <a:r>
                        <a:rPr lang="en-US" sz="1000" b="0" i="0" kern="1200" dirty="0">
                          <a:solidFill>
                            <a:schemeClr val="tx1"/>
                          </a:solidFill>
                          <a:effectLst/>
                          <a:latin typeface="+mn-lt"/>
                          <a:ea typeface="+mn-ea"/>
                          <a:cs typeface="+mn-cs"/>
                        </a:rPr>
                        <a:t>Automates the end-to-end cycle of identifying, applying, and tracking scheme status,.</a:t>
                      </a:r>
                    </a:p>
                    <a:p>
                      <a:r>
                        <a:rPr lang="en-US" sz="1000" b="0" i="0" kern="1200" dirty="0">
                          <a:solidFill>
                            <a:schemeClr val="tx1"/>
                          </a:solidFill>
                          <a:effectLst/>
                          <a:latin typeface="+mn-lt"/>
                          <a:ea typeface="+mn-ea"/>
                          <a:cs typeface="+mn-cs"/>
                        </a:rPr>
                        <a:t>Empowers officials with a dashboard for data-driven analytics and monitoring</a:t>
                      </a:r>
                    </a:p>
                    <a:p>
                      <a:br>
                        <a:rPr lang="en-US" sz="1000" dirty="0"/>
                      </a:b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tx1"/>
                          </a:solidFill>
                          <a:effectLst/>
                          <a:latin typeface="+mn-lt"/>
                          <a:ea typeface="+mn-ea"/>
                          <a:cs typeface="+mn-cs"/>
                        </a:rPr>
                        <a:t>Currently lacks a dedicated mobile app and voice assistant for illiterate or visually impaired users</a:t>
                      </a:r>
                      <a:r>
                        <a:rPr lang="en-US" sz="1800" b="0" i="0" kern="1200" dirty="0">
                          <a:solidFill>
                            <a:schemeClr val="tx1"/>
                          </a:solidFill>
                          <a:effectLst/>
                          <a:latin typeface="+mn-lt"/>
                          <a:ea typeface="+mn-ea"/>
                          <a:cs typeface="+mn-cs"/>
                        </a:rPr>
                        <a:t>.</a:t>
                      </a:r>
                      <a:br>
                        <a:rPr lang="en-US" sz="1000" dirty="0"/>
                      </a:br>
                      <a:endParaRPr lang="en-US" sz="1200" dirty="0"/>
                    </a:p>
                  </a:txBody>
                  <a:tcPr/>
                </a:tc>
                <a:extLst>
                  <a:ext uri="{0D108BD9-81ED-4DB2-BD59-A6C34878D82A}">
                    <a16:rowId xmlns:a16="http://schemas.microsoft.com/office/drawing/2014/main" val="3651740429"/>
                  </a:ext>
                </a:extLst>
              </a:tr>
            </a:tbl>
          </a:graphicData>
        </a:graphic>
      </p:graphicFrame>
      <p:sp>
        <p:nvSpPr>
          <p:cNvPr id="5"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14</a:t>
            </a:r>
            <a:endParaRPr dirty="0"/>
          </a:p>
        </p:txBody>
      </p:sp>
    </p:spTree>
    <p:extLst>
      <p:ext uri="{BB962C8B-B14F-4D97-AF65-F5344CB8AC3E}">
        <p14:creationId xmlns:p14="http://schemas.microsoft.com/office/powerpoint/2010/main" val="816768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97859"/>
            <a:ext cx="8058181" cy="715396"/>
          </a:xfrm>
        </p:spPr>
        <p:txBody>
          <a:bodyPr>
            <a:normAutofit/>
          </a:bodyPr>
          <a:lstStyle/>
          <a:p>
            <a:r>
              <a:rPr lang="en-US" sz="2800" dirty="0"/>
              <a:t>Literature Survey - Comparison Chart</a:t>
            </a:r>
          </a:p>
        </p:txBody>
      </p:sp>
      <p:graphicFrame>
        <p:nvGraphicFramePr>
          <p:cNvPr id="4" name="Table 3">
            <a:extLst>
              <a:ext uri="{FF2B5EF4-FFF2-40B4-BE49-F238E27FC236}">
                <a16:creationId xmlns:a16="http://schemas.microsoft.com/office/drawing/2014/main" id="{30839AC3-B9DE-17AD-9FC5-18D56A7D6AD2}"/>
              </a:ext>
            </a:extLst>
          </p:cNvPr>
          <p:cNvGraphicFramePr>
            <a:graphicFrameLocks noGrp="1"/>
          </p:cNvGraphicFramePr>
          <p:nvPr>
            <p:extLst>
              <p:ext uri="{D42A27DB-BD31-4B8C-83A1-F6EECF244321}">
                <p14:modId xmlns:p14="http://schemas.microsoft.com/office/powerpoint/2010/main" val="1266926573"/>
              </p:ext>
            </p:extLst>
          </p:nvPr>
        </p:nvGraphicFramePr>
        <p:xfrm>
          <a:off x="1451579" y="2013255"/>
          <a:ext cx="9726008" cy="3445010"/>
        </p:xfrm>
        <a:graphic>
          <a:graphicData uri="http://schemas.openxmlformats.org/drawingml/2006/table">
            <a:tbl>
              <a:tblPr firstRow="1" bandRow="1"/>
              <a:tblGrid>
                <a:gridCol w="527960">
                  <a:extLst>
                    <a:ext uri="{9D8B030D-6E8A-4147-A177-3AD203B41FA5}">
                      <a16:colId xmlns:a16="http://schemas.microsoft.com/office/drawing/2014/main" val="299110558"/>
                    </a:ext>
                  </a:extLst>
                </a:gridCol>
                <a:gridCol w="2789876">
                  <a:extLst>
                    <a:ext uri="{9D8B030D-6E8A-4147-A177-3AD203B41FA5}">
                      <a16:colId xmlns:a16="http://schemas.microsoft.com/office/drawing/2014/main" val="2371221148"/>
                    </a:ext>
                  </a:extLst>
                </a:gridCol>
                <a:gridCol w="1453093">
                  <a:extLst>
                    <a:ext uri="{9D8B030D-6E8A-4147-A177-3AD203B41FA5}">
                      <a16:colId xmlns:a16="http://schemas.microsoft.com/office/drawing/2014/main" val="1195321742"/>
                    </a:ext>
                  </a:extLst>
                </a:gridCol>
                <a:gridCol w="1795570">
                  <a:extLst>
                    <a:ext uri="{9D8B030D-6E8A-4147-A177-3AD203B41FA5}">
                      <a16:colId xmlns:a16="http://schemas.microsoft.com/office/drawing/2014/main" val="3583637318"/>
                    </a:ext>
                  </a:extLst>
                </a:gridCol>
                <a:gridCol w="1706545">
                  <a:extLst>
                    <a:ext uri="{9D8B030D-6E8A-4147-A177-3AD203B41FA5}">
                      <a16:colId xmlns:a16="http://schemas.microsoft.com/office/drawing/2014/main" val="211691514"/>
                    </a:ext>
                  </a:extLst>
                </a:gridCol>
                <a:gridCol w="1452964">
                  <a:extLst>
                    <a:ext uri="{9D8B030D-6E8A-4147-A177-3AD203B41FA5}">
                      <a16:colId xmlns:a16="http://schemas.microsoft.com/office/drawing/2014/main" val="1125257413"/>
                    </a:ext>
                  </a:extLst>
                </a:gridCol>
              </a:tblGrid>
              <a:tr h="274270">
                <a:tc>
                  <a:txBody>
                    <a:bodyPr/>
                    <a:lstStyle/>
                    <a:p>
                      <a:pPr algn="ctr"/>
                      <a:r>
                        <a:rPr lang="en-US" sz="1200" b="1" dirty="0"/>
                        <a:t>Ref.</a:t>
                      </a:r>
                    </a:p>
                  </a:txBody>
                  <a:tcPr anchor="ctr">
                    <a:solidFill>
                      <a:schemeClr val="tx2">
                        <a:lumMod val="90000"/>
                      </a:schemeClr>
                    </a:solidFill>
                  </a:tcPr>
                </a:tc>
                <a:tc>
                  <a:txBody>
                    <a:bodyPr/>
                    <a:lstStyle/>
                    <a:p>
                      <a:pPr algn="ctr"/>
                      <a:r>
                        <a:rPr lang="en-US" sz="1200" b="1" dirty="0"/>
                        <a:t>Author &amp; Year</a:t>
                      </a:r>
                    </a:p>
                  </a:txBody>
                  <a:tcPr anchor="ctr">
                    <a:solidFill>
                      <a:schemeClr val="tx2">
                        <a:lumMod val="90000"/>
                      </a:schemeClr>
                    </a:solidFill>
                  </a:tcPr>
                </a:tc>
                <a:tc>
                  <a:txBody>
                    <a:bodyPr/>
                    <a:lstStyle/>
                    <a:p>
                      <a:pPr algn="ctr"/>
                      <a:r>
                        <a:rPr lang="en-US" sz="1200" b="1" dirty="0"/>
                        <a:t>Title</a:t>
                      </a:r>
                    </a:p>
                  </a:txBody>
                  <a:tcPr anchor="ctr">
                    <a:solidFill>
                      <a:schemeClr val="tx2">
                        <a:lumMod val="90000"/>
                      </a:schemeClr>
                    </a:solidFill>
                  </a:tcPr>
                </a:tc>
                <a:tc>
                  <a:txBody>
                    <a:bodyPr/>
                    <a:lstStyle/>
                    <a:p>
                      <a:pPr algn="ctr"/>
                      <a:r>
                        <a:rPr lang="en-US" sz="1200" b="1" dirty="0"/>
                        <a:t>Methodology</a:t>
                      </a:r>
                    </a:p>
                  </a:txBody>
                  <a:tcPr anchor="ctr">
                    <a:solidFill>
                      <a:schemeClr val="tx2">
                        <a:lumMod val="90000"/>
                      </a:schemeClr>
                    </a:solidFill>
                  </a:tcPr>
                </a:tc>
                <a:tc>
                  <a:txBody>
                    <a:bodyPr/>
                    <a:lstStyle/>
                    <a:p>
                      <a:pPr algn="ctr"/>
                      <a:r>
                        <a:rPr lang="en-US" sz="1200" b="1" dirty="0"/>
                        <a:t>Key Findings</a:t>
                      </a:r>
                    </a:p>
                  </a:txBody>
                  <a:tcPr anchor="ctr">
                    <a:solidFill>
                      <a:schemeClr val="tx2">
                        <a:lumMod val="90000"/>
                      </a:schemeClr>
                    </a:solidFill>
                  </a:tcPr>
                </a:tc>
                <a:tc>
                  <a:txBody>
                    <a:bodyPr/>
                    <a:lstStyle/>
                    <a:p>
                      <a:pPr algn="ctr"/>
                      <a:r>
                        <a:rPr lang="en-US" sz="1200" b="1" dirty="0"/>
                        <a:t>Limitations </a:t>
                      </a:r>
                    </a:p>
                  </a:txBody>
                  <a:tcPr anchor="ctr">
                    <a:solidFill>
                      <a:schemeClr val="tx2">
                        <a:lumMod val="90000"/>
                      </a:schemeClr>
                    </a:solidFill>
                  </a:tcPr>
                </a:tc>
                <a:extLst>
                  <a:ext uri="{0D108BD9-81ED-4DB2-BD59-A6C34878D82A}">
                    <a16:rowId xmlns:a16="http://schemas.microsoft.com/office/drawing/2014/main" val="2134823125"/>
                  </a:ext>
                </a:extLst>
              </a:tr>
              <a:tr h="3170690">
                <a:tc>
                  <a:txBody>
                    <a:bodyPr/>
                    <a:lstStyle/>
                    <a:p>
                      <a:pPr algn="l"/>
                      <a:r>
                        <a:rPr lang="en-US" sz="1200" dirty="0"/>
                        <a:t>[10]</a:t>
                      </a:r>
                    </a:p>
                  </a:txBody>
                  <a:tcPr/>
                </a:tc>
                <a:tc>
                  <a:txBody>
                    <a:bodyPr/>
                    <a:lstStyle/>
                    <a:p>
                      <a:pPr algn="l"/>
                      <a:r>
                        <a:rPr lang="nl-NL" sz="1000" b="0" i="0" kern="1200" dirty="0">
                          <a:solidFill>
                            <a:schemeClr val="tx1"/>
                          </a:solidFill>
                          <a:effectLst/>
                          <a:latin typeface="+mn-lt"/>
                          <a:ea typeface="+mn-ea"/>
                          <a:cs typeface="+mn-cs"/>
                        </a:rPr>
                        <a:t>Verma, R., Kapoor, S. &amp; Jain, K. (2024)</a:t>
                      </a:r>
                      <a:endParaRPr lang="en-US" sz="1000" dirty="0"/>
                    </a:p>
                  </a:txBody>
                  <a:tcPr/>
                </a:tc>
                <a:tc>
                  <a:txBody>
                    <a:bodyPr/>
                    <a:lstStyle/>
                    <a:p>
                      <a:r>
                        <a:rPr lang="en-US" sz="1000" b="0" i="0" kern="1200" dirty="0">
                          <a:solidFill>
                            <a:schemeClr val="tx1"/>
                          </a:solidFill>
                          <a:effectLst/>
                          <a:latin typeface="+mn-lt"/>
                          <a:ea typeface="+mn-ea"/>
                          <a:cs typeface="+mn-cs"/>
                        </a:rPr>
                        <a:t>Intelligent and Innovative Approaches to Delivering Social Welfare Schemes in India: Leveraging Artificial Intelligence for Public Impact</a:t>
                      </a:r>
                      <a:endParaRPr lang="en-US" sz="1000" dirty="0"/>
                    </a:p>
                  </a:txBody>
                  <a:tcPr/>
                </a:tc>
                <a:tc>
                  <a:txBody>
                    <a:bodyPr/>
                    <a:lstStyle/>
                    <a:p>
                      <a:r>
                        <a:rPr lang="en-US" sz="1000" b="0" i="0" kern="1200" dirty="0">
                          <a:solidFill>
                            <a:schemeClr val="tx1"/>
                          </a:solidFill>
                          <a:effectLst/>
                          <a:latin typeface="+mn-lt"/>
                          <a:ea typeface="+mn-ea"/>
                          <a:cs typeface="+mn-cs"/>
                        </a:rPr>
                        <a:t>Mixed-methods research using the </a:t>
                      </a:r>
                      <a:r>
                        <a:rPr lang="en-US" sz="1000" b="1" i="0" kern="1200" dirty="0">
                          <a:solidFill>
                            <a:schemeClr val="tx1"/>
                          </a:solidFill>
                          <a:effectLst/>
                          <a:latin typeface="+mn-lt"/>
                          <a:ea typeface="+mn-ea"/>
                          <a:cs typeface="+mn-cs"/>
                        </a:rPr>
                        <a:t>Delphi method</a:t>
                      </a:r>
                      <a:r>
                        <a:rPr lang="en-US" sz="1000" b="0" i="0" kern="1200" dirty="0">
                          <a:solidFill>
                            <a:schemeClr val="tx1"/>
                          </a:solidFill>
                          <a:effectLst/>
                          <a:latin typeface="+mn-lt"/>
                          <a:ea typeface="+mn-ea"/>
                          <a:cs typeface="+mn-cs"/>
                        </a:rPr>
                        <a:t> with 13 experts and a </a:t>
                      </a:r>
                      <a:r>
                        <a:rPr lang="en-US" sz="1000" b="1" i="0" kern="1200" dirty="0">
                          <a:solidFill>
                            <a:schemeClr val="tx1"/>
                          </a:solidFill>
                          <a:effectLst/>
                          <a:latin typeface="+mn-lt"/>
                          <a:ea typeface="+mn-ea"/>
                          <a:cs typeface="+mn-cs"/>
                        </a:rPr>
                        <a:t>survey of 146 citizens</a:t>
                      </a:r>
                      <a:r>
                        <a:rPr lang="en-US" sz="1000" b="0" i="0" kern="1200" dirty="0">
                          <a:solidFill>
                            <a:schemeClr val="tx1"/>
                          </a:solidFill>
                          <a:effectLst/>
                          <a:latin typeface="+mn-lt"/>
                          <a:ea typeface="+mn-ea"/>
                          <a:cs typeface="+mn-cs"/>
                        </a:rPr>
                        <a:t>,.</a:t>
                      </a:r>
                    </a:p>
                    <a:p>
                      <a:r>
                        <a:rPr lang="en-US" sz="1000" b="0" i="0" kern="1200" dirty="0">
                          <a:solidFill>
                            <a:schemeClr val="tx1"/>
                          </a:solidFill>
                          <a:effectLst/>
                          <a:latin typeface="+mn-lt"/>
                          <a:ea typeface="+mn-ea"/>
                          <a:cs typeface="+mn-cs"/>
                        </a:rPr>
                        <a:t>Statistical analysis focused on perceived risks like security and privacy.</a:t>
                      </a:r>
                    </a:p>
                    <a:p>
                      <a:br>
                        <a:rPr lang="en-US" sz="1000" dirty="0"/>
                      </a:br>
                      <a:br>
                        <a:rPr lang="en-US" sz="1000" dirty="0"/>
                      </a:br>
                      <a:r>
                        <a:rPr lang="en-US" sz="1000" b="0" i="0" kern="1200" dirty="0">
                          <a:solidFill>
                            <a:schemeClr val="tx1"/>
                          </a:solidFill>
                          <a:effectLst/>
                          <a:latin typeface="+mn-lt"/>
                          <a:ea typeface="+mn-ea"/>
                          <a:cs typeface="+mn-cs"/>
                        </a:rPr>
                        <a:t>.</a:t>
                      </a:r>
                    </a:p>
                    <a:p>
                      <a:pPr algn="l"/>
                      <a:endParaRPr lang="en-US" sz="1200" dirty="0"/>
                    </a:p>
                  </a:txBody>
                  <a:tcPr/>
                </a:tc>
                <a:tc>
                  <a:txBody>
                    <a:bodyPr/>
                    <a:lstStyle/>
                    <a:p>
                      <a:r>
                        <a:rPr lang="en-US" sz="1000" b="0" i="0" kern="1200" dirty="0">
                          <a:solidFill>
                            <a:schemeClr val="tx1"/>
                          </a:solidFill>
                          <a:effectLst/>
                          <a:latin typeface="+mn-lt"/>
                          <a:ea typeface="+mn-ea"/>
                          <a:cs typeface="+mn-cs"/>
                        </a:rPr>
                        <a:t>identified the </a:t>
                      </a:r>
                      <a:r>
                        <a:rPr lang="en-US" sz="1000" b="1" i="0" kern="1200" dirty="0">
                          <a:solidFill>
                            <a:schemeClr val="tx1"/>
                          </a:solidFill>
                          <a:effectLst/>
                          <a:latin typeface="+mn-lt"/>
                          <a:ea typeface="+mn-ea"/>
                          <a:cs typeface="+mn-cs"/>
                        </a:rPr>
                        <a:t>"Technology Ecosystem"</a:t>
                      </a:r>
                      <a:r>
                        <a:rPr lang="en-US" sz="1000" b="0" i="0" kern="1200" dirty="0">
                          <a:solidFill>
                            <a:schemeClr val="tx1"/>
                          </a:solidFill>
                          <a:effectLst/>
                          <a:latin typeface="+mn-lt"/>
                          <a:ea typeface="+mn-ea"/>
                          <a:cs typeface="+mn-cs"/>
                        </a:rPr>
                        <a:t> (departmental silos, data sharing resistance) as the top barrier to adoption,.</a:t>
                      </a:r>
                    </a:p>
                    <a:p>
                      <a:r>
                        <a:rPr lang="en-US" sz="1000" b="0" i="0" kern="1200" dirty="0">
                          <a:solidFill>
                            <a:schemeClr val="tx1"/>
                          </a:solidFill>
                          <a:effectLst/>
                          <a:latin typeface="+mn-lt"/>
                          <a:ea typeface="+mn-ea"/>
                          <a:cs typeface="+mn-cs"/>
                        </a:rPr>
                        <a:t>Public acceptance is conditional, showing high comfort in health/finance but low trust in law</a:t>
                      </a:r>
                      <a:r>
                        <a:rPr lang="en-US" sz="1000" b="0" i="0" kern="1200" baseline="0" dirty="0">
                          <a:solidFill>
                            <a:schemeClr val="tx1"/>
                          </a:solidFill>
                          <a:effectLst/>
                          <a:latin typeface="+mn-lt"/>
                          <a:ea typeface="+mn-ea"/>
                          <a:cs typeface="+mn-cs"/>
                        </a:rPr>
                        <a:t> </a:t>
                      </a:r>
                      <a:r>
                        <a:rPr lang="en-US" sz="1000" b="0" i="0" kern="1200" dirty="0">
                          <a:solidFill>
                            <a:schemeClr val="tx1"/>
                          </a:solidFill>
                          <a:effectLst/>
                          <a:latin typeface="+mn-lt"/>
                          <a:ea typeface="+mn-ea"/>
                          <a:cs typeface="+mn-cs"/>
                        </a:rPr>
                        <a:t>enforcement AI</a:t>
                      </a:r>
                    </a:p>
                  </a:txBody>
                  <a:tcPr/>
                </a:tc>
                <a:tc>
                  <a:txBody>
                    <a:bodyPr/>
                    <a:lstStyle/>
                    <a:p>
                      <a:r>
                        <a:rPr lang="en-US" sz="1000" b="0" i="0" kern="1200" dirty="0">
                          <a:solidFill>
                            <a:schemeClr val="tx1"/>
                          </a:solidFill>
                          <a:effectLst/>
                          <a:latin typeface="+mn-lt"/>
                          <a:ea typeface="+mn-ea"/>
                          <a:cs typeface="+mn-cs"/>
                        </a:rPr>
                        <a:t>High public mistrust regarding AI's lack of transparency and accountability</a:t>
                      </a:r>
                    </a:p>
                  </a:txBody>
                  <a:tcPr/>
                </a:tc>
                <a:extLst>
                  <a:ext uri="{0D108BD9-81ED-4DB2-BD59-A6C34878D82A}">
                    <a16:rowId xmlns:a16="http://schemas.microsoft.com/office/drawing/2014/main" val="1311254684"/>
                  </a:ext>
                </a:extLst>
              </a:tr>
            </a:tbl>
          </a:graphicData>
        </a:graphic>
      </p:graphicFrame>
      <p:sp>
        <p:nvSpPr>
          <p:cNvPr id="5"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15</a:t>
            </a:r>
            <a:endParaRPr dirty="0"/>
          </a:p>
        </p:txBody>
      </p:sp>
    </p:spTree>
    <p:extLst>
      <p:ext uri="{BB962C8B-B14F-4D97-AF65-F5344CB8AC3E}">
        <p14:creationId xmlns:p14="http://schemas.microsoft.com/office/powerpoint/2010/main" val="367718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0d9c4f0da6_0_24"/>
          <p:cNvSpPr txBox="1">
            <a:spLocks noGrp="1"/>
          </p:cNvSpPr>
          <p:nvPr>
            <p:ph type="title"/>
          </p:nvPr>
        </p:nvSpPr>
        <p:spPr>
          <a:xfrm>
            <a:off x="1408918" y="1189703"/>
            <a:ext cx="4982050" cy="550607"/>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800"/>
              <a:buNone/>
            </a:pPr>
            <a:r>
              <a:rPr lang="en-US" sz="2800" dirty="0"/>
              <a:t>Gaps Identification</a:t>
            </a:r>
            <a:endParaRPr sz="2800" dirty="0"/>
          </a:p>
        </p:txBody>
      </p:sp>
      <p:sp>
        <p:nvSpPr>
          <p:cNvPr id="141" name="Google Shape;141;g30d9c4f0da6_0_24"/>
          <p:cNvSpPr txBox="1">
            <a:spLocks noGrp="1"/>
          </p:cNvSpPr>
          <p:nvPr>
            <p:ph idx="1"/>
          </p:nvPr>
        </p:nvSpPr>
        <p:spPr>
          <a:xfrm>
            <a:off x="1408918" y="1936955"/>
            <a:ext cx="8761500" cy="3632779"/>
          </a:xfrm>
          <a:prstGeom prst="rect">
            <a:avLst/>
          </a:prstGeom>
          <a:noFill/>
          <a:ln>
            <a:noFill/>
          </a:ln>
        </p:spPr>
        <p:txBody>
          <a:bodyPr spcFirstLastPara="1" wrap="square" lIns="91425" tIns="45700" rIns="91425" bIns="45700" anchor="t" anchorCtr="0">
            <a:noAutofit/>
          </a:bodyPr>
          <a:lstStyle/>
          <a:p>
            <a:pPr algn="just"/>
            <a:r>
              <a:rPr lang="en-US" b="1" dirty="0"/>
              <a:t>Lack of Awareness:</a:t>
            </a:r>
            <a:r>
              <a:rPr lang="en-US" dirty="0"/>
              <a:t> Many citizens are unaware of the government schemes available and their eligibility criteria.</a:t>
            </a:r>
          </a:p>
          <a:p>
            <a:pPr algn="just"/>
            <a:r>
              <a:rPr lang="en-US" b="1" dirty="0"/>
              <a:t>Scattered Information:</a:t>
            </a:r>
            <a:r>
              <a:rPr lang="en-US" dirty="0"/>
              <a:t> Information about government schemes is spread across multiple websites and sources, making it difficult for users to find relevant schemes.</a:t>
            </a:r>
          </a:p>
          <a:p>
            <a:pPr algn="just"/>
            <a:r>
              <a:rPr lang="en-US" b="1" dirty="0"/>
              <a:t>No Automatic Eligibility Checking:</a:t>
            </a:r>
            <a:r>
              <a:rPr lang="en-US" dirty="0"/>
              <a:t> Existing systems do not automatically analyze user details to determine eligibility for different schemes.</a:t>
            </a:r>
          </a:p>
        </p:txBody>
      </p:sp>
      <p:sp>
        <p:nvSpPr>
          <p:cNvPr id="142" name="Google Shape;142;g30d9c4f0da6_0_24"/>
          <p:cNvSpPr txBox="1">
            <a:spLocks noGrp="1"/>
          </p:cNvSpPr>
          <p:nvPr>
            <p:ph type="sldNum" sz="quarter" idx="12"/>
          </p:nvPr>
        </p:nvSpPr>
        <p:spPr>
          <a:xfrm>
            <a:off x="10339387" y="152400"/>
            <a:ext cx="838200" cy="479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58211"/>
            <a:ext cx="9603275" cy="890965"/>
          </a:xfrm>
        </p:spPr>
        <p:txBody>
          <a:bodyPr>
            <a:normAutofit/>
          </a:bodyPr>
          <a:lstStyle/>
          <a:p>
            <a:r>
              <a:rPr lang="en-US" sz="2800" dirty="0"/>
              <a:t>Gaps Identification</a:t>
            </a:r>
          </a:p>
        </p:txBody>
      </p:sp>
      <p:sp>
        <p:nvSpPr>
          <p:cNvPr id="3" name="Content Placeholder 2"/>
          <p:cNvSpPr>
            <a:spLocks noGrp="1"/>
          </p:cNvSpPr>
          <p:nvPr>
            <p:ph idx="1"/>
          </p:nvPr>
        </p:nvSpPr>
        <p:spPr>
          <a:xfrm>
            <a:off x="1451579" y="1976284"/>
            <a:ext cx="9603275" cy="3623505"/>
          </a:xfrm>
        </p:spPr>
        <p:txBody>
          <a:bodyPr/>
          <a:lstStyle/>
          <a:p>
            <a:pPr algn="just"/>
            <a:r>
              <a:rPr lang="en-US" b="1" dirty="0"/>
              <a:t>Language Barrier:</a:t>
            </a:r>
            <a:r>
              <a:rPr lang="en-US" dirty="0"/>
              <a:t> Many platforms provide information only in limited languages, making it difficult for people from different regions to understand scheme details.</a:t>
            </a:r>
          </a:p>
          <a:p>
            <a:pPr algn="just"/>
            <a:r>
              <a:rPr lang="en-US" b="1" dirty="0"/>
              <a:t>Time-Consuming Process:</a:t>
            </a:r>
            <a:r>
              <a:rPr lang="en-US" dirty="0"/>
              <a:t> Users often spend a lot of time searching and verifying scheme eligibility manually.</a:t>
            </a:r>
          </a:p>
          <a:p>
            <a:pPr algn="just"/>
            <a:r>
              <a:rPr lang="en-US" b="1" dirty="0"/>
              <a:t>Lack of Personalized Recommendations:</a:t>
            </a:r>
            <a:r>
              <a:rPr lang="en-US" dirty="0"/>
              <a:t> Existing systems do not provide scheme suggestions based on individual user profiles and needs.</a:t>
            </a:r>
          </a:p>
          <a:p>
            <a:pPr algn="just"/>
            <a:r>
              <a:rPr lang="en-US" dirty="0"/>
              <a:t>Lack of integrated </a:t>
            </a:r>
            <a:r>
              <a:rPr lang="en-US" b="1" dirty="0"/>
              <a:t>multilingual chatbot</a:t>
            </a:r>
            <a:r>
              <a:rPr lang="en-US" dirty="0"/>
              <a:t> with </a:t>
            </a:r>
            <a:r>
              <a:rPr lang="en-US" b="1" dirty="0"/>
              <a:t>real-time eligibility </a:t>
            </a:r>
            <a:r>
              <a:rPr lang="en-US" dirty="0"/>
              <a:t>and </a:t>
            </a:r>
            <a:r>
              <a:rPr lang="en-US" b="1" dirty="0"/>
              <a:t>document verification.</a:t>
            </a:r>
          </a:p>
          <a:p>
            <a:endParaRPr lang="en-US" dirty="0"/>
          </a:p>
        </p:txBody>
      </p:sp>
      <p:sp>
        <p:nvSpPr>
          <p:cNvPr id="4"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17</a:t>
            </a:r>
            <a:endParaRPr dirty="0"/>
          </a:p>
        </p:txBody>
      </p:sp>
    </p:spTree>
    <p:extLst>
      <p:ext uri="{BB962C8B-B14F-4D97-AF65-F5344CB8AC3E}">
        <p14:creationId xmlns:p14="http://schemas.microsoft.com/office/powerpoint/2010/main" val="1929050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56b7084ef_0_8"/>
          <p:cNvSpPr txBox="1">
            <a:spLocks noGrp="1"/>
          </p:cNvSpPr>
          <p:nvPr>
            <p:ph type="title"/>
          </p:nvPr>
        </p:nvSpPr>
        <p:spPr>
          <a:xfrm>
            <a:off x="1394708" y="973136"/>
            <a:ext cx="8522350" cy="10129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800"/>
              <a:buNone/>
            </a:pPr>
            <a:r>
              <a:rPr lang="en-US" sz="2800" dirty="0"/>
              <a:t>Software / Hardware Requirements</a:t>
            </a:r>
            <a:endParaRPr sz="2800" dirty="0"/>
          </a:p>
        </p:txBody>
      </p:sp>
      <p:sp>
        <p:nvSpPr>
          <p:cNvPr id="157" name="Google Shape;157;g3156b7084ef_0_8"/>
          <p:cNvSpPr txBox="1">
            <a:spLocks noGrp="1"/>
          </p:cNvSpPr>
          <p:nvPr>
            <p:ph idx="1"/>
          </p:nvPr>
        </p:nvSpPr>
        <p:spPr>
          <a:xfrm>
            <a:off x="1394708" y="2082996"/>
            <a:ext cx="8761500" cy="3416400"/>
          </a:xfrm>
          <a:prstGeom prst="rect">
            <a:avLst/>
          </a:prstGeom>
          <a:noFill/>
          <a:ln>
            <a:noFill/>
          </a:ln>
        </p:spPr>
        <p:txBody>
          <a:bodyPr spcFirstLastPara="1" wrap="square" lIns="91425" tIns="45700" rIns="91425" bIns="45700" anchor="t" anchorCtr="0">
            <a:noAutofit/>
          </a:bodyPr>
          <a:lstStyle/>
          <a:p>
            <a:pPr marL="0" indent="0">
              <a:buNone/>
            </a:pPr>
            <a:r>
              <a:rPr lang="en-US" b="1" dirty="0"/>
              <a:t>Software Requirements</a:t>
            </a:r>
          </a:p>
          <a:p>
            <a:r>
              <a:rPr lang="en-US" b="1" dirty="0"/>
              <a:t>Programming Language:</a:t>
            </a:r>
            <a:r>
              <a:rPr lang="en-US" dirty="0"/>
              <a:t> Python</a:t>
            </a:r>
          </a:p>
          <a:p>
            <a:r>
              <a:rPr lang="en-US" b="1" dirty="0"/>
              <a:t>Framework:</a:t>
            </a:r>
            <a:r>
              <a:rPr lang="en-US" dirty="0"/>
              <a:t> </a:t>
            </a:r>
            <a:r>
              <a:rPr lang="en-US" dirty="0" err="1"/>
              <a:t>Streamlit</a:t>
            </a:r>
            <a:endParaRPr lang="en-US" dirty="0"/>
          </a:p>
          <a:p>
            <a:r>
              <a:rPr lang="en-US" b="1" dirty="0"/>
              <a:t>Libraries:</a:t>
            </a:r>
            <a:r>
              <a:rPr lang="en-US" dirty="0"/>
              <a:t> Pandas, NumPy, Scikit-learn</a:t>
            </a:r>
          </a:p>
          <a:p>
            <a:r>
              <a:rPr lang="en-US" b="1" dirty="0"/>
              <a:t>NLP Libraries</a:t>
            </a:r>
            <a:r>
              <a:rPr lang="en-US" dirty="0"/>
              <a:t>: Transformers, NLTK / </a:t>
            </a:r>
            <a:r>
              <a:rPr lang="en-US" dirty="0" err="1"/>
              <a:t>spaCy</a:t>
            </a:r>
            <a:endParaRPr lang="en-US" dirty="0"/>
          </a:p>
          <a:p>
            <a:r>
              <a:rPr lang="en-US" b="1" dirty="0"/>
              <a:t>Database / Data Storage:</a:t>
            </a:r>
            <a:r>
              <a:rPr lang="en-US" dirty="0"/>
              <a:t> CSV / JSON dataset, MongoDB</a:t>
            </a:r>
          </a:p>
          <a:p>
            <a:r>
              <a:rPr lang="en-US" b="1" dirty="0"/>
              <a:t>Development Tools:</a:t>
            </a:r>
            <a:r>
              <a:rPr lang="en-US" dirty="0"/>
              <a:t> VS Code / </a:t>
            </a:r>
            <a:r>
              <a:rPr lang="en-US" dirty="0" err="1"/>
              <a:t>Jupyter</a:t>
            </a:r>
            <a:r>
              <a:rPr lang="en-US" dirty="0"/>
              <a:t> Notebook</a:t>
            </a:r>
          </a:p>
          <a:p>
            <a:pPr marL="0" indent="0">
              <a:buNone/>
            </a:pPr>
            <a:br>
              <a:rPr lang="en-US" dirty="0"/>
            </a:br>
            <a:r>
              <a:rPr lang="en-US" dirty="0"/>
              <a:t> </a:t>
            </a:r>
            <a:br>
              <a:rPr lang="en-US" dirty="0"/>
            </a:br>
            <a:endParaRPr lang="en-US" dirty="0"/>
          </a:p>
          <a:p>
            <a:pPr marL="0" lvl="0" indent="0" algn="l" rtl="0">
              <a:lnSpc>
                <a:spcPct val="100000"/>
              </a:lnSpc>
              <a:spcBef>
                <a:spcPts val="1000"/>
              </a:spcBef>
              <a:spcAft>
                <a:spcPts val="0"/>
              </a:spcAft>
              <a:buSzPts val="1440"/>
              <a:buNone/>
            </a:pPr>
            <a:endParaRPr dirty="0"/>
          </a:p>
        </p:txBody>
      </p:sp>
      <p:sp>
        <p:nvSpPr>
          <p:cNvPr id="158" name="Google Shape;158;g3156b7084ef_0_8"/>
          <p:cNvSpPr txBox="1">
            <a:spLocks noGrp="1"/>
          </p:cNvSpPr>
          <p:nvPr>
            <p:ph type="sldNum" sz="quarter" idx="12"/>
          </p:nvPr>
        </p:nvSpPr>
        <p:spPr>
          <a:xfrm>
            <a:off x="10339387" y="152400"/>
            <a:ext cx="838200" cy="479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F092-42F2-6041-E5E4-669487F3FB7A}"/>
              </a:ext>
            </a:extLst>
          </p:cNvPr>
          <p:cNvSpPr>
            <a:spLocks noGrp="1"/>
          </p:cNvSpPr>
          <p:nvPr>
            <p:ph type="title"/>
          </p:nvPr>
        </p:nvSpPr>
        <p:spPr/>
        <p:txBody>
          <a:bodyPr/>
          <a:lstStyle/>
          <a:p>
            <a:r>
              <a:rPr lang="en-US" dirty="0"/>
              <a:t>Software / Hardware Requirements</a:t>
            </a:r>
            <a:endParaRPr lang="en-IN" dirty="0"/>
          </a:p>
        </p:txBody>
      </p:sp>
      <p:sp>
        <p:nvSpPr>
          <p:cNvPr id="3" name="Content Placeholder 2">
            <a:extLst>
              <a:ext uri="{FF2B5EF4-FFF2-40B4-BE49-F238E27FC236}">
                <a16:creationId xmlns:a16="http://schemas.microsoft.com/office/drawing/2014/main" id="{85E2AB49-EBAF-5ABF-A6F2-54FCF68B5E60}"/>
              </a:ext>
            </a:extLst>
          </p:cNvPr>
          <p:cNvSpPr>
            <a:spLocks noGrp="1"/>
          </p:cNvSpPr>
          <p:nvPr>
            <p:ph idx="1"/>
          </p:nvPr>
        </p:nvSpPr>
        <p:spPr/>
        <p:txBody>
          <a:bodyPr/>
          <a:lstStyle/>
          <a:p>
            <a:r>
              <a:rPr lang="en-US" b="1" dirty="0"/>
              <a:t>Operating System:</a:t>
            </a:r>
            <a:r>
              <a:rPr lang="en-US" dirty="0"/>
              <a:t> Windows / Linux / macOS</a:t>
            </a:r>
          </a:p>
          <a:p>
            <a:r>
              <a:rPr lang="en-US" b="1" dirty="0"/>
              <a:t>Chatbot Module</a:t>
            </a:r>
            <a:r>
              <a:rPr lang="en-US" dirty="0"/>
              <a:t>: NLP-based Conversational System</a:t>
            </a:r>
          </a:p>
          <a:p>
            <a:r>
              <a:rPr lang="en-US" b="1" dirty="0"/>
              <a:t>APIs</a:t>
            </a:r>
            <a:r>
              <a:rPr lang="en-US" dirty="0"/>
              <a:t>: Translation API (for multilingual support)</a:t>
            </a:r>
          </a:p>
        </p:txBody>
      </p:sp>
    </p:spTree>
    <p:extLst>
      <p:ext uri="{BB962C8B-B14F-4D97-AF65-F5344CB8AC3E}">
        <p14:creationId xmlns:p14="http://schemas.microsoft.com/office/powerpoint/2010/main" val="1210310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743" y="1248697"/>
            <a:ext cx="8322326" cy="540774"/>
          </a:xfrm>
        </p:spPr>
        <p:txBody>
          <a:bodyPr/>
          <a:lstStyle/>
          <a:p>
            <a:r>
              <a:rPr lang="en-US" dirty="0"/>
              <a:t>     </a:t>
            </a:r>
            <a:r>
              <a:rPr lang="en-US" sz="2800" dirty="0"/>
              <a:t>Software / Hardware Requirements</a:t>
            </a:r>
            <a:endParaRPr lang="en-US" dirty="0"/>
          </a:p>
        </p:txBody>
      </p:sp>
      <p:sp>
        <p:nvSpPr>
          <p:cNvPr id="3" name="Content Placeholder 2"/>
          <p:cNvSpPr>
            <a:spLocks noGrp="1"/>
          </p:cNvSpPr>
          <p:nvPr>
            <p:ph idx="1"/>
          </p:nvPr>
        </p:nvSpPr>
        <p:spPr/>
        <p:txBody>
          <a:bodyPr/>
          <a:lstStyle/>
          <a:p>
            <a:pPr marL="0" indent="0">
              <a:buNone/>
            </a:pPr>
            <a:r>
              <a:rPr lang="en-US" b="1" dirty="0"/>
              <a:t>Hardware Requirements</a:t>
            </a:r>
          </a:p>
          <a:p>
            <a:r>
              <a:rPr lang="en-US" b="1" dirty="0"/>
              <a:t>Processor:</a:t>
            </a:r>
            <a:r>
              <a:rPr lang="en-US" dirty="0"/>
              <a:t> Intel i5 or higher</a:t>
            </a:r>
          </a:p>
          <a:p>
            <a:r>
              <a:rPr lang="en-US" b="1" dirty="0"/>
              <a:t>RAM:</a:t>
            </a:r>
            <a:r>
              <a:rPr lang="en-US" dirty="0"/>
              <a:t> Minimum 4 GB (8 GB recommended)</a:t>
            </a:r>
          </a:p>
          <a:p>
            <a:r>
              <a:rPr lang="en-US" b="1" dirty="0"/>
              <a:t>Storage:</a:t>
            </a:r>
            <a:r>
              <a:rPr lang="en-US" dirty="0"/>
              <a:t> At least 10 GB free space</a:t>
            </a:r>
          </a:p>
          <a:p>
            <a:r>
              <a:rPr lang="en-US" b="1" dirty="0"/>
              <a:t>Internet Connection:</a:t>
            </a:r>
            <a:r>
              <a:rPr lang="en-US" dirty="0"/>
              <a:t> Required for accessing scheme data, for API usage</a:t>
            </a:r>
          </a:p>
        </p:txBody>
      </p:sp>
      <p:sp>
        <p:nvSpPr>
          <p:cNvPr id="4"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19</a:t>
            </a:r>
            <a:endParaRPr dirty="0"/>
          </a:p>
        </p:txBody>
      </p:sp>
    </p:spTree>
    <p:extLst>
      <p:ext uri="{BB962C8B-B14F-4D97-AF65-F5344CB8AC3E}">
        <p14:creationId xmlns:p14="http://schemas.microsoft.com/office/powerpoint/2010/main" val="2728041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0d9c4f0da6_0_39"/>
          <p:cNvSpPr txBox="1">
            <a:spLocks noGrp="1"/>
          </p:cNvSpPr>
          <p:nvPr>
            <p:ph type="title"/>
          </p:nvPr>
        </p:nvSpPr>
        <p:spPr>
          <a:xfrm>
            <a:off x="1435510" y="1209367"/>
            <a:ext cx="8481548" cy="69809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800"/>
              <a:buNone/>
            </a:pPr>
            <a:r>
              <a:rPr lang="en-US" sz="2800" dirty="0"/>
              <a:t>References</a:t>
            </a:r>
            <a:endParaRPr sz="2800" dirty="0"/>
          </a:p>
        </p:txBody>
      </p:sp>
      <p:sp>
        <p:nvSpPr>
          <p:cNvPr id="166" name="Google Shape;166;g30d9c4f0da6_0_39"/>
          <p:cNvSpPr txBox="1">
            <a:spLocks noGrp="1"/>
          </p:cNvSpPr>
          <p:nvPr>
            <p:ph type="sldNum" sz="quarter" idx="12"/>
          </p:nvPr>
        </p:nvSpPr>
        <p:spPr>
          <a:xfrm>
            <a:off x="10339387" y="152400"/>
            <a:ext cx="838200" cy="479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2800"/>
              <a:buFont typeface="Century Gothic"/>
              <a:buNone/>
            </a:pPr>
            <a:fld id="{00000000-1234-1234-1234-123412341234}" type="slidenum">
              <a:rPr lang="en-US"/>
              <a:t>21</a:t>
            </a:fld>
            <a:endParaRPr/>
          </a:p>
        </p:txBody>
      </p:sp>
      <p:sp>
        <p:nvSpPr>
          <p:cNvPr id="23" name="Rectangle 15"/>
          <p:cNvSpPr>
            <a:spLocks noChangeArrowheads="1"/>
          </p:cNvSpPr>
          <p:nvPr/>
        </p:nvSpPr>
        <p:spPr bwMode="auto">
          <a:xfrm rot="10800000" flipV="1">
            <a:off x="1326906" y="2111561"/>
            <a:ext cx="9850681" cy="3323987"/>
          </a:xfrm>
          <a:prstGeom prst="rect">
            <a:avLst/>
          </a:prstGeom>
          <a:solidFill>
            <a:schemeClr val="bg1">
              <a:lumMod val="85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14400"/>
            <a:r>
              <a:rPr lang="en-US" sz="1400" dirty="0">
                <a:latin typeface="+mn-lt"/>
              </a:rPr>
              <a:t>[1] S. </a:t>
            </a:r>
            <a:r>
              <a:rPr lang="en-US" sz="1400" dirty="0" err="1">
                <a:latin typeface="+mn-lt"/>
              </a:rPr>
              <a:t>Yellisetti</a:t>
            </a:r>
            <a:r>
              <a:rPr lang="en-US" sz="1400" dirty="0">
                <a:latin typeface="+mn-lt"/>
              </a:rPr>
              <a:t>, P. V. N. R. </a:t>
            </a:r>
            <a:r>
              <a:rPr lang="en-US" sz="1400" dirty="0" err="1">
                <a:latin typeface="+mn-lt"/>
              </a:rPr>
              <a:t>Chowdary</a:t>
            </a:r>
            <a:r>
              <a:rPr lang="en-US" sz="1400" dirty="0">
                <a:latin typeface="+mn-lt"/>
              </a:rPr>
              <a:t>, M. A. </a:t>
            </a:r>
            <a:r>
              <a:rPr lang="en-US" sz="1400" dirty="0" err="1">
                <a:latin typeface="+mn-lt"/>
              </a:rPr>
              <a:t>Priya</a:t>
            </a:r>
            <a:r>
              <a:rPr lang="en-US" sz="1400" dirty="0">
                <a:latin typeface="+mn-lt"/>
              </a:rPr>
              <a:t>, and R. L. </a:t>
            </a:r>
            <a:r>
              <a:rPr lang="en-US" sz="1400" dirty="0" err="1">
                <a:latin typeface="+mn-lt"/>
              </a:rPr>
              <a:t>Sravanthi</a:t>
            </a:r>
            <a:r>
              <a:rPr lang="en-US" sz="1400" dirty="0">
                <a:latin typeface="+mn-lt"/>
              </a:rPr>
              <a:t>, “Creation of Web Based Eligibility System for Government Programs,” 2023 3rd International Conference on Smart Data Intelligence (ICSMDI), 2023. </a:t>
            </a:r>
          </a:p>
          <a:p>
            <a:pPr algn="just" defTabSz="914400"/>
            <a:r>
              <a:rPr lang="en-US" sz="1400" dirty="0">
                <a:latin typeface="+mn-lt"/>
              </a:rPr>
              <a:t>DOI: https://doi.org/10.1109/ICSMDI57622.2023.00030</a:t>
            </a:r>
          </a:p>
          <a:p>
            <a:pPr algn="just" defTabSz="914400"/>
            <a:endParaRPr lang="en-US" altLang="en-US" sz="1400" dirty="0">
              <a:latin typeface="+mn-lt"/>
            </a:endParaRPr>
          </a:p>
          <a:p>
            <a:pPr lvl="0" algn="just" defTabSz="914400"/>
            <a:r>
              <a:rPr lang="en-US" altLang="en-US" sz="1400" dirty="0">
                <a:latin typeface="+mn-lt"/>
              </a:rPr>
              <a:t>[2] G. </a:t>
            </a:r>
            <a:r>
              <a:rPr lang="en-US" altLang="en-US" sz="1400" dirty="0" err="1">
                <a:latin typeface="+mn-lt"/>
              </a:rPr>
              <a:t>Nanthakumar</a:t>
            </a:r>
            <a:r>
              <a:rPr lang="en-US" altLang="en-US" sz="1400" dirty="0">
                <a:latin typeface="+mn-lt"/>
              </a:rPr>
              <a:t>, K. </a:t>
            </a:r>
            <a:r>
              <a:rPr lang="en-US" altLang="en-US" sz="1400" dirty="0" err="1">
                <a:latin typeface="+mn-lt"/>
              </a:rPr>
              <a:t>Pazhanivel</a:t>
            </a:r>
            <a:r>
              <a:rPr lang="en-US" altLang="en-US" sz="1400" dirty="0">
                <a:latin typeface="+mn-lt"/>
              </a:rPr>
              <a:t>, R. </a:t>
            </a:r>
            <a:r>
              <a:rPr lang="en-US" altLang="en-US" sz="1400" dirty="0" err="1">
                <a:latin typeface="+mn-lt"/>
              </a:rPr>
              <a:t>Saivasanth</a:t>
            </a:r>
            <a:r>
              <a:rPr lang="en-US" altLang="en-US" sz="1400" dirty="0">
                <a:latin typeface="+mn-lt"/>
              </a:rPr>
              <a:t>, R. M. Sri Hari, and R. </a:t>
            </a:r>
            <a:r>
              <a:rPr lang="en-US" altLang="en-US" sz="1400" dirty="0" err="1">
                <a:latin typeface="+mn-lt"/>
              </a:rPr>
              <a:t>Vignesh</a:t>
            </a:r>
            <a:r>
              <a:rPr lang="en-US" altLang="en-US" sz="1400" dirty="0">
                <a:latin typeface="+mn-lt"/>
              </a:rPr>
              <a:t>, </a:t>
            </a:r>
          </a:p>
          <a:p>
            <a:pPr lvl="0" algn="just" defTabSz="914400"/>
            <a:r>
              <a:rPr lang="en-US" altLang="en-US" sz="1400" dirty="0">
                <a:latin typeface="+mn-lt"/>
              </a:rPr>
              <a:t>“Government Schemes </a:t>
            </a:r>
            <a:r>
              <a:rPr lang="en-US" altLang="en-US" sz="1400" dirty="0" err="1">
                <a:latin typeface="+mn-lt"/>
              </a:rPr>
              <a:t>Chatbot</a:t>
            </a:r>
            <a:r>
              <a:rPr lang="en-US" altLang="en-US" sz="1400" dirty="0">
                <a:latin typeface="+mn-lt"/>
              </a:rPr>
              <a:t> Using Machine Learning,” </a:t>
            </a:r>
          </a:p>
          <a:p>
            <a:pPr lvl="0" algn="just" defTabSz="914400"/>
            <a:r>
              <a:rPr lang="en-US" altLang="en-US" sz="1400" dirty="0">
                <a:latin typeface="+mn-lt"/>
              </a:rPr>
              <a:t>International Journal of Advanced Research in Science, Communication and Technology (IJARSCT), </a:t>
            </a:r>
          </a:p>
          <a:p>
            <a:pPr lvl="0" algn="just" defTabSz="914400"/>
            <a:r>
              <a:rPr lang="en-US" altLang="en-US" sz="1400" dirty="0">
                <a:latin typeface="+mn-lt"/>
              </a:rPr>
              <a:t>Vol. 4, Issue 6, 2024. DOI: https://doi.org/10.48175/IJARSCT-17664</a:t>
            </a:r>
          </a:p>
          <a:p>
            <a:pPr lvl="0" algn="just" defTabSz="914400"/>
            <a:endParaRPr lang="en-US" altLang="en-US" sz="1400" dirty="0">
              <a:latin typeface="+mn-lt"/>
            </a:endParaRPr>
          </a:p>
          <a:p>
            <a:pPr lvl="0" algn="just" defTabSz="914400"/>
            <a:r>
              <a:rPr lang="en-US" altLang="en-US" sz="1400" dirty="0">
                <a:latin typeface="+mn-lt"/>
              </a:rPr>
              <a:t>[3] S. </a:t>
            </a:r>
            <a:r>
              <a:rPr lang="en-US" altLang="en-US" sz="1400" dirty="0" err="1">
                <a:latin typeface="+mn-lt"/>
              </a:rPr>
              <a:t>Rokade</a:t>
            </a:r>
            <a:r>
              <a:rPr lang="en-US" altLang="en-US" sz="1400" dirty="0">
                <a:latin typeface="+mn-lt"/>
              </a:rPr>
              <a:t>, A. </a:t>
            </a:r>
            <a:r>
              <a:rPr lang="en-US" altLang="en-US" sz="1400" dirty="0" err="1">
                <a:latin typeface="+mn-lt"/>
              </a:rPr>
              <a:t>Sitaphale</a:t>
            </a:r>
            <a:r>
              <a:rPr lang="en-US" altLang="en-US" sz="1400" dirty="0">
                <a:latin typeface="+mn-lt"/>
              </a:rPr>
              <a:t>, U. </a:t>
            </a:r>
            <a:r>
              <a:rPr lang="en-US" altLang="en-US" sz="1400" dirty="0" err="1">
                <a:latin typeface="+mn-lt"/>
              </a:rPr>
              <a:t>Nimbal</a:t>
            </a:r>
            <a:r>
              <a:rPr lang="en-US" altLang="en-US" sz="1400" dirty="0">
                <a:latin typeface="+mn-lt"/>
              </a:rPr>
              <a:t>, M. Konda, and A. </a:t>
            </a:r>
            <a:r>
              <a:rPr lang="en-US" altLang="en-US" sz="1400" dirty="0" err="1">
                <a:latin typeface="+mn-lt"/>
              </a:rPr>
              <a:t>Hosale</a:t>
            </a:r>
            <a:r>
              <a:rPr lang="en-US" altLang="en-US" sz="1400" dirty="0">
                <a:latin typeface="+mn-lt"/>
              </a:rPr>
              <a:t>, </a:t>
            </a:r>
          </a:p>
          <a:p>
            <a:pPr lvl="0" algn="just" defTabSz="914400"/>
            <a:r>
              <a:rPr lang="en-US" altLang="en-US" sz="1400" dirty="0">
                <a:latin typeface="+mn-lt"/>
              </a:rPr>
              <a:t>“Government Schemes Recommendation System: Integrating NLP, AI and Citizen Data for Smart Welfare Assistance,” </a:t>
            </a:r>
          </a:p>
          <a:p>
            <a:pPr lvl="0" algn="just" defTabSz="914400"/>
            <a:r>
              <a:rPr lang="en-US" altLang="en-US" sz="1400" dirty="0">
                <a:latin typeface="+mn-lt"/>
              </a:rPr>
              <a:t>International Journal of Scientific Research and Engineering Development (IJSRED), 2024.</a:t>
            </a:r>
          </a:p>
          <a:p>
            <a:pPr lvl="0" algn="just" defTabSz="914400"/>
            <a:endParaRPr lang="en-US" altLang="en-US" sz="1400" dirty="0">
              <a:latin typeface="+mn-lt"/>
            </a:endParaRPr>
          </a:p>
          <a:p>
            <a:pPr lvl="0" algn="just" defTabSz="914400"/>
            <a:endParaRPr lang="en-US" altLang="en-US" sz="1400" dirty="0">
              <a:solidFill>
                <a:schemeClr val="tx2"/>
              </a:solidFill>
              <a:latin typeface="+mn-lt"/>
            </a:endParaRPr>
          </a:p>
          <a:p>
            <a:pPr lvl="0" algn="just" defTabSz="914400"/>
            <a:r>
              <a:rPr lang="en-US" altLang="en-US" sz="1400" dirty="0">
                <a:solidFill>
                  <a:srgbClr val="303030"/>
                </a:solidFill>
                <a:latin typeface="+mn-lt"/>
              </a:rPr>
              <a:t> </a:t>
            </a:r>
            <a:endParaRPr kumimoji="0" lang="en-US" altLang="en-US" sz="1400" i="0" u="none" strike="noStrike" cap="none" normalizeH="0" baseline="0" dirty="0">
              <a:ln>
                <a:noFill/>
              </a:ln>
              <a:solidFill>
                <a:schemeClr val="tx1"/>
              </a:solidFill>
              <a:effectLst/>
              <a:latin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9715" y="1327355"/>
            <a:ext cx="10292592" cy="570271"/>
          </a:xfrm>
        </p:spPr>
        <p:txBody>
          <a:bodyPr>
            <a:normAutofit/>
          </a:bodyPr>
          <a:lstStyle/>
          <a:p>
            <a:r>
              <a:rPr lang="en-US" sz="2800" dirty="0"/>
              <a:t>References</a:t>
            </a:r>
          </a:p>
        </p:txBody>
      </p:sp>
      <p:sp>
        <p:nvSpPr>
          <p:cNvPr id="3" name="Content Placeholder 2"/>
          <p:cNvSpPr>
            <a:spLocks noGrp="1"/>
          </p:cNvSpPr>
          <p:nvPr>
            <p:ph idx="1"/>
          </p:nvPr>
        </p:nvSpPr>
        <p:spPr>
          <a:xfrm>
            <a:off x="1479714" y="2072004"/>
            <a:ext cx="9603275" cy="3695750"/>
          </a:xfrm>
        </p:spPr>
        <p:txBody>
          <a:bodyPr>
            <a:noAutofit/>
          </a:bodyPr>
          <a:lstStyle/>
          <a:p>
            <a:pPr marL="0" lvl="0" indent="0" algn="just">
              <a:buNone/>
            </a:pPr>
            <a:r>
              <a:rPr lang="en-US" sz="1400" dirty="0"/>
              <a:t>[4]</a:t>
            </a:r>
            <a:r>
              <a:rPr lang="en-US" altLang="en-US" sz="1400" dirty="0"/>
              <a:t>A. </a:t>
            </a:r>
            <a:r>
              <a:rPr lang="en-US" altLang="en-US" sz="1400" dirty="0" err="1"/>
              <a:t>Ramathilagam</a:t>
            </a:r>
            <a:r>
              <a:rPr lang="en-US" altLang="en-US" sz="1400" dirty="0"/>
              <a:t>, T. </a:t>
            </a:r>
            <a:r>
              <a:rPr lang="en-US" altLang="en-US" sz="1400" dirty="0" err="1"/>
              <a:t>Vignesh</a:t>
            </a:r>
            <a:r>
              <a:rPr lang="en-US" altLang="en-US" sz="1400" dirty="0"/>
              <a:t>, A. </a:t>
            </a:r>
            <a:r>
              <a:rPr lang="en-US" altLang="en-US" sz="1400" dirty="0" err="1"/>
              <a:t>Abirannatham</a:t>
            </a:r>
            <a:r>
              <a:rPr lang="en-US" altLang="en-US" sz="1400" dirty="0"/>
              <a:t>, S. Nova, and E. Pandian, “AI-Driven Conversational Agent for Enhancing Government Schemes,” 2025 International Conference on Computational Innovations and Engineering Sustainability (ICICIES), 2025. DOI: https://doi.org/10.1109/ICICIES63851.2025.11033042</a:t>
            </a:r>
            <a:endParaRPr lang="en-US" sz="1400" dirty="0"/>
          </a:p>
          <a:p>
            <a:pPr marL="0" indent="0">
              <a:buNone/>
            </a:pPr>
            <a:r>
              <a:rPr lang="en-US" sz="1400" dirty="0"/>
              <a:t>[5] G. </a:t>
            </a:r>
            <a:r>
              <a:rPr lang="en-US" sz="1400" dirty="0" err="1"/>
              <a:t>Kalaiselvi</a:t>
            </a:r>
            <a:r>
              <a:rPr lang="en-US" sz="1400" dirty="0"/>
              <a:t>, N. </a:t>
            </a:r>
            <a:r>
              <a:rPr lang="en-US" sz="1400" dirty="0" err="1"/>
              <a:t>Monisha</a:t>
            </a:r>
            <a:r>
              <a:rPr lang="en-US" sz="1400" dirty="0"/>
              <a:t>, T. </a:t>
            </a:r>
            <a:r>
              <a:rPr lang="en-US" sz="1400" dirty="0" err="1"/>
              <a:t>Kasthuri</a:t>
            </a:r>
            <a:r>
              <a:rPr lang="en-US" sz="1400" dirty="0"/>
              <a:t>, and P. </a:t>
            </a:r>
            <a:r>
              <a:rPr lang="en-US" sz="1400" dirty="0" err="1"/>
              <a:t>Devadharshini</a:t>
            </a:r>
            <a:r>
              <a:rPr lang="en-US" sz="1400" dirty="0"/>
              <a:t>, “CitizenConnectBot (CCB): The Interactive Guide to Government Schemes,” International Journal of Science and Research Archive, Vol. 12, Issue 01,2024.DOI:https://doi.org/10.30574/ijsra.2024.12.1.0757</a:t>
            </a:r>
          </a:p>
          <a:p>
            <a:pPr marL="0" indent="0" algn="just">
              <a:buNone/>
            </a:pPr>
            <a:r>
              <a:rPr lang="en-US" sz="1400" dirty="0"/>
              <a:t>[6] S. R. </a:t>
            </a:r>
            <a:r>
              <a:rPr lang="en-US" sz="1400" dirty="0" err="1"/>
              <a:t>Naresh</a:t>
            </a:r>
            <a:r>
              <a:rPr lang="en-US" sz="1400" dirty="0"/>
              <a:t>, M. </a:t>
            </a:r>
            <a:r>
              <a:rPr lang="en-US" sz="1400" dirty="0" err="1"/>
              <a:t>Gopika</a:t>
            </a:r>
            <a:r>
              <a:rPr lang="en-US" sz="1400" dirty="0"/>
              <a:t>, M. </a:t>
            </a:r>
            <a:r>
              <a:rPr lang="en-US" sz="1400" dirty="0" err="1"/>
              <a:t>Haryni</a:t>
            </a:r>
            <a:r>
              <a:rPr lang="en-US" sz="1400" dirty="0"/>
              <a:t>, R. J. </a:t>
            </a:r>
            <a:r>
              <a:rPr lang="en-US" sz="1400" dirty="0" err="1"/>
              <a:t>Rajakiruba</a:t>
            </a:r>
            <a:r>
              <a:rPr lang="en-US" sz="1400" dirty="0"/>
              <a:t>, and S. A. U. Lakshmi, “Bridging Government Schemes with Citizens for Inclusive Governance,” International Journal of Innovative Research in Science, Engineering and Technology (IJIRSET), Vol. 14, Issue 6, 2025. DOI: https://doi.org/10.15680/IJIRSET.2025.1406213</a:t>
            </a:r>
          </a:p>
          <a:p>
            <a:pPr marL="0" indent="0" algn="just">
              <a:buNone/>
            </a:pPr>
            <a:r>
              <a:rPr lang="en-US" sz="1400" dirty="0"/>
              <a:t>[7] K. </a:t>
            </a:r>
            <a:r>
              <a:rPr lang="en-US" sz="1400" dirty="0" err="1"/>
              <a:t>Sowndharya</a:t>
            </a:r>
            <a:r>
              <a:rPr lang="en-US" sz="1400" dirty="0"/>
              <a:t>, M. M, S. M. </a:t>
            </a:r>
            <a:r>
              <a:rPr lang="en-US" sz="1400" dirty="0" err="1"/>
              <a:t>Srinikethan</a:t>
            </a:r>
            <a:r>
              <a:rPr lang="en-US" sz="1400" dirty="0"/>
              <a:t>, and J. Stephen, “Government Scheme Navigator </a:t>
            </a:r>
            <a:r>
              <a:rPr lang="en-US" sz="1400" dirty="0" err="1"/>
              <a:t>Chatbot</a:t>
            </a:r>
            <a:r>
              <a:rPr lang="en-US" sz="1400" dirty="0"/>
              <a:t>,” International Journal of Advanced Research in Science, Communication and Technology (IJARSCT), Vol. 4, Issue 5, 2024. DOI: https://doi.org/10.48175/IJARSCT-17572</a:t>
            </a:r>
          </a:p>
          <a:p>
            <a:endParaRPr lang="en-US" sz="1400" dirty="0"/>
          </a:p>
          <a:p>
            <a:pPr marL="0" indent="0">
              <a:buNone/>
            </a:pPr>
            <a:r>
              <a:rPr lang="en-US" sz="1400" dirty="0"/>
              <a:t> </a:t>
            </a:r>
          </a:p>
        </p:txBody>
      </p:sp>
      <p:sp>
        <p:nvSpPr>
          <p:cNvPr id="4"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21</a:t>
            </a:r>
            <a:endParaRPr dirty="0"/>
          </a:p>
        </p:txBody>
      </p:sp>
    </p:spTree>
    <p:extLst>
      <p:ext uri="{BB962C8B-B14F-4D97-AF65-F5344CB8AC3E}">
        <p14:creationId xmlns:p14="http://schemas.microsoft.com/office/powerpoint/2010/main" val="2035779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80" y="1310045"/>
            <a:ext cx="10180050" cy="479425"/>
          </a:xfrm>
        </p:spPr>
        <p:txBody>
          <a:bodyPr>
            <a:normAutofit/>
          </a:bodyPr>
          <a:lstStyle/>
          <a:p>
            <a:r>
              <a:rPr lang="en-US" sz="2800" dirty="0"/>
              <a:t>References</a:t>
            </a:r>
          </a:p>
        </p:txBody>
      </p:sp>
      <p:sp>
        <p:nvSpPr>
          <p:cNvPr id="3" name="Content Placeholder 2"/>
          <p:cNvSpPr>
            <a:spLocks noGrp="1"/>
          </p:cNvSpPr>
          <p:nvPr>
            <p:ph idx="1"/>
          </p:nvPr>
        </p:nvSpPr>
        <p:spPr/>
        <p:txBody>
          <a:bodyPr>
            <a:normAutofit/>
          </a:bodyPr>
          <a:lstStyle/>
          <a:p>
            <a:pPr marL="0" indent="0">
              <a:buNone/>
            </a:pPr>
            <a:r>
              <a:rPr lang="en-US" sz="1400" dirty="0"/>
              <a:t>[8]M. </a:t>
            </a:r>
            <a:r>
              <a:rPr lang="en-US" sz="1400" dirty="0" err="1"/>
              <a:t>Rajpoot</a:t>
            </a:r>
            <a:r>
              <a:rPr lang="en-US" sz="1400" dirty="0"/>
              <a:t>, A. Thakur, and S. Kumar, “Government Schemes AI Recommendation System,” Preprints.org, 2025. DOI: https://doi.org/10.20944/preprints202504.1697.v1</a:t>
            </a:r>
          </a:p>
          <a:p>
            <a:pPr marL="0" indent="0">
              <a:buNone/>
            </a:pPr>
            <a:r>
              <a:rPr lang="en-US" sz="1400" dirty="0"/>
              <a:t>[9] P. </a:t>
            </a:r>
            <a:r>
              <a:rPr lang="en-US" sz="1400" dirty="0" err="1"/>
              <a:t>Thiyagarajan</a:t>
            </a:r>
            <a:r>
              <a:rPr lang="en-US" sz="1400" dirty="0"/>
              <a:t>, G. </a:t>
            </a:r>
            <a:r>
              <a:rPr lang="en-US" sz="1400" dirty="0" err="1"/>
              <a:t>Tamizhanban</a:t>
            </a:r>
            <a:r>
              <a:rPr lang="en-US" sz="1400" dirty="0"/>
              <a:t>, A. </a:t>
            </a:r>
            <a:r>
              <a:rPr lang="en-US" sz="1400" dirty="0" err="1"/>
              <a:t>Nandhakumar</a:t>
            </a:r>
            <a:r>
              <a:rPr lang="en-US" sz="1400" dirty="0"/>
              <a:t>, and G. V. Reddy, “AI-Driven Welfare Scheme Assistance and Management System,” International Journal of Research Publication and Reviews, Vol. 6, Issue 4, 2025.</a:t>
            </a:r>
          </a:p>
          <a:p>
            <a:pPr marL="0" indent="0">
              <a:buNone/>
            </a:pPr>
            <a:r>
              <a:rPr lang="en-US" sz="1400" dirty="0"/>
              <a:t>[10] R. </a:t>
            </a:r>
            <a:r>
              <a:rPr lang="en-US" sz="1400" dirty="0" err="1"/>
              <a:t>Verma</a:t>
            </a:r>
            <a:r>
              <a:rPr lang="en-US" sz="1400" dirty="0"/>
              <a:t>, S. Kapoor, and K. Jain, “Intelligent and Innovative Approaches to Delivering Social Welfare Schemes in India: Leveraging Artificial Intelligence for Public Impact,” 2024 International Conference on Intelligent &amp; Innovative Practices in Engineering &amp; Management (IIPEM), 2024. DOI: https://doi.org/10.1109/IIPEM62726.2024.10925656</a:t>
            </a:r>
          </a:p>
          <a:p>
            <a:pPr marL="0" indent="0">
              <a:buNone/>
            </a:pPr>
            <a:endParaRPr lang="en-US" dirty="0"/>
          </a:p>
        </p:txBody>
      </p:sp>
      <p:sp>
        <p:nvSpPr>
          <p:cNvPr id="4" name="Google Shape;88;p37"/>
          <p:cNvSpPr txBox="1">
            <a:spLocks noGrp="1"/>
          </p:cNvSpPr>
          <p:nvPr>
            <p:ph type="sldNum" sz="quarter" idx="12"/>
          </p:nvPr>
        </p:nvSpPr>
        <p:spPr>
          <a:xfrm>
            <a:off x="10339387" y="152400"/>
            <a:ext cx="838200" cy="479425"/>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lt1"/>
              </a:buClr>
              <a:buSzPts val="2800"/>
              <a:buFont typeface="Century Gothic"/>
              <a:buNone/>
            </a:pPr>
            <a:r>
              <a:rPr lang="en-US" dirty="0"/>
              <a:t>22</a:t>
            </a:r>
            <a:endParaRPr dirty="0"/>
          </a:p>
        </p:txBody>
      </p:sp>
    </p:spTree>
    <p:extLst>
      <p:ext uri="{BB962C8B-B14F-4D97-AF65-F5344CB8AC3E}">
        <p14:creationId xmlns:p14="http://schemas.microsoft.com/office/powerpoint/2010/main" val="325230105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355</TotalTime>
  <Words>2657</Words>
  <Application>Microsoft Office PowerPoint</Application>
  <PresentationFormat>Widescreen</PresentationFormat>
  <Paragraphs>271</Paragraphs>
  <Slides>23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Century Gothic</vt:lpstr>
      <vt:lpstr>Georgia</vt:lpstr>
      <vt:lpstr>Gill Sans MT</vt:lpstr>
      <vt:lpstr>Times New Roman</vt:lpstr>
      <vt:lpstr>Gallery</vt:lpstr>
      <vt:lpstr>  </vt:lpstr>
      <vt:lpstr>Abstract</vt:lpstr>
      <vt:lpstr>Outline</vt:lpstr>
      <vt:lpstr>Introduction</vt:lpstr>
      <vt:lpstr> Introduction</vt:lpstr>
      <vt:lpstr>Problem Statement</vt:lpstr>
      <vt:lpstr>       Problem Statement</vt:lpstr>
      <vt:lpstr>Objectives</vt:lpstr>
      <vt:lpstr>Base Paper</vt:lpstr>
      <vt:lpstr>Literature Survey - Comparison Chart</vt:lpstr>
      <vt:lpstr>Literature Survey - Comparison Chart</vt:lpstr>
      <vt:lpstr>Literature Survey - Comparison Chart</vt:lpstr>
      <vt:lpstr>Literature Survey - Comparison Chart</vt:lpstr>
      <vt:lpstr>Literature Survey - Comparison Chart</vt:lpstr>
      <vt:lpstr>Literature Survey - Comparison Chart</vt:lpstr>
      <vt:lpstr>Gaps Identification</vt:lpstr>
      <vt:lpstr>Gaps Identification</vt:lpstr>
      <vt:lpstr>Software / Hardware Requirements</vt:lpstr>
      <vt:lpstr>Software / Hardware Requirements</vt:lpstr>
      <vt:lpstr>     Software / Hardware Requirements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ANUSHA JOHNSON</dc:creator>
  <cp:lastModifiedBy>shivam pajiyar</cp:lastModifiedBy>
  <cp:revision>37</cp:revision>
  <dcterms:created xsi:type="dcterms:W3CDTF">2025-04-11T05:24:25Z</dcterms:created>
  <dcterms:modified xsi:type="dcterms:W3CDTF">2026-04-09T17:04:15Z</dcterms:modified>
</cp:coreProperties>
</file>