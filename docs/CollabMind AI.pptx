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embeddedFontLst>
    <p:embeddedFont>
      <p:font typeface="Gill Sans"/>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EA3EFD-C128-48BF-A8A9-2B900AD69DF7}">
  <a:tblStyle styleId="{2FEA3EFD-C128-48BF-A8A9-2B900AD69DF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GillSans-bold.fntdata"/><Relationship Id="rId12" Type="http://schemas.openxmlformats.org/officeDocument/2006/relationships/slide" Target="slides/slide5.xml"/><Relationship Id="rId34" Type="http://schemas.openxmlformats.org/officeDocument/2006/relationships/font" Target="fonts/GillSans-regular.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5449f0c68_4_20: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3" name="Google Shape;143;g3d5449f0c68_4_20: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5449f0c68_4_1: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2" name="Google Shape;152;g3d5449f0c68_4_1: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5449f0c68_2_105:notes"/>
          <p:cNvSpPr txBox="1"/>
          <p:nvPr>
            <p:ph idx="1" type="body"/>
          </p:nvPr>
        </p:nvSpPr>
        <p:spPr>
          <a:xfrm>
            <a:off x="679450" y="4751387"/>
            <a:ext cx="5438775" cy="38893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9" name="Google Shape;159;g3d5449f0c68_2_105: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5449f0c68_2_111:notes"/>
          <p:cNvSpPr txBox="1"/>
          <p:nvPr>
            <p:ph idx="1" type="body"/>
          </p:nvPr>
        </p:nvSpPr>
        <p:spPr>
          <a:xfrm>
            <a:off x="679450" y="4751387"/>
            <a:ext cx="5438775" cy="38893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6" name="Google Shape;166;g3d5449f0c68_2_111: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5449f0c68_2_117:notes"/>
          <p:cNvSpPr txBox="1"/>
          <p:nvPr>
            <p:ph idx="1" type="body"/>
          </p:nvPr>
        </p:nvSpPr>
        <p:spPr>
          <a:xfrm>
            <a:off x="679450" y="4751387"/>
            <a:ext cx="5438775" cy="38893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3" name="Google Shape;173;g3d5449f0c68_2_117: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5449f0c68_2_123:notes"/>
          <p:cNvSpPr txBox="1"/>
          <p:nvPr>
            <p:ph idx="1" type="body"/>
          </p:nvPr>
        </p:nvSpPr>
        <p:spPr>
          <a:xfrm>
            <a:off x="679450" y="4751387"/>
            <a:ext cx="5438775" cy="38893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0" name="Google Shape;180;g3d5449f0c68_2_123: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5449f0c68_2_129:notes"/>
          <p:cNvSpPr txBox="1"/>
          <p:nvPr>
            <p:ph idx="1" type="body"/>
          </p:nvPr>
        </p:nvSpPr>
        <p:spPr>
          <a:xfrm>
            <a:off x="679450" y="4751387"/>
            <a:ext cx="5438775" cy="38893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7" name="Google Shape;187;g3d5449f0c68_2_129: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5449f0c68_2_142: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94" name="Google Shape;194;g3d5449f0c68_2_142: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5" name="Google Shape;195;g3d5449f0c68_2_142: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e39eb6e25_0_0: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03" name="Google Shape;203;g3de39eb6e25_0_0: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4" name="Google Shape;204;g3de39eb6e25_0_0: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39eb6e25_0_10: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12" name="Google Shape;212;g3de39eb6e25_0_10: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3" name="Google Shape;213;g3de39eb6e25_0_10: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e39eb6e25_0_18: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21" name="Google Shape;221;g3de39eb6e25_0_18: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2" name="Google Shape;222;g3de39eb6e25_0_18: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e39eb6e25_0_32: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30" name="Google Shape;230;g3de39eb6e25_0_32: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1" name="Google Shape;231;g3de39eb6e25_0_32: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e39eb6e25_0_43: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39" name="Google Shape;239;g3de39eb6e25_0_43: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0" name="Google Shape;240;g3de39eb6e25_0_43: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e39eb6e25_0_52: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48" name="Google Shape;248;g3de39eb6e25_0_52: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9" name="Google Shape;249;g3de39eb6e25_0_52: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e39eb6e25_0_25: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57" name="Google Shape;257;g3de39eb6e25_0_25: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8" name="Google Shape;258;g3de39eb6e25_0_25: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e39eb6e25_0_63: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66" name="Google Shape;266;g3de39eb6e25_0_63: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7" name="Google Shape;267;g3de39eb6e25_0_63: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e39eb6e25_0_74: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75" name="Google Shape;275;g3de39eb6e25_0_74: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6" name="Google Shape;276;g3de39eb6e25_0_74: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e39eb6e25_0_84: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84" name="Google Shape;284;g3de39eb6e25_0_84: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5" name="Google Shape;285;g3de39eb6e25_0_84: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e39eb6e25_0_94: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93" name="Google Shape;293;g3de39eb6e25_0_94: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4" name="Google Shape;294;g3de39eb6e25_0_94: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5449f0c68_2_157: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02" name="Google Shape;302;g3d5449f0c68_2_157: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03" name="Google Shape;303;g3d5449f0c68_2_157: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5449f0c68_2_164: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10" name="Google Shape;310;g3d5449f0c68_2_164: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1" name="Google Shape;311;g3d5449f0c68_2_164: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e39eb6e25_1_6: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19" name="Google Shape;319;g3de39eb6e25_1_6: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0" name="Google Shape;320;g3de39eb6e25_1_6: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de39eb6e25_1_21: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28" name="Google Shape;328;g3de39eb6e25_1_21: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9" name="Google Shape;329;g3de39eb6e25_1_21: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5449f0c68_2_171:notes"/>
          <p:cNvSpPr/>
          <p:nvPr>
            <p:ph idx="2" type="sldImg"/>
          </p:nvPr>
        </p:nvSpPr>
        <p:spPr>
          <a:xfrm>
            <a:off x="436563" y="1233488"/>
            <a:ext cx="5924550" cy="3333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37" name="Google Shape;337;g3d5449f0c68_2_171: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38" name="Google Shape;338;g3d5449f0c68_2_171: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de39eb6e25_1_40: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45" name="Google Shape;345;g3de39eb6e25_1_40: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46" name="Google Shape;346;g3de39eb6e25_1_40: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e39eb6e25_1_54:notes"/>
          <p:cNvSpPr/>
          <p:nvPr>
            <p:ph idx="2" type="sldImg"/>
          </p:nvPr>
        </p:nvSpPr>
        <p:spPr>
          <a:xfrm>
            <a:off x="436563" y="1233488"/>
            <a:ext cx="5924700" cy="3333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53" name="Google Shape;353;g3de39eb6e25_1_54:notes"/>
          <p:cNvSpPr txBox="1"/>
          <p:nvPr>
            <p:ph idx="1" type="body"/>
          </p:nvPr>
        </p:nvSpPr>
        <p:spPr>
          <a:xfrm>
            <a:off x="679450" y="4751387"/>
            <a:ext cx="5438700" cy="388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4" name="Google Shape;354;g3de39eb6e25_1_54:notes"/>
          <p:cNvSpPr txBox="1"/>
          <p:nvPr>
            <p:ph idx="12" type="sldNum"/>
          </p:nvPr>
        </p:nvSpPr>
        <p:spPr>
          <a:xfrm>
            <a:off x="3849687" y="9378950"/>
            <a:ext cx="2946300" cy="4953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
              <a:t>‹#›</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4"/>
          <p:cNvSpPr txBox="1"/>
          <p:nvPr>
            <p:ph type="ctrTitle"/>
          </p:nvPr>
        </p:nvSpPr>
        <p:spPr>
          <a:xfrm>
            <a:off x="1813334" y="601723"/>
            <a:ext cx="6477805" cy="1906073"/>
          </a:xfrm>
          <a:prstGeom prst="rect">
            <a:avLst/>
          </a:prstGeom>
          <a:noFill/>
          <a:ln>
            <a:noFill/>
          </a:ln>
        </p:spPr>
        <p:txBody>
          <a:bodyPr anchorCtr="0" anchor="b" bIns="0" lIns="68575" spcFirstLastPara="1" rIns="68575" wrap="square" tIns="34275">
            <a:normAutofit/>
          </a:bodyPr>
          <a:lstStyle>
            <a:lvl1pPr lvl="0" algn="l">
              <a:lnSpc>
                <a:spcPct val="90000"/>
              </a:lnSpc>
              <a:spcBef>
                <a:spcPts val="0"/>
              </a:spcBef>
              <a:spcAft>
                <a:spcPts val="0"/>
              </a:spcAft>
              <a:buClr>
                <a:schemeClr val="dk1"/>
              </a:buClr>
              <a:buSzPts val="5000"/>
              <a:buFont typeface="Gill Sans"/>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 name="Google Shape;61;p14"/>
          <p:cNvSpPr txBox="1"/>
          <p:nvPr>
            <p:ph idx="1" type="subTitle"/>
          </p:nvPr>
        </p:nvSpPr>
        <p:spPr>
          <a:xfrm>
            <a:off x="1813335" y="2648403"/>
            <a:ext cx="6477804" cy="733216"/>
          </a:xfrm>
          <a:prstGeom prst="rect">
            <a:avLst/>
          </a:prstGeom>
          <a:noFill/>
          <a:ln>
            <a:noFill/>
          </a:ln>
        </p:spPr>
        <p:txBody>
          <a:bodyPr anchorCtr="0" anchor="t" bIns="68575" lIns="68575" spcFirstLastPara="1" rIns="68575" wrap="square" tIns="68575">
            <a:normAutofit/>
          </a:bodyPr>
          <a:lstStyle>
            <a:lvl1pPr lvl="0" algn="l">
              <a:lnSpc>
                <a:spcPct val="120000"/>
              </a:lnSpc>
              <a:spcBef>
                <a:spcPts val="800"/>
              </a:spcBef>
              <a:spcAft>
                <a:spcPts val="0"/>
              </a:spcAft>
              <a:buSzPts val="1400"/>
              <a:buNone/>
              <a:defRPr b="0" sz="1400" cap="none">
                <a:solidFill>
                  <a:schemeClr val="dk1"/>
                </a:solidFill>
              </a:defRPr>
            </a:lvl1pPr>
            <a:lvl2pPr lvl="1" algn="ctr">
              <a:lnSpc>
                <a:spcPct val="120000"/>
              </a:lnSpc>
              <a:spcBef>
                <a:spcPts val="400"/>
              </a:spcBef>
              <a:spcAft>
                <a:spcPts val="0"/>
              </a:spcAft>
              <a:buSzPts val="1400"/>
              <a:buNone/>
              <a:defRPr sz="1400"/>
            </a:lvl2pPr>
            <a:lvl3pPr lvl="2" algn="ctr">
              <a:lnSpc>
                <a:spcPct val="120000"/>
              </a:lnSpc>
              <a:spcBef>
                <a:spcPts val="400"/>
              </a:spcBef>
              <a:spcAft>
                <a:spcPts val="0"/>
              </a:spcAft>
              <a:buSzPts val="1400"/>
              <a:buNone/>
              <a:defRPr sz="1400"/>
            </a:lvl3pPr>
            <a:lvl4pPr lvl="3" algn="ctr">
              <a:lnSpc>
                <a:spcPct val="120000"/>
              </a:lnSpc>
              <a:spcBef>
                <a:spcPts val="400"/>
              </a:spcBef>
              <a:spcAft>
                <a:spcPts val="0"/>
              </a:spcAft>
              <a:buSzPts val="1200"/>
              <a:buNone/>
              <a:defRPr sz="1200"/>
            </a:lvl4pPr>
            <a:lvl5pPr lvl="4" algn="ctr">
              <a:lnSpc>
                <a:spcPct val="120000"/>
              </a:lnSpc>
              <a:spcBef>
                <a:spcPts val="400"/>
              </a:spcBef>
              <a:spcAft>
                <a:spcPts val="0"/>
              </a:spcAft>
              <a:buSzPts val="1200"/>
              <a:buNone/>
              <a:defRPr sz="1200"/>
            </a:lvl5pPr>
            <a:lvl6pPr lvl="5" algn="ctr">
              <a:lnSpc>
                <a:spcPct val="120000"/>
              </a:lnSpc>
              <a:spcBef>
                <a:spcPts val="400"/>
              </a:spcBef>
              <a:spcAft>
                <a:spcPts val="0"/>
              </a:spcAft>
              <a:buSzPts val="1200"/>
              <a:buNone/>
              <a:defRPr sz="1200"/>
            </a:lvl6pPr>
            <a:lvl7pPr lvl="6" algn="ctr">
              <a:lnSpc>
                <a:spcPct val="120000"/>
              </a:lnSpc>
              <a:spcBef>
                <a:spcPts val="400"/>
              </a:spcBef>
              <a:spcAft>
                <a:spcPts val="0"/>
              </a:spcAft>
              <a:buSzPts val="1200"/>
              <a:buNone/>
              <a:defRPr sz="1200"/>
            </a:lvl7pPr>
            <a:lvl8pPr lvl="7" algn="ctr">
              <a:lnSpc>
                <a:spcPct val="120000"/>
              </a:lnSpc>
              <a:spcBef>
                <a:spcPts val="400"/>
              </a:spcBef>
              <a:spcAft>
                <a:spcPts val="0"/>
              </a:spcAft>
              <a:buSzPts val="1200"/>
              <a:buNone/>
              <a:defRPr sz="1200"/>
            </a:lvl8pPr>
            <a:lvl9pPr lvl="8" algn="ctr">
              <a:lnSpc>
                <a:spcPct val="120000"/>
              </a:lnSpc>
              <a:spcBef>
                <a:spcPts val="400"/>
              </a:spcBef>
              <a:spcAft>
                <a:spcPts val="0"/>
              </a:spcAft>
              <a:buSzPts val="1200"/>
              <a:buNone/>
              <a:defRPr sz="1200"/>
            </a:lvl9pPr>
          </a:lstStyle>
          <a:p/>
        </p:txBody>
      </p:sp>
      <p:sp>
        <p:nvSpPr>
          <p:cNvPr id="62" name="Google Shape;62;p14"/>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3" name="Google Shape;63;p14"/>
          <p:cNvSpPr txBox="1"/>
          <p:nvPr>
            <p:ph idx="11" type="ftr"/>
          </p:nvPr>
        </p:nvSpPr>
        <p:spPr>
          <a:xfrm>
            <a:off x="1812375" y="246980"/>
            <a:ext cx="3730436"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4"/>
          <p:cNvSpPr txBox="1"/>
          <p:nvPr>
            <p:ph idx="12" type="sldNum"/>
          </p:nvPr>
        </p:nvSpPr>
        <p:spPr>
          <a:xfrm>
            <a:off x="1078248"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65" name="Google Shape;65;p14"/>
          <p:cNvCxnSpPr/>
          <p:nvPr/>
        </p:nvCxnSpPr>
        <p:spPr>
          <a:xfrm>
            <a:off x="1813335" y="2646407"/>
            <a:ext cx="6477804"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5"/>
          <p:cNvSpPr txBox="1"/>
          <p:nvPr>
            <p:ph type="title"/>
          </p:nvPr>
        </p:nvSpPr>
        <p:spPr>
          <a:xfrm>
            <a:off x="1088684" y="603389"/>
            <a:ext cx="7202456" cy="786926"/>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5"/>
          <p:cNvSpPr txBox="1"/>
          <p:nvPr>
            <p:ph idx="1" type="body"/>
          </p:nvPr>
        </p:nvSpPr>
        <p:spPr>
          <a:xfrm>
            <a:off x="1088684" y="1511799"/>
            <a:ext cx="7202456" cy="258796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69" name="Google Shape;69;p15"/>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5"/>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5"/>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72" name="Google Shape;72;p15"/>
          <p:cNvCxnSpPr/>
          <p:nvPr/>
        </p:nvCxnSpPr>
        <p:spPr>
          <a:xfrm>
            <a:off x="1090422" y="1385316"/>
            <a:ext cx="720564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6"/>
          <p:cNvSpPr txBox="1"/>
          <p:nvPr>
            <p:ph type="title"/>
          </p:nvPr>
        </p:nvSpPr>
        <p:spPr>
          <a:xfrm>
            <a:off x="1090679" y="1317097"/>
            <a:ext cx="6482366" cy="141596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700"/>
              <a:buFont typeface="Gill Sans"/>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6"/>
          <p:cNvSpPr txBox="1"/>
          <p:nvPr>
            <p:ph idx="1" type="body"/>
          </p:nvPr>
        </p:nvSpPr>
        <p:spPr>
          <a:xfrm>
            <a:off x="1090679" y="2854646"/>
            <a:ext cx="6472835" cy="759697"/>
          </a:xfrm>
          <a:prstGeom prst="rect">
            <a:avLst/>
          </a:prstGeom>
          <a:noFill/>
          <a:ln>
            <a:noFill/>
          </a:ln>
        </p:spPr>
        <p:txBody>
          <a:bodyPr anchorCtr="0" anchor="t" bIns="34275" lIns="68575" spcFirstLastPara="1" rIns="68575" wrap="square" tIns="68575">
            <a:normAutofit/>
          </a:bodyPr>
          <a:lstStyle>
            <a:lvl1pPr indent="-228600" lvl="0" marL="457200" algn="l">
              <a:lnSpc>
                <a:spcPct val="120000"/>
              </a:lnSpc>
              <a:spcBef>
                <a:spcPts val="800"/>
              </a:spcBef>
              <a:spcAft>
                <a:spcPts val="0"/>
              </a:spcAft>
              <a:buSzPts val="1400"/>
              <a:buNone/>
              <a:defRPr sz="1400">
                <a:solidFill>
                  <a:schemeClr val="dk1"/>
                </a:solidFill>
              </a:defRPr>
            </a:lvl1pPr>
            <a:lvl2pPr indent="-228600" lvl="1" marL="914400" algn="l">
              <a:lnSpc>
                <a:spcPct val="120000"/>
              </a:lnSpc>
              <a:spcBef>
                <a:spcPts val="400"/>
              </a:spcBef>
              <a:spcAft>
                <a:spcPts val="0"/>
              </a:spcAft>
              <a:buSzPts val="1400"/>
              <a:buNone/>
              <a:defRPr sz="1400">
                <a:solidFill>
                  <a:srgbClr val="888888"/>
                </a:solidFill>
              </a:defRPr>
            </a:lvl2pPr>
            <a:lvl3pPr indent="-228600" lvl="2" marL="1371600" algn="l">
              <a:lnSpc>
                <a:spcPct val="120000"/>
              </a:lnSpc>
              <a:spcBef>
                <a:spcPts val="400"/>
              </a:spcBef>
              <a:spcAft>
                <a:spcPts val="0"/>
              </a:spcAft>
              <a:buSzPts val="1400"/>
              <a:buNone/>
              <a:defRPr sz="1400">
                <a:solidFill>
                  <a:srgbClr val="888888"/>
                </a:solidFill>
              </a:defRPr>
            </a:lvl3pPr>
            <a:lvl4pPr indent="-228600" lvl="3" marL="1828800" algn="l">
              <a:lnSpc>
                <a:spcPct val="120000"/>
              </a:lnSpc>
              <a:spcBef>
                <a:spcPts val="400"/>
              </a:spcBef>
              <a:spcAft>
                <a:spcPts val="0"/>
              </a:spcAft>
              <a:buSzPts val="1200"/>
              <a:buNone/>
              <a:defRPr sz="1200">
                <a:solidFill>
                  <a:srgbClr val="888888"/>
                </a:solidFill>
              </a:defRPr>
            </a:lvl4pPr>
            <a:lvl5pPr indent="-228600" lvl="4" marL="2286000" algn="l">
              <a:lnSpc>
                <a:spcPct val="120000"/>
              </a:lnSpc>
              <a:spcBef>
                <a:spcPts val="400"/>
              </a:spcBef>
              <a:spcAft>
                <a:spcPts val="0"/>
              </a:spcAft>
              <a:buSzPts val="1200"/>
              <a:buNone/>
              <a:defRPr sz="1200">
                <a:solidFill>
                  <a:srgbClr val="888888"/>
                </a:solidFill>
              </a:defRPr>
            </a:lvl5pPr>
            <a:lvl6pPr indent="-228600" lvl="5" marL="2743200" algn="l">
              <a:lnSpc>
                <a:spcPct val="120000"/>
              </a:lnSpc>
              <a:spcBef>
                <a:spcPts val="400"/>
              </a:spcBef>
              <a:spcAft>
                <a:spcPts val="0"/>
              </a:spcAft>
              <a:buSzPts val="1200"/>
              <a:buNone/>
              <a:defRPr sz="1200">
                <a:solidFill>
                  <a:srgbClr val="888888"/>
                </a:solidFill>
              </a:defRPr>
            </a:lvl6pPr>
            <a:lvl7pPr indent="-228600" lvl="6" marL="3200400" algn="l">
              <a:lnSpc>
                <a:spcPct val="120000"/>
              </a:lnSpc>
              <a:spcBef>
                <a:spcPts val="400"/>
              </a:spcBef>
              <a:spcAft>
                <a:spcPts val="0"/>
              </a:spcAft>
              <a:buSzPts val="1200"/>
              <a:buNone/>
              <a:defRPr sz="1200">
                <a:solidFill>
                  <a:srgbClr val="888888"/>
                </a:solidFill>
              </a:defRPr>
            </a:lvl7pPr>
            <a:lvl8pPr indent="-228600" lvl="7" marL="3657600" algn="l">
              <a:lnSpc>
                <a:spcPct val="120000"/>
              </a:lnSpc>
              <a:spcBef>
                <a:spcPts val="400"/>
              </a:spcBef>
              <a:spcAft>
                <a:spcPts val="0"/>
              </a:spcAft>
              <a:buSzPts val="1200"/>
              <a:buNone/>
              <a:defRPr sz="1200">
                <a:solidFill>
                  <a:srgbClr val="888888"/>
                </a:solidFill>
              </a:defRPr>
            </a:lvl8pPr>
            <a:lvl9pPr indent="-228600" lvl="8" marL="4114800" algn="l">
              <a:lnSpc>
                <a:spcPct val="120000"/>
              </a:lnSpc>
              <a:spcBef>
                <a:spcPts val="400"/>
              </a:spcBef>
              <a:spcAft>
                <a:spcPts val="0"/>
              </a:spcAft>
              <a:buSzPts val="1200"/>
              <a:buNone/>
              <a:defRPr sz="1200">
                <a:solidFill>
                  <a:srgbClr val="888888"/>
                </a:solidFill>
              </a:defRPr>
            </a:lvl9pPr>
          </a:lstStyle>
          <a:p/>
        </p:txBody>
      </p:sp>
      <p:sp>
        <p:nvSpPr>
          <p:cNvPr id="76" name="Google Shape;76;p16"/>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6"/>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6"/>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6"/>
          <p:cNvCxnSpPr/>
          <p:nvPr/>
        </p:nvCxnSpPr>
        <p:spPr>
          <a:xfrm>
            <a:off x="1090679" y="2853739"/>
            <a:ext cx="6472835"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7"/>
          <p:cNvSpPr txBox="1"/>
          <p:nvPr>
            <p:ph type="title"/>
          </p:nvPr>
        </p:nvSpPr>
        <p:spPr>
          <a:xfrm>
            <a:off x="1086913" y="603667"/>
            <a:ext cx="7204226" cy="794479"/>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7"/>
          <p:cNvSpPr txBox="1"/>
          <p:nvPr>
            <p:ph idx="1" type="body"/>
          </p:nvPr>
        </p:nvSpPr>
        <p:spPr>
          <a:xfrm>
            <a:off x="1085498" y="1508159"/>
            <a:ext cx="3483864" cy="2586446"/>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83" name="Google Shape;83;p17"/>
          <p:cNvSpPr txBox="1"/>
          <p:nvPr>
            <p:ph idx="2" type="body"/>
          </p:nvPr>
        </p:nvSpPr>
        <p:spPr>
          <a:xfrm>
            <a:off x="4810328" y="1513007"/>
            <a:ext cx="3483864" cy="258114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84" name="Google Shape;84;p17"/>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7"/>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7"/>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87" name="Google Shape;87;p17"/>
          <p:cNvCxnSpPr/>
          <p:nvPr/>
        </p:nvCxnSpPr>
        <p:spPr>
          <a:xfrm>
            <a:off x="1090422" y="1385316"/>
            <a:ext cx="720564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8" name="Shape 88"/>
        <p:cNvGrpSpPr/>
        <p:nvPr/>
      </p:nvGrpSpPr>
      <p:grpSpPr>
        <a:xfrm>
          <a:off x="0" y="0"/>
          <a:ext cx="0" cy="0"/>
          <a:chOff x="0" y="0"/>
          <a:chExt cx="0" cy="0"/>
        </a:xfrm>
      </p:grpSpPr>
      <p:sp>
        <p:nvSpPr>
          <p:cNvPr id="89" name="Google Shape;89;p18"/>
          <p:cNvSpPr txBox="1"/>
          <p:nvPr>
            <p:ph type="title"/>
          </p:nvPr>
        </p:nvSpPr>
        <p:spPr>
          <a:xfrm>
            <a:off x="1085393" y="603122"/>
            <a:ext cx="7205746" cy="792239"/>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18"/>
          <p:cNvSpPr txBox="1"/>
          <p:nvPr>
            <p:ph idx="1" type="body"/>
          </p:nvPr>
        </p:nvSpPr>
        <p:spPr>
          <a:xfrm>
            <a:off x="1085393" y="1514662"/>
            <a:ext cx="3483864" cy="601457"/>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SzPts val="1700"/>
              <a:buNone/>
              <a:defRPr b="0" sz="1700" cap="none">
                <a:solidFill>
                  <a:schemeClr val="accent1"/>
                </a:solidFill>
              </a:defRPr>
            </a:lvl1pPr>
            <a:lvl2pPr indent="-228600" lvl="1" marL="914400" algn="l">
              <a:lnSpc>
                <a:spcPct val="120000"/>
              </a:lnSpc>
              <a:spcBef>
                <a:spcPts val="400"/>
              </a:spcBef>
              <a:spcAft>
                <a:spcPts val="0"/>
              </a:spcAft>
              <a:buSzPts val="1500"/>
              <a:buNone/>
              <a:defRPr b="1" sz="1500"/>
            </a:lvl2pPr>
            <a:lvl3pPr indent="-228600" lvl="2" marL="1371600" algn="l">
              <a:lnSpc>
                <a:spcPct val="120000"/>
              </a:lnSpc>
              <a:spcBef>
                <a:spcPts val="400"/>
              </a:spcBef>
              <a:spcAft>
                <a:spcPts val="0"/>
              </a:spcAft>
              <a:buSzPts val="1400"/>
              <a:buNone/>
              <a:defRPr b="1" sz="1400"/>
            </a:lvl3pPr>
            <a:lvl4pPr indent="-228600" lvl="3" marL="1828800" algn="l">
              <a:lnSpc>
                <a:spcPct val="120000"/>
              </a:lnSpc>
              <a:spcBef>
                <a:spcPts val="400"/>
              </a:spcBef>
              <a:spcAft>
                <a:spcPts val="0"/>
              </a:spcAft>
              <a:buSzPts val="1200"/>
              <a:buNone/>
              <a:defRPr b="1" sz="1200"/>
            </a:lvl4pPr>
            <a:lvl5pPr indent="-228600" lvl="4" marL="2286000" algn="l">
              <a:lnSpc>
                <a:spcPct val="120000"/>
              </a:lnSpc>
              <a:spcBef>
                <a:spcPts val="400"/>
              </a:spcBef>
              <a:spcAft>
                <a:spcPts val="0"/>
              </a:spcAft>
              <a:buSzPts val="1200"/>
              <a:buNone/>
              <a:defRPr b="1" sz="1200"/>
            </a:lvl5pPr>
            <a:lvl6pPr indent="-228600" lvl="5" marL="2743200" algn="l">
              <a:lnSpc>
                <a:spcPct val="120000"/>
              </a:lnSpc>
              <a:spcBef>
                <a:spcPts val="400"/>
              </a:spcBef>
              <a:spcAft>
                <a:spcPts val="0"/>
              </a:spcAft>
              <a:buSzPts val="1200"/>
              <a:buNone/>
              <a:defRPr b="1" sz="1200"/>
            </a:lvl6pPr>
            <a:lvl7pPr indent="-228600" lvl="6" marL="3200400" algn="l">
              <a:lnSpc>
                <a:spcPct val="120000"/>
              </a:lnSpc>
              <a:spcBef>
                <a:spcPts val="400"/>
              </a:spcBef>
              <a:spcAft>
                <a:spcPts val="0"/>
              </a:spcAft>
              <a:buSzPts val="1200"/>
              <a:buNone/>
              <a:defRPr b="1" sz="1200"/>
            </a:lvl7pPr>
            <a:lvl8pPr indent="-228600" lvl="7" marL="3657600" algn="l">
              <a:lnSpc>
                <a:spcPct val="120000"/>
              </a:lnSpc>
              <a:spcBef>
                <a:spcPts val="400"/>
              </a:spcBef>
              <a:spcAft>
                <a:spcPts val="0"/>
              </a:spcAft>
              <a:buSzPts val="1200"/>
              <a:buNone/>
              <a:defRPr b="1" sz="1200"/>
            </a:lvl8pPr>
            <a:lvl9pPr indent="-228600" lvl="8" marL="4114800" algn="l">
              <a:lnSpc>
                <a:spcPct val="120000"/>
              </a:lnSpc>
              <a:spcBef>
                <a:spcPts val="400"/>
              </a:spcBef>
              <a:spcAft>
                <a:spcPts val="0"/>
              </a:spcAft>
              <a:buSzPts val="1200"/>
              <a:buNone/>
              <a:defRPr b="1" sz="1200"/>
            </a:lvl9pPr>
          </a:lstStyle>
          <a:p/>
        </p:txBody>
      </p:sp>
      <p:sp>
        <p:nvSpPr>
          <p:cNvPr id="91" name="Google Shape;91;p18"/>
          <p:cNvSpPr txBox="1"/>
          <p:nvPr>
            <p:ph idx="2" type="body"/>
          </p:nvPr>
        </p:nvSpPr>
        <p:spPr>
          <a:xfrm>
            <a:off x="1085393" y="2118202"/>
            <a:ext cx="3483864" cy="1983343"/>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92" name="Google Shape;92;p18"/>
          <p:cNvSpPr txBox="1"/>
          <p:nvPr>
            <p:ph idx="3" type="body"/>
          </p:nvPr>
        </p:nvSpPr>
        <p:spPr>
          <a:xfrm>
            <a:off x="4809272" y="1517252"/>
            <a:ext cx="3483864" cy="601678"/>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SzPts val="1700"/>
              <a:buNone/>
              <a:defRPr b="0" sz="1700" cap="none">
                <a:solidFill>
                  <a:schemeClr val="accent1"/>
                </a:solidFill>
              </a:defRPr>
            </a:lvl1pPr>
            <a:lvl2pPr indent="-228600" lvl="1" marL="914400" algn="l">
              <a:lnSpc>
                <a:spcPct val="120000"/>
              </a:lnSpc>
              <a:spcBef>
                <a:spcPts val="400"/>
              </a:spcBef>
              <a:spcAft>
                <a:spcPts val="0"/>
              </a:spcAft>
              <a:buSzPts val="1500"/>
              <a:buNone/>
              <a:defRPr b="1" sz="1500"/>
            </a:lvl2pPr>
            <a:lvl3pPr indent="-228600" lvl="2" marL="1371600" algn="l">
              <a:lnSpc>
                <a:spcPct val="120000"/>
              </a:lnSpc>
              <a:spcBef>
                <a:spcPts val="400"/>
              </a:spcBef>
              <a:spcAft>
                <a:spcPts val="0"/>
              </a:spcAft>
              <a:buSzPts val="1400"/>
              <a:buNone/>
              <a:defRPr b="1" sz="1400"/>
            </a:lvl3pPr>
            <a:lvl4pPr indent="-228600" lvl="3" marL="1828800" algn="l">
              <a:lnSpc>
                <a:spcPct val="120000"/>
              </a:lnSpc>
              <a:spcBef>
                <a:spcPts val="400"/>
              </a:spcBef>
              <a:spcAft>
                <a:spcPts val="0"/>
              </a:spcAft>
              <a:buSzPts val="1200"/>
              <a:buNone/>
              <a:defRPr b="1" sz="1200"/>
            </a:lvl4pPr>
            <a:lvl5pPr indent="-228600" lvl="4" marL="2286000" algn="l">
              <a:lnSpc>
                <a:spcPct val="120000"/>
              </a:lnSpc>
              <a:spcBef>
                <a:spcPts val="400"/>
              </a:spcBef>
              <a:spcAft>
                <a:spcPts val="0"/>
              </a:spcAft>
              <a:buSzPts val="1200"/>
              <a:buNone/>
              <a:defRPr b="1" sz="1200"/>
            </a:lvl5pPr>
            <a:lvl6pPr indent="-228600" lvl="5" marL="2743200" algn="l">
              <a:lnSpc>
                <a:spcPct val="120000"/>
              </a:lnSpc>
              <a:spcBef>
                <a:spcPts val="400"/>
              </a:spcBef>
              <a:spcAft>
                <a:spcPts val="0"/>
              </a:spcAft>
              <a:buSzPts val="1200"/>
              <a:buNone/>
              <a:defRPr b="1" sz="1200"/>
            </a:lvl6pPr>
            <a:lvl7pPr indent="-228600" lvl="6" marL="3200400" algn="l">
              <a:lnSpc>
                <a:spcPct val="120000"/>
              </a:lnSpc>
              <a:spcBef>
                <a:spcPts val="400"/>
              </a:spcBef>
              <a:spcAft>
                <a:spcPts val="0"/>
              </a:spcAft>
              <a:buSzPts val="1200"/>
              <a:buNone/>
              <a:defRPr b="1" sz="1200"/>
            </a:lvl7pPr>
            <a:lvl8pPr indent="-228600" lvl="7" marL="3657600" algn="l">
              <a:lnSpc>
                <a:spcPct val="120000"/>
              </a:lnSpc>
              <a:spcBef>
                <a:spcPts val="400"/>
              </a:spcBef>
              <a:spcAft>
                <a:spcPts val="0"/>
              </a:spcAft>
              <a:buSzPts val="1200"/>
              <a:buNone/>
              <a:defRPr b="1" sz="1200"/>
            </a:lvl8pPr>
            <a:lvl9pPr indent="-228600" lvl="8" marL="4114800" algn="l">
              <a:lnSpc>
                <a:spcPct val="120000"/>
              </a:lnSpc>
              <a:spcBef>
                <a:spcPts val="400"/>
              </a:spcBef>
              <a:spcAft>
                <a:spcPts val="0"/>
              </a:spcAft>
              <a:buSzPts val="1200"/>
              <a:buNone/>
              <a:defRPr b="1" sz="1200"/>
            </a:lvl9pPr>
          </a:lstStyle>
          <a:p/>
        </p:txBody>
      </p:sp>
      <p:sp>
        <p:nvSpPr>
          <p:cNvPr id="93" name="Google Shape;93;p18"/>
          <p:cNvSpPr txBox="1"/>
          <p:nvPr>
            <p:ph idx="4" type="body"/>
          </p:nvPr>
        </p:nvSpPr>
        <p:spPr>
          <a:xfrm>
            <a:off x="4809272" y="2116118"/>
            <a:ext cx="3483864" cy="1978028"/>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94" name="Google Shape;94;p18"/>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8"/>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18"/>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97" name="Google Shape;97;p18"/>
          <p:cNvCxnSpPr/>
          <p:nvPr/>
        </p:nvCxnSpPr>
        <p:spPr>
          <a:xfrm>
            <a:off x="1090422" y="1385316"/>
            <a:ext cx="720564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9"/>
          <p:cNvSpPr txBox="1"/>
          <p:nvPr>
            <p:ph type="title"/>
          </p:nvPr>
        </p:nvSpPr>
        <p:spPr>
          <a:xfrm>
            <a:off x="1088684" y="603389"/>
            <a:ext cx="7202456" cy="786926"/>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0" name="Google Shape;100;p19"/>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9"/>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9"/>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03" name="Google Shape;103;p19"/>
          <p:cNvCxnSpPr/>
          <p:nvPr/>
        </p:nvCxnSpPr>
        <p:spPr>
          <a:xfrm>
            <a:off x="1090422" y="1385316"/>
            <a:ext cx="720564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20"/>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0"/>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0"/>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8" name="Shape 108"/>
        <p:cNvGrpSpPr/>
        <p:nvPr/>
      </p:nvGrpSpPr>
      <p:grpSpPr>
        <a:xfrm>
          <a:off x="0" y="0"/>
          <a:ext cx="0" cy="0"/>
          <a:chOff x="0" y="0"/>
          <a:chExt cx="0" cy="0"/>
        </a:xfrm>
      </p:grpSpPr>
      <p:sp>
        <p:nvSpPr>
          <p:cNvPr id="109" name="Google Shape;109;p21"/>
          <p:cNvSpPr txBox="1"/>
          <p:nvPr>
            <p:ph type="title"/>
          </p:nvPr>
        </p:nvSpPr>
        <p:spPr>
          <a:xfrm>
            <a:off x="1083503" y="599230"/>
            <a:ext cx="2454824" cy="168533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800"/>
              <a:buFont typeface="Gill Sans"/>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21"/>
          <p:cNvSpPr txBox="1"/>
          <p:nvPr>
            <p:ph idx="1" type="body"/>
          </p:nvPr>
        </p:nvSpPr>
        <p:spPr>
          <a:xfrm>
            <a:off x="3782786" y="599231"/>
            <a:ext cx="4509352" cy="3494120"/>
          </a:xfrm>
          <a:prstGeom prst="rect">
            <a:avLst/>
          </a:prstGeom>
          <a:noFill/>
          <a:ln>
            <a:noFill/>
          </a:ln>
        </p:spPr>
        <p:txBody>
          <a:bodyPr anchorCtr="0" anchor="ctr"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111" name="Google Shape;111;p21"/>
          <p:cNvSpPr txBox="1"/>
          <p:nvPr>
            <p:ph idx="2" type="body"/>
          </p:nvPr>
        </p:nvSpPr>
        <p:spPr>
          <a:xfrm>
            <a:off x="1083503" y="2404118"/>
            <a:ext cx="2456260" cy="168613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SzPts val="1200"/>
              <a:buNone/>
              <a:defRPr sz="1200"/>
            </a:lvl1pPr>
            <a:lvl2pPr indent="-228600" lvl="1" marL="914400" algn="l">
              <a:lnSpc>
                <a:spcPct val="120000"/>
              </a:lnSpc>
              <a:spcBef>
                <a:spcPts val="400"/>
              </a:spcBef>
              <a:spcAft>
                <a:spcPts val="0"/>
              </a:spcAft>
              <a:buSzPts val="1100"/>
              <a:buNone/>
              <a:defRPr sz="1100"/>
            </a:lvl2pPr>
            <a:lvl3pPr indent="-228600" lvl="2" marL="1371600" algn="l">
              <a:lnSpc>
                <a:spcPct val="120000"/>
              </a:lnSpc>
              <a:spcBef>
                <a:spcPts val="400"/>
              </a:spcBef>
              <a:spcAft>
                <a:spcPts val="0"/>
              </a:spcAft>
              <a:buSzPts val="900"/>
              <a:buNone/>
              <a:defRPr sz="900"/>
            </a:lvl3pPr>
            <a:lvl4pPr indent="-228600" lvl="3" marL="1828800" algn="l">
              <a:lnSpc>
                <a:spcPct val="120000"/>
              </a:lnSpc>
              <a:spcBef>
                <a:spcPts val="400"/>
              </a:spcBef>
              <a:spcAft>
                <a:spcPts val="0"/>
              </a:spcAft>
              <a:buSzPts val="800"/>
              <a:buNone/>
              <a:defRPr sz="800"/>
            </a:lvl4pPr>
            <a:lvl5pPr indent="-228600" lvl="4" marL="2286000" algn="l">
              <a:lnSpc>
                <a:spcPct val="120000"/>
              </a:lnSpc>
              <a:spcBef>
                <a:spcPts val="400"/>
              </a:spcBef>
              <a:spcAft>
                <a:spcPts val="0"/>
              </a:spcAft>
              <a:buSzPts val="800"/>
              <a:buNone/>
              <a:defRPr sz="800"/>
            </a:lvl5pPr>
            <a:lvl6pPr indent="-228600" lvl="5" marL="2743200" algn="l">
              <a:lnSpc>
                <a:spcPct val="120000"/>
              </a:lnSpc>
              <a:spcBef>
                <a:spcPts val="400"/>
              </a:spcBef>
              <a:spcAft>
                <a:spcPts val="0"/>
              </a:spcAft>
              <a:buSzPts val="800"/>
              <a:buNone/>
              <a:defRPr sz="800"/>
            </a:lvl6pPr>
            <a:lvl7pPr indent="-228600" lvl="6" marL="3200400" algn="l">
              <a:lnSpc>
                <a:spcPct val="120000"/>
              </a:lnSpc>
              <a:spcBef>
                <a:spcPts val="400"/>
              </a:spcBef>
              <a:spcAft>
                <a:spcPts val="0"/>
              </a:spcAft>
              <a:buSzPts val="800"/>
              <a:buNone/>
              <a:defRPr sz="800"/>
            </a:lvl7pPr>
            <a:lvl8pPr indent="-228600" lvl="7" marL="3657600" algn="l">
              <a:lnSpc>
                <a:spcPct val="120000"/>
              </a:lnSpc>
              <a:spcBef>
                <a:spcPts val="400"/>
              </a:spcBef>
              <a:spcAft>
                <a:spcPts val="0"/>
              </a:spcAft>
              <a:buSzPts val="800"/>
              <a:buNone/>
              <a:defRPr sz="800"/>
            </a:lvl8pPr>
            <a:lvl9pPr indent="-228600" lvl="8" marL="4114800" algn="l">
              <a:lnSpc>
                <a:spcPct val="120000"/>
              </a:lnSpc>
              <a:spcBef>
                <a:spcPts val="400"/>
              </a:spcBef>
              <a:spcAft>
                <a:spcPts val="0"/>
              </a:spcAft>
              <a:buSzPts val="800"/>
              <a:buNone/>
              <a:defRPr sz="800"/>
            </a:lvl9pPr>
          </a:lstStyle>
          <a:p/>
        </p:txBody>
      </p:sp>
      <p:sp>
        <p:nvSpPr>
          <p:cNvPr id="112" name="Google Shape;112;p21"/>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1"/>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1"/>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15" name="Google Shape;115;p21"/>
          <p:cNvCxnSpPr/>
          <p:nvPr/>
        </p:nvCxnSpPr>
        <p:spPr>
          <a:xfrm>
            <a:off x="1086210" y="2404118"/>
            <a:ext cx="2452118"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grpSp>
        <p:nvGrpSpPr>
          <p:cNvPr id="117" name="Google Shape;117;p22"/>
          <p:cNvGrpSpPr/>
          <p:nvPr/>
        </p:nvGrpSpPr>
        <p:grpSpPr>
          <a:xfrm>
            <a:off x="5608040" y="361628"/>
            <a:ext cx="3055900" cy="3861826"/>
            <a:chOff x="7477387" y="482170"/>
            <a:chExt cx="4074533" cy="5149101"/>
          </a:xfrm>
        </p:grpSpPr>
        <p:sp>
          <p:nvSpPr>
            <p:cNvPr id="118" name="Google Shape;118;p22"/>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22"/>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20" name="Google Shape;120;p22"/>
          <p:cNvSpPr txBox="1"/>
          <p:nvPr>
            <p:ph type="title"/>
          </p:nvPr>
        </p:nvSpPr>
        <p:spPr>
          <a:xfrm>
            <a:off x="1088405" y="847135"/>
            <a:ext cx="4149246" cy="137293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2"/>
          <p:cNvSpPr/>
          <p:nvPr>
            <p:ph idx="2" type="pic"/>
          </p:nvPr>
        </p:nvSpPr>
        <p:spPr>
          <a:xfrm>
            <a:off x="6093292" y="841907"/>
            <a:ext cx="2093378" cy="2899745"/>
          </a:xfrm>
          <a:prstGeom prst="rect">
            <a:avLst/>
          </a:prstGeom>
          <a:solidFill>
            <a:srgbClr val="D8D8D8"/>
          </a:solidFill>
          <a:ln>
            <a:noFill/>
          </a:ln>
        </p:spPr>
      </p:sp>
      <p:sp>
        <p:nvSpPr>
          <p:cNvPr id="122" name="Google Shape;122;p22"/>
          <p:cNvSpPr txBox="1"/>
          <p:nvPr>
            <p:ph idx="1" type="body"/>
          </p:nvPr>
        </p:nvSpPr>
        <p:spPr>
          <a:xfrm>
            <a:off x="1087747" y="2359494"/>
            <a:ext cx="4143303" cy="150280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SzPts val="1400"/>
              <a:buNone/>
              <a:defRPr sz="1400"/>
            </a:lvl1pPr>
            <a:lvl2pPr indent="-228600" lvl="1" marL="914400" algn="l">
              <a:lnSpc>
                <a:spcPct val="120000"/>
              </a:lnSpc>
              <a:spcBef>
                <a:spcPts val="400"/>
              </a:spcBef>
              <a:spcAft>
                <a:spcPts val="0"/>
              </a:spcAft>
              <a:buSzPts val="1100"/>
              <a:buNone/>
              <a:defRPr sz="1100"/>
            </a:lvl2pPr>
            <a:lvl3pPr indent="-228600" lvl="2" marL="1371600" algn="l">
              <a:lnSpc>
                <a:spcPct val="120000"/>
              </a:lnSpc>
              <a:spcBef>
                <a:spcPts val="400"/>
              </a:spcBef>
              <a:spcAft>
                <a:spcPts val="0"/>
              </a:spcAft>
              <a:buSzPts val="900"/>
              <a:buNone/>
              <a:defRPr sz="900"/>
            </a:lvl3pPr>
            <a:lvl4pPr indent="-228600" lvl="3" marL="1828800" algn="l">
              <a:lnSpc>
                <a:spcPct val="120000"/>
              </a:lnSpc>
              <a:spcBef>
                <a:spcPts val="400"/>
              </a:spcBef>
              <a:spcAft>
                <a:spcPts val="0"/>
              </a:spcAft>
              <a:buSzPts val="800"/>
              <a:buNone/>
              <a:defRPr sz="800"/>
            </a:lvl4pPr>
            <a:lvl5pPr indent="-228600" lvl="4" marL="2286000" algn="l">
              <a:lnSpc>
                <a:spcPct val="120000"/>
              </a:lnSpc>
              <a:spcBef>
                <a:spcPts val="400"/>
              </a:spcBef>
              <a:spcAft>
                <a:spcPts val="0"/>
              </a:spcAft>
              <a:buSzPts val="800"/>
              <a:buNone/>
              <a:defRPr sz="800"/>
            </a:lvl5pPr>
            <a:lvl6pPr indent="-228600" lvl="5" marL="2743200" algn="l">
              <a:lnSpc>
                <a:spcPct val="120000"/>
              </a:lnSpc>
              <a:spcBef>
                <a:spcPts val="400"/>
              </a:spcBef>
              <a:spcAft>
                <a:spcPts val="0"/>
              </a:spcAft>
              <a:buSzPts val="800"/>
              <a:buNone/>
              <a:defRPr sz="800"/>
            </a:lvl6pPr>
            <a:lvl7pPr indent="-228600" lvl="6" marL="3200400" algn="l">
              <a:lnSpc>
                <a:spcPct val="120000"/>
              </a:lnSpc>
              <a:spcBef>
                <a:spcPts val="400"/>
              </a:spcBef>
              <a:spcAft>
                <a:spcPts val="0"/>
              </a:spcAft>
              <a:buSzPts val="800"/>
              <a:buNone/>
              <a:defRPr sz="800"/>
            </a:lvl7pPr>
            <a:lvl8pPr indent="-228600" lvl="7" marL="3657600" algn="l">
              <a:lnSpc>
                <a:spcPct val="120000"/>
              </a:lnSpc>
              <a:spcBef>
                <a:spcPts val="400"/>
              </a:spcBef>
              <a:spcAft>
                <a:spcPts val="0"/>
              </a:spcAft>
              <a:buSzPts val="800"/>
              <a:buNone/>
              <a:defRPr sz="800"/>
            </a:lvl8pPr>
            <a:lvl9pPr indent="-228600" lvl="8" marL="4114800" algn="l">
              <a:lnSpc>
                <a:spcPct val="120000"/>
              </a:lnSpc>
              <a:spcBef>
                <a:spcPts val="400"/>
              </a:spcBef>
              <a:spcAft>
                <a:spcPts val="0"/>
              </a:spcAft>
              <a:buSzPts val="800"/>
              <a:buNone/>
              <a:defRPr sz="800"/>
            </a:lvl9pPr>
          </a:lstStyle>
          <a:p/>
        </p:txBody>
      </p:sp>
      <p:sp>
        <p:nvSpPr>
          <p:cNvPr id="123" name="Google Shape;123;p22"/>
          <p:cNvSpPr txBox="1"/>
          <p:nvPr>
            <p:ph idx="10" type="dt"/>
          </p:nvPr>
        </p:nvSpPr>
        <p:spPr>
          <a:xfrm>
            <a:off x="1085536" y="4102392"/>
            <a:ext cx="4145513" cy="240092"/>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2"/>
          <p:cNvSpPr txBox="1"/>
          <p:nvPr>
            <p:ph idx="11" type="ftr"/>
          </p:nvPr>
        </p:nvSpPr>
        <p:spPr>
          <a:xfrm>
            <a:off x="1085536" y="238980"/>
            <a:ext cx="4155753" cy="240698"/>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2"/>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26" name="Google Shape;126;p22"/>
          <p:cNvCxnSpPr/>
          <p:nvPr/>
        </p:nvCxnSpPr>
        <p:spPr>
          <a:xfrm>
            <a:off x="1085536" y="2357704"/>
            <a:ext cx="4145513"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23"/>
          <p:cNvSpPr txBox="1"/>
          <p:nvPr>
            <p:ph type="title"/>
          </p:nvPr>
        </p:nvSpPr>
        <p:spPr>
          <a:xfrm>
            <a:off x="1088684" y="603389"/>
            <a:ext cx="7202456" cy="786926"/>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9" name="Google Shape;129;p23"/>
          <p:cNvSpPr txBox="1"/>
          <p:nvPr>
            <p:ph idx="1" type="body"/>
          </p:nvPr>
        </p:nvSpPr>
        <p:spPr>
          <a:xfrm rot="5400000">
            <a:off x="3395932" y="-795449"/>
            <a:ext cx="2587960" cy="7202456"/>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130" name="Google Shape;130;p23"/>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3"/>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3"/>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33" name="Google Shape;133;p23"/>
          <p:cNvCxnSpPr/>
          <p:nvPr/>
        </p:nvCxnSpPr>
        <p:spPr>
          <a:xfrm>
            <a:off x="1090422" y="1385316"/>
            <a:ext cx="720564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24"/>
          <p:cNvSpPr txBox="1"/>
          <p:nvPr>
            <p:ph type="title"/>
          </p:nvPr>
        </p:nvSpPr>
        <p:spPr>
          <a:xfrm rot="5400000">
            <a:off x="5937778" y="1740785"/>
            <a:ext cx="3494917" cy="1211807"/>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2400"/>
              <a:buFont typeface="Gill Sa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6" name="Google Shape;136;p24"/>
          <p:cNvSpPr txBox="1"/>
          <p:nvPr>
            <p:ph idx="1" type="body"/>
          </p:nvPr>
        </p:nvSpPr>
        <p:spPr>
          <a:xfrm rot="5400000">
            <a:off x="2271857" y="-589123"/>
            <a:ext cx="3494917" cy="5871623"/>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SzPts val="1400"/>
              <a:buChar char="•"/>
              <a:defRPr/>
            </a:lvl1pPr>
            <a:lvl2pPr indent="-317500" lvl="1" marL="914400" algn="l">
              <a:lnSpc>
                <a:spcPct val="120000"/>
              </a:lnSpc>
              <a:spcBef>
                <a:spcPts val="400"/>
              </a:spcBef>
              <a:spcAft>
                <a:spcPts val="0"/>
              </a:spcAft>
              <a:buSzPts val="1400"/>
              <a:buChar char="•"/>
              <a:defRPr/>
            </a:lvl2pPr>
            <a:lvl3pPr indent="-317500" lvl="2" marL="1371600" algn="l">
              <a:lnSpc>
                <a:spcPct val="120000"/>
              </a:lnSpc>
              <a:spcBef>
                <a:spcPts val="400"/>
              </a:spcBef>
              <a:spcAft>
                <a:spcPts val="0"/>
              </a:spcAft>
              <a:buSzPts val="1400"/>
              <a:buChar char="•"/>
              <a:defRPr/>
            </a:lvl3pPr>
            <a:lvl4pPr indent="-317500" lvl="3" marL="1828800" algn="l">
              <a:lnSpc>
                <a:spcPct val="120000"/>
              </a:lnSpc>
              <a:spcBef>
                <a:spcPts val="400"/>
              </a:spcBef>
              <a:spcAft>
                <a:spcPts val="0"/>
              </a:spcAft>
              <a:buSzPts val="1400"/>
              <a:buChar char="•"/>
              <a:defRPr/>
            </a:lvl4pPr>
            <a:lvl5pPr indent="-317500" lvl="4" marL="2286000" algn="l">
              <a:lnSpc>
                <a:spcPct val="120000"/>
              </a:lnSpc>
              <a:spcBef>
                <a:spcPts val="400"/>
              </a:spcBef>
              <a:spcAft>
                <a:spcPts val="0"/>
              </a:spcAft>
              <a:buSzPts val="1400"/>
              <a:buChar char="•"/>
              <a:defRPr/>
            </a:lvl5pPr>
            <a:lvl6pPr indent="-317500" lvl="5" marL="2743200" algn="l">
              <a:lnSpc>
                <a:spcPct val="120000"/>
              </a:lnSpc>
              <a:spcBef>
                <a:spcPts val="400"/>
              </a:spcBef>
              <a:spcAft>
                <a:spcPts val="0"/>
              </a:spcAft>
              <a:buSzPts val="1400"/>
              <a:buChar char="•"/>
              <a:defRPr/>
            </a:lvl6pPr>
            <a:lvl7pPr indent="-317500" lvl="6" marL="3200400" algn="l">
              <a:lnSpc>
                <a:spcPct val="120000"/>
              </a:lnSpc>
              <a:spcBef>
                <a:spcPts val="400"/>
              </a:spcBef>
              <a:spcAft>
                <a:spcPts val="0"/>
              </a:spcAft>
              <a:buSzPts val="1400"/>
              <a:buChar char="•"/>
              <a:defRPr/>
            </a:lvl7pPr>
            <a:lvl8pPr indent="-317500" lvl="7" marL="3657600" algn="l">
              <a:lnSpc>
                <a:spcPct val="120000"/>
              </a:lnSpc>
              <a:spcBef>
                <a:spcPts val="400"/>
              </a:spcBef>
              <a:spcAft>
                <a:spcPts val="0"/>
              </a:spcAft>
              <a:buSzPts val="1400"/>
              <a:buChar char="•"/>
              <a:defRPr/>
            </a:lvl8pPr>
            <a:lvl9pPr indent="-317500" lvl="8" marL="4114800" algn="l">
              <a:lnSpc>
                <a:spcPct val="120000"/>
              </a:lnSpc>
              <a:spcBef>
                <a:spcPts val="400"/>
              </a:spcBef>
              <a:spcAft>
                <a:spcPts val="0"/>
              </a:spcAft>
              <a:buSzPts val="1400"/>
              <a:buChar char="•"/>
              <a:defRPr/>
            </a:lvl9pPr>
          </a:lstStyle>
          <a:p/>
        </p:txBody>
      </p:sp>
      <p:sp>
        <p:nvSpPr>
          <p:cNvPr id="137" name="Google Shape;137;p24"/>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24"/>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4"/>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40" name="Google Shape;140;p24"/>
          <p:cNvCxnSpPr/>
          <p:nvPr/>
        </p:nvCxnSpPr>
        <p:spPr>
          <a:xfrm>
            <a:off x="7079333" y="599230"/>
            <a:ext cx="0" cy="3494917"/>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13"/>
          <p:cNvSpPr/>
          <p:nvPr/>
        </p:nvSpPr>
        <p:spPr>
          <a:xfrm>
            <a:off x="0" y="1514607"/>
            <a:ext cx="9144000" cy="3079456"/>
          </a:xfrm>
          <a:prstGeom prst="rect">
            <a:avLst/>
          </a:prstGeom>
          <a:gradFill>
            <a:gsLst>
              <a:gs pos="0">
                <a:srgbClr val="DFDBD5">
                  <a:alpha val="0"/>
                </a:srgbClr>
              </a:gs>
              <a:gs pos="100000">
                <a:schemeClr val="lt2"/>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rotWithShape="1">
          <a:blip r:embed="rId1">
            <a:alphaModFix/>
          </a:blip>
          <a:srcRect b="-1538" l="0" r="0" t="1538"/>
          <a:stretch/>
        </p:blipFill>
        <p:spPr>
          <a:xfrm>
            <a:off x="0" y="4594860"/>
            <a:ext cx="9144000" cy="557213"/>
          </a:xfrm>
          <a:prstGeom prst="rect">
            <a:avLst/>
          </a:prstGeom>
          <a:noFill/>
          <a:ln>
            <a:noFill/>
          </a:ln>
        </p:spPr>
      </p:pic>
      <p:sp>
        <p:nvSpPr>
          <p:cNvPr id="53" name="Google Shape;53;p13"/>
          <p:cNvSpPr txBox="1"/>
          <p:nvPr>
            <p:ph type="title"/>
          </p:nvPr>
        </p:nvSpPr>
        <p:spPr>
          <a:xfrm>
            <a:off x="1088684" y="603389"/>
            <a:ext cx="7202456" cy="786926"/>
          </a:xfrm>
          <a:prstGeom prst="rect">
            <a:avLst/>
          </a:prstGeom>
          <a:noFill/>
          <a:ln>
            <a:noFill/>
          </a:ln>
        </p:spPr>
        <p:txBody>
          <a:bodyPr anchorCtr="0" anchor="t" bIns="34275" lIns="68575" spcFirstLastPara="1" rIns="68575" wrap="square" tIns="34275">
            <a:normAutofit/>
          </a:bodyPr>
          <a:lstStyle>
            <a:lvl1pPr lvl="0" marR="0" rtl="0" algn="l">
              <a:lnSpc>
                <a:spcPct val="90000"/>
              </a:lnSpc>
              <a:spcBef>
                <a:spcPts val="0"/>
              </a:spcBef>
              <a:spcAft>
                <a:spcPts val="0"/>
              </a:spcAft>
              <a:buClr>
                <a:schemeClr val="dk1"/>
              </a:buClr>
              <a:buSzPts val="2400"/>
              <a:buFont typeface="Gill Sans"/>
              <a:buNone/>
              <a:defRPr b="0" i="0" sz="2400" u="none" cap="none" strike="noStrike">
                <a:solidFill>
                  <a:schemeClr val="dk1"/>
                </a:solidFill>
                <a:latin typeface="Gill Sans"/>
                <a:ea typeface="Gill Sans"/>
                <a:cs typeface="Gill Sans"/>
                <a:sym typeface="Gill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4" name="Google Shape;54;p13"/>
          <p:cNvSpPr txBox="1"/>
          <p:nvPr>
            <p:ph idx="1" type="body"/>
          </p:nvPr>
        </p:nvSpPr>
        <p:spPr>
          <a:xfrm>
            <a:off x="1088684" y="1511799"/>
            <a:ext cx="7202456" cy="2587960"/>
          </a:xfrm>
          <a:prstGeom prst="rect">
            <a:avLst/>
          </a:prstGeom>
          <a:noFill/>
          <a:ln>
            <a:noFill/>
          </a:ln>
        </p:spPr>
        <p:txBody>
          <a:bodyPr anchorCtr="0" anchor="t" bIns="34275" lIns="68575" spcFirstLastPara="1" rIns="68575" wrap="square" tIns="34275">
            <a:normAutofit/>
          </a:bodyPr>
          <a:lstStyle>
            <a:lvl1pPr indent="-323850" lvl="0" marL="457200" marR="0" rtl="0" algn="l">
              <a:lnSpc>
                <a:spcPct val="120000"/>
              </a:lnSpc>
              <a:spcBef>
                <a:spcPts val="800"/>
              </a:spcBef>
              <a:spcAft>
                <a:spcPts val="0"/>
              </a:spcAft>
              <a:buClr>
                <a:schemeClr val="accent1"/>
              </a:buClr>
              <a:buSzPts val="1500"/>
              <a:buFont typeface="Arial"/>
              <a:buChar char="•"/>
              <a:defRPr b="0" i="0" sz="1500" u="none" cap="none" strike="noStrike">
                <a:solidFill>
                  <a:schemeClr val="dk1"/>
                </a:solidFill>
                <a:latin typeface="Gill Sans"/>
                <a:ea typeface="Gill Sans"/>
                <a:cs typeface="Gill Sans"/>
                <a:sym typeface="Gill Sans"/>
              </a:defRPr>
            </a:lvl1pPr>
            <a:lvl2pPr indent="-317500" lvl="1" marL="914400" marR="0" rtl="0" algn="l">
              <a:lnSpc>
                <a:spcPct val="120000"/>
              </a:lnSpc>
              <a:spcBef>
                <a:spcPts val="4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2pPr>
            <a:lvl3pPr indent="-304800" lvl="2" marL="1371600" marR="0" rtl="0" algn="l">
              <a:lnSpc>
                <a:spcPct val="120000"/>
              </a:lnSpc>
              <a:spcBef>
                <a:spcPts val="4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3pPr>
            <a:lvl4pPr indent="-298450" lvl="3" marL="1828800" marR="0" rtl="0" algn="l">
              <a:lnSpc>
                <a:spcPct val="120000"/>
              </a:lnSpc>
              <a:spcBef>
                <a:spcPts val="400"/>
              </a:spcBef>
              <a:spcAft>
                <a:spcPts val="0"/>
              </a:spcAft>
              <a:buClr>
                <a:schemeClr val="accent1"/>
              </a:buClr>
              <a:buSzPts val="1100"/>
              <a:buFont typeface="Arial"/>
              <a:buChar char="•"/>
              <a:defRPr b="0" i="0" sz="1100" u="none" cap="none" strike="noStrike">
                <a:solidFill>
                  <a:schemeClr val="dk1"/>
                </a:solidFill>
                <a:latin typeface="Gill Sans"/>
                <a:ea typeface="Gill Sans"/>
                <a:cs typeface="Gill Sans"/>
                <a:sym typeface="Gill Sans"/>
              </a:defRPr>
            </a:lvl4pPr>
            <a:lvl5pPr indent="-285750" lvl="4" marL="2286000" marR="0" rtl="0" algn="l">
              <a:lnSpc>
                <a:spcPct val="120000"/>
              </a:lnSpc>
              <a:spcBef>
                <a:spcPts val="400"/>
              </a:spcBef>
              <a:spcAft>
                <a:spcPts val="0"/>
              </a:spcAft>
              <a:buClr>
                <a:schemeClr val="accent1"/>
              </a:buClr>
              <a:buSzPts val="900"/>
              <a:buFont typeface="Arial"/>
              <a:buChar char="•"/>
              <a:defRPr b="0" i="0" sz="900" u="none" cap="none" strike="noStrike">
                <a:solidFill>
                  <a:schemeClr val="dk1"/>
                </a:solidFill>
                <a:latin typeface="Gill Sans"/>
                <a:ea typeface="Gill Sans"/>
                <a:cs typeface="Gill Sans"/>
                <a:sym typeface="Gill Sans"/>
              </a:defRPr>
            </a:lvl5pPr>
            <a:lvl6pPr indent="-285750" lvl="5" marL="2743200" marR="0" rtl="0" algn="l">
              <a:lnSpc>
                <a:spcPct val="120000"/>
              </a:lnSpc>
              <a:spcBef>
                <a:spcPts val="400"/>
              </a:spcBef>
              <a:spcAft>
                <a:spcPts val="0"/>
              </a:spcAft>
              <a:buClr>
                <a:schemeClr val="accent1"/>
              </a:buClr>
              <a:buSzPts val="900"/>
              <a:buFont typeface="Arial"/>
              <a:buChar char="•"/>
              <a:defRPr b="0" i="0" sz="900" u="none" cap="none" strike="noStrike">
                <a:solidFill>
                  <a:schemeClr val="dk1"/>
                </a:solidFill>
                <a:latin typeface="Gill Sans"/>
                <a:ea typeface="Gill Sans"/>
                <a:cs typeface="Gill Sans"/>
                <a:sym typeface="Gill Sans"/>
              </a:defRPr>
            </a:lvl6pPr>
            <a:lvl7pPr indent="-285750" lvl="6" marL="3200400" marR="0" rtl="0" algn="l">
              <a:lnSpc>
                <a:spcPct val="120000"/>
              </a:lnSpc>
              <a:spcBef>
                <a:spcPts val="400"/>
              </a:spcBef>
              <a:spcAft>
                <a:spcPts val="0"/>
              </a:spcAft>
              <a:buClr>
                <a:schemeClr val="accent1"/>
              </a:buClr>
              <a:buSzPts val="900"/>
              <a:buFont typeface="Arial"/>
              <a:buChar char="•"/>
              <a:defRPr b="0" i="0" sz="900" u="none" cap="none" strike="noStrike">
                <a:solidFill>
                  <a:schemeClr val="dk1"/>
                </a:solidFill>
                <a:latin typeface="Gill Sans"/>
                <a:ea typeface="Gill Sans"/>
                <a:cs typeface="Gill Sans"/>
                <a:sym typeface="Gill Sans"/>
              </a:defRPr>
            </a:lvl7pPr>
            <a:lvl8pPr indent="-285750" lvl="7" marL="3657600" marR="0" rtl="0" algn="l">
              <a:lnSpc>
                <a:spcPct val="120000"/>
              </a:lnSpc>
              <a:spcBef>
                <a:spcPts val="400"/>
              </a:spcBef>
              <a:spcAft>
                <a:spcPts val="0"/>
              </a:spcAft>
              <a:buClr>
                <a:schemeClr val="accent1"/>
              </a:buClr>
              <a:buSzPts val="900"/>
              <a:buFont typeface="Arial"/>
              <a:buChar char="•"/>
              <a:defRPr b="0" i="0" sz="900" u="none" cap="none" strike="noStrike">
                <a:solidFill>
                  <a:schemeClr val="dk1"/>
                </a:solidFill>
                <a:latin typeface="Gill Sans"/>
                <a:ea typeface="Gill Sans"/>
                <a:cs typeface="Gill Sans"/>
                <a:sym typeface="Gill Sans"/>
              </a:defRPr>
            </a:lvl8pPr>
            <a:lvl9pPr indent="-285750" lvl="8" marL="4114800" marR="0" rtl="0" algn="l">
              <a:lnSpc>
                <a:spcPct val="120000"/>
              </a:lnSpc>
              <a:spcBef>
                <a:spcPts val="400"/>
              </a:spcBef>
              <a:spcAft>
                <a:spcPts val="0"/>
              </a:spcAft>
              <a:buClr>
                <a:schemeClr val="accent1"/>
              </a:buClr>
              <a:buSzPts val="900"/>
              <a:buFont typeface="Arial"/>
              <a:buChar char="•"/>
              <a:defRPr b="0" i="0" sz="900" u="none" cap="none" strike="noStrike">
                <a:solidFill>
                  <a:schemeClr val="dk1"/>
                </a:solidFill>
                <a:latin typeface="Gill Sans"/>
                <a:ea typeface="Gill Sans"/>
                <a:cs typeface="Gill Sans"/>
                <a:sym typeface="Gill Sans"/>
              </a:defRPr>
            </a:lvl9pPr>
          </a:lstStyle>
          <a:p/>
        </p:txBody>
      </p:sp>
      <p:sp>
        <p:nvSpPr>
          <p:cNvPr id="55" name="Google Shape;55;p13"/>
          <p:cNvSpPr txBox="1"/>
          <p:nvPr>
            <p:ph idx="10" type="dt"/>
          </p:nvPr>
        </p:nvSpPr>
        <p:spPr>
          <a:xfrm>
            <a:off x="5665604" y="247777"/>
            <a:ext cx="2625536" cy="231901"/>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9pPr>
          </a:lstStyle>
          <a:p/>
        </p:txBody>
      </p:sp>
      <p:sp>
        <p:nvSpPr>
          <p:cNvPr id="56" name="Google Shape;56;p13"/>
          <p:cNvSpPr txBox="1"/>
          <p:nvPr>
            <p:ph idx="11" type="ftr"/>
          </p:nvPr>
        </p:nvSpPr>
        <p:spPr>
          <a:xfrm>
            <a:off x="1088684" y="246980"/>
            <a:ext cx="4454127" cy="231901"/>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9pPr>
          </a:lstStyle>
          <a:p/>
        </p:txBody>
      </p:sp>
      <p:sp>
        <p:nvSpPr>
          <p:cNvPr id="57" name="Google Shape;57;p13"/>
          <p:cNvSpPr txBox="1"/>
          <p:nvPr>
            <p:ph idx="12" type="sldNum"/>
          </p:nvPr>
        </p:nvSpPr>
        <p:spPr>
          <a:xfrm>
            <a:off x="360045" y="599230"/>
            <a:ext cx="608264" cy="377684"/>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21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1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1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1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1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1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1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1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1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58" name="Google Shape;58;p13"/>
          <p:cNvCxnSpPr/>
          <p:nvPr/>
        </p:nvCxnSpPr>
        <p:spPr>
          <a:xfrm>
            <a:off x="0" y="4596310"/>
            <a:ext cx="9144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arxiv.org/pdf/2506.1698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1088684" y="1033976"/>
            <a:ext cx="7202400" cy="3564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Gill Sans"/>
              <a:buNone/>
            </a:pPr>
            <a:r>
              <a:rPr lang="en"/>
              <a:t>  </a:t>
            </a:r>
            <a:endParaRPr/>
          </a:p>
        </p:txBody>
      </p:sp>
      <p:sp>
        <p:nvSpPr>
          <p:cNvPr id="146" name="Google Shape;146;p25"/>
          <p:cNvSpPr txBox="1"/>
          <p:nvPr>
            <p:ph idx="1" type="body"/>
          </p:nvPr>
        </p:nvSpPr>
        <p:spPr>
          <a:xfrm>
            <a:off x="811161" y="1518200"/>
            <a:ext cx="7717800" cy="2322900"/>
          </a:xfrm>
          <a:prstGeom prst="rect">
            <a:avLst/>
          </a:prstGeom>
          <a:noFill/>
          <a:ln>
            <a:noFill/>
          </a:ln>
        </p:spPr>
        <p:txBody>
          <a:bodyPr anchorCtr="0" anchor="t" bIns="34275" lIns="68575" spcFirstLastPara="1" rIns="68575" wrap="square" tIns="34275">
            <a:normAutofit lnSpcReduction="20000"/>
          </a:bodyPr>
          <a:lstStyle/>
          <a:p>
            <a:pPr indent="0" lvl="1" marL="342900" rtl="0" algn="l">
              <a:lnSpc>
                <a:spcPct val="120000"/>
              </a:lnSpc>
              <a:spcBef>
                <a:spcPts val="0"/>
              </a:spcBef>
              <a:spcAft>
                <a:spcPts val="0"/>
              </a:spcAft>
              <a:buSzPts val="1500"/>
              <a:buNone/>
            </a:pPr>
            <a:r>
              <a:rPr b="1" lang="en" sz="1500"/>
              <a:t>Submitted By</a:t>
            </a:r>
            <a:endParaRPr b="1" sz="1500"/>
          </a:p>
          <a:p>
            <a:pPr indent="-171450" lvl="1" marL="520700" rtl="0" algn="l">
              <a:lnSpc>
                <a:spcPct val="120000"/>
              </a:lnSpc>
              <a:spcBef>
                <a:spcPts val="400"/>
              </a:spcBef>
              <a:spcAft>
                <a:spcPts val="0"/>
              </a:spcAft>
              <a:buSzPts val="1500"/>
              <a:buChar char="•"/>
            </a:pPr>
            <a:r>
              <a:rPr lang="en" sz="1500"/>
              <a:t>Shishir Khanal(1CR23AD113)</a:t>
            </a:r>
            <a:endParaRPr sz="1500"/>
          </a:p>
          <a:p>
            <a:pPr indent="-171450" lvl="1" marL="520700" rtl="0" algn="l">
              <a:lnSpc>
                <a:spcPct val="120000"/>
              </a:lnSpc>
              <a:spcBef>
                <a:spcPts val="400"/>
              </a:spcBef>
              <a:spcAft>
                <a:spcPts val="0"/>
              </a:spcAft>
              <a:buSzPts val="1500"/>
              <a:buChar char="•"/>
            </a:pPr>
            <a:r>
              <a:rPr lang="en" sz="1500"/>
              <a:t>Sayara Budhathoki(1CR23AD110)</a:t>
            </a:r>
            <a:endParaRPr/>
          </a:p>
          <a:p>
            <a:pPr indent="-171450" lvl="1" marL="520700" rtl="0" algn="l">
              <a:lnSpc>
                <a:spcPct val="120000"/>
              </a:lnSpc>
              <a:spcBef>
                <a:spcPts val="400"/>
              </a:spcBef>
              <a:spcAft>
                <a:spcPts val="0"/>
              </a:spcAft>
              <a:buSzPts val="1500"/>
              <a:buChar char="•"/>
            </a:pPr>
            <a:r>
              <a:rPr lang="en" sz="1500"/>
              <a:t>Sagar Pandit (1CR23AD104)</a:t>
            </a:r>
            <a:endParaRPr sz="1500"/>
          </a:p>
          <a:p>
            <a:pPr indent="-171450" lvl="1" marL="520700" rtl="0" algn="l">
              <a:lnSpc>
                <a:spcPct val="120000"/>
              </a:lnSpc>
              <a:spcBef>
                <a:spcPts val="400"/>
              </a:spcBef>
              <a:spcAft>
                <a:spcPts val="0"/>
              </a:spcAft>
              <a:buSzPts val="1500"/>
              <a:buChar char="•"/>
            </a:pPr>
            <a:r>
              <a:rPr lang="en" sz="1500"/>
              <a:t>Vivek Kumar (1CR23AD139)</a:t>
            </a:r>
            <a:endParaRPr/>
          </a:p>
          <a:p>
            <a:pPr indent="0" lvl="1" marL="342900" rtl="0" algn="l">
              <a:lnSpc>
                <a:spcPct val="120000"/>
              </a:lnSpc>
              <a:spcBef>
                <a:spcPts val="400"/>
              </a:spcBef>
              <a:spcAft>
                <a:spcPts val="0"/>
              </a:spcAft>
              <a:buSzPts val="1500"/>
              <a:buNone/>
            </a:pPr>
            <a:r>
              <a:rPr lang="en" sz="1500"/>
              <a:t> </a:t>
            </a:r>
            <a:r>
              <a:rPr b="1" lang="en" sz="1500"/>
              <a:t>Guidance of</a:t>
            </a:r>
            <a:endParaRPr b="1" sz="1500"/>
          </a:p>
          <a:p>
            <a:pPr indent="0" lvl="0" marL="520700" rtl="0" algn="l">
              <a:lnSpc>
                <a:spcPct val="120000"/>
              </a:lnSpc>
              <a:spcBef>
                <a:spcPts val="400"/>
              </a:spcBef>
              <a:spcAft>
                <a:spcPts val="0"/>
              </a:spcAft>
              <a:buNone/>
            </a:pPr>
            <a:r>
              <a:rPr lang="en"/>
              <a:t> Mr.</a:t>
            </a:r>
            <a:r>
              <a:rPr lang="en" sz="1500"/>
              <a:t>Varun Khare </a:t>
            </a:r>
            <a:endParaRPr sz="1500"/>
          </a:p>
          <a:p>
            <a:pPr indent="-76200" lvl="0" marL="177800" rtl="0" algn="l">
              <a:lnSpc>
                <a:spcPct val="120000"/>
              </a:lnSpc>
              <a:spcBef>
                <a:spcPts val="800"/>
              </a:spcBef>
              <a:spcAft>
                <a:spcPts val="0"/>
              </a:spcAft>
              <a:buSzPts val="1500"/>
              <a:buNone/>
            </a:pPr>
            <a:r>
              <a:t/>
            </a:r>
            <a:endParaRPr/>
          </a:p>
        </p:txBody>
      </p:sp>
      <p:sp>
        <p:nvSpPr>
          <p:cNvPr id="147" name="Google Shape;147;p25"/>
          <p:cNvSpPr txBox="1"/>
          <p:nvPr/>
        </p:nvSpPr>
        <p:spPr>
          <a:xfrm>
            <a:off x="935029" y="108713"/>
            <a:ext cx="7123800" cy="10389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700"/>
              <a:buFont typeface="Arial"/>
              <a:buNone/>
            </a:pPr>
            <a:r>
              <a:rPr b="1" i="0" lang="en" sz="1800" u="none" cap="none" strike="noStrike">
                <a:solidFill>
                  <a:srgbClr val="3D372F"/>
                </a:solidFill>
                <a:latin typeface="Times New Roman"/>
                <a:ea typeface="Times New Roman"/>
                <a:cs typeface="Times New Roman"/>
                <a:sym typeface="Times New Roman"/>
              </a:rPr>
              <a:t>BAD685 - Project Phase I</a:t>
            </a:r>
            <a:endParaRPr b="1" i="0" sz="1800" u="none" cap="none" strike="noStrike">
              <a:solidFill>
                <a:srgbClr val="3D372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700"/>
              <a:buFont typeface="Arial"/>
              <a:buNone/>
            </a:pPr>
            <a:r>
              <a:rPr b="1" i="0" lang="en" sz="1800" u="none" cap="none" strike="noStrike">
                <a:solidFill>
                  <a:srgbClr val="3D372F"/>
                </a:solidFill>
                <a:latin typeface="Times New Roman"/>
                <a:ea typeface="Times New Roman"/>
                <a:cs typeface="Times New Roman"/>
                <a:sym typeface="Times New Roman"/>
              </a:rPr>
              <a:t>Literature Review - 1 </a:t>
            </a:r>
            <a:endParaRPr b="1" i="0" sz="1800" u="none" cap="none" strike="noStrike">
              <a:solidFill>
                <a:srgbClr val="3D372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700"/>
              <a:buFont typeface="Arial"/>
              <a:buNone/>
            </a:pPr>
            <a:r>
              <a:t/>
            </a:r>
            <a:endParaRPr b="1" i="0" sz="2700" u="none" cap="none" strike="noStrike">
              <a:solidFill>
                <a:schemeClr val="accent1"/>
              </a:solidFill>
              <a:latin typeface="Times New Roman"/>
              <a:ea typeface="Times New Roman"/>
              <a:cs typeface="Times New Roman"/>
              <a:sym typeface="Times New Roman"/>
            </a:endParaRPr>
          </a:p>
        </p:txBody>
      </p:sp>
      <p:sp>
        <p:nvSpPr>
          <p:cNvPr id="148" name="Google Shape;148;p25"/>
          <p:cNvSpPr txBox="1"/>
          <p:nvPr/>
        </p:nvSpPr>
        <p:spPr>
          <a:xfrm>
            <a:off x="7071851" y="3956209"/>
            <a:ext cx="2072400" cy="4617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700"/>
              <a:buFont typeface="Arial"/>
              <a:buNone/>
            </a:pPr>
            <a:r>
              <a:rPr b="1" i="0" lang="en" sz="2100" u="none" cap="none" strike="noStrike">
                <a:solidFill>
                  <a:schemeClr val="accent1"/>
                </a:solidFill>
                <a:latin typeface="Times New Roman"/>
                <a:ea typeface="Times New Roman"/>
                <a:cs typeface="Times New Roman"/>
                <a:sym typeface="Times New Roman"/>
              </a:rPr>
              <a:t>Date:11/04/2026</a:t>
            </a:r>
            <a:endParaRPr b="0" i="0" sz="800" u="none" cap="none" strike="noStrike">
              <a:solidFill>
                <a:srgbClr val="000000"/>
              </a:solidFill>
              <a:latin typeface="Arial"/>
              <a:ea typeface="Arial"/>
              <a:cs typeface="Arial"/>
              <a:sym typeface="Arial"/>
            </a:endParaRPr>
          </a:p>
        </p:txBody>
      </p:sp>
      <p:graphicFrame>
        <p:nvGraphicFramePr>
          <p:cNvPr id="149" name="Google Shape;149;p25"/>
          <p:cNvGraphicFramePr/>
          <p:nvPr/>
        </p:nvGraphicFramePr>
        <p:xfrm>
          <a:off x="1246238" y="766916"/>
          <a:ext cx="3000000" cy="3000000"/>
        </p:xfrm>
        <a:graphic>
          <a:graphicData uri="http://schemas.openxmlformats.org/drawingml/2006/table">
            <a:tbl>
              <a:tblPr>
                <a:noFill/>
                <a:tableStyleId>{2FEA3EFD-C128-48BF-A8A9-2B900AD69DF7}</a:tableStyleId>
              </a:tblPr>
              <a:tblGrid>
                <a:gridCol w="6891250"/>
              </a:tblGrid>
              <a:tr h="508400">
                <a:tc>
                  <a:txBody>
                    <a:bodyPr/>
                    <a:lstStyle/>
                    <a:p>
                      <a:pPr indent="0" lvl="0" marL="0" marR="0" rtl="0" algn="l">
                        <a:spcBef>
                          <a:spcPts val="0"/>
                        </a:spcBef>
                        <a:spcAft>
                          <a:spcPts val="0"/>
                        </a:spcAft>
                        <a:buNone/>
                      </a:pPr>
                      <a:r>
                        <a:rPr b="1" lang="en" sz="1500"/>
                        <a:t>                                 Agentic AI Based Learing Platform </a:t>
                      </a:r>
                      <a:endParaRPr sz="1100"/>
                    </a:p>
                  </a:txBody>
                  <a:tcPr marT="14300" marB="14300" marR="21425" marL="2142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ABSTRACT</a:t>
            </a:r>
            <a:endParaRPr/>
          </a:p>
        </p:txBody>
      </p:sp>
      <p:sp>
        <p:nvSpPr>
          <p:cNvPr id="155" name="Google Shape;155;p26"/>
          <p:cNvSpPr txBox="1"/>
          <p:nvPr>
            <p:ph idx="1" type="body"/>
          </p:nvPr>
        </p:nvSpPr>
        <p:spPr>
          <a:xfrm>
            <a:off x="1291500" y="1527325"/>
            <a:ext cx="6961200" cy="25203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b="1" lang="en" sz="1100">
                <a:latin typeface="Arial"/>
                <a:ea typeface="Arial"/>
                <a:cs typeface="Arial"/>
                <a:sym typeface="Arial"/>
              </a:rPr>
              <a:t>P</a:t>
            </a:r>
            <a:r>
              <a:rPr lang="en" sz="1100">
                <a:latin typeface="Arial"/>
                <a:ea typeface="Arial"/>
                <a:cs typeface="Arial"/>
                <a:sym typeface="Arial"/>
              </a:rPr>
              <a:t>rivate, collaborative research and learning platform powered by a Large Language Model, where only workspace members can interact with each other and the AI keeping team knowledge secure and learning interactive. It uses a Gemini-powered RAG pipeline to answer questions strictly from user-uploaded documents, providing cited responses that eliminate AI hallucinations. An agentic AI layer handles multi-step research tasks automatically, such as literature reviews and report generation, without requiring manual effort at every step. A built-in Studio module lets teams instantly generate flashcards, quizzes, slide decks, and mind maps from their uploaded materials. Together, these features make CollabMind AI a single unified platform for collaborative, source-grounded, and intelligent research  built and deployed within 3 months.</a:t>
            </a:r>
            <a:endParaRPr sz="1100">
              <a:latin typeface="Arial"/>
              <a:ea typeface="Arial"/>
              <a:cs typeface="Arial"/>
              <a:sym typeface="Arial"/>
            </a:endParaRPr>
          </a:p>
        </p:txBody>
      </p:sp>
      <p:sp>
        <p:nvSpPr>
          <p:cNvPr id="156" name="Google Shape;156;p26"/>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1681618" y="729853"/>
            <a:ext cx="5756215" cy="510224"/>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OUTLINE</a:t>
            </a:r>
            <a:endParaRPr/>
          </a:p>
        </p:txBody>
      </p:sp>
      <p:sp>
        <p:nvSpPr>
          <p:cNvPr id="162" name="Google Shape;162;p27"/>
          <p:cNvSpPr txBox="1"/>
          <p:nvPr>
            <p:ph idx="1" type="body"/>
          </p:nvPr>
        </p:nvSpPr>
        <p:spPr>
          <a:xfrm>
            <a:off x="1001107" y="1599120"/>
            <a:ext cx="6571059" cy="2562225"/>
          </a:xfrm>
          <a:prstGeom prst="rect">
            <a:avLst/>
          </a:prstGeom>
          <a:noFill/>
          <a:ln>
            <a:noFill/>
          </a:ln>
        </p:spPr>
        <p:txBody>
          <a:bodyPr anchorCtr="0" anchor="t" bIns="34275" lIns="68575" spcFirstLastPara="1" rIns="68575" wrap="square" tIns="34275">
            <a:normAutofit/>
          </a:bodyPr>
          <a:lstStyle/>
          <a:p>
            <a:pPr indent="-234950" lvl="0" marL="342900" rtl="0" algn="l">
              <a:lnSpc>
                <a:spcPct val="100000"/>
              </a:lnSpc>
              <a:spcBef>
                <a:spcPts val="800"/>
              </a:spcBef>
              <a:spcAft>
                <a:spcPts val="0"/>
              </a:spcAft>
              <a:buSzPts val="1100"/>
              <a:buChar char="►"/>
            </a:pPr>
            <a:r>
              <a:rPr lang="en"/>
              <a:t>Introduction</a:t>
            </a:r>
            <a:endParaRPr/>
          </a:p>
          <a:p>
            <a:pPr indent="-234950" lvl="0" marL="342900" rtl="0" algn="l">
              <a:lnSpc>
                <a:spcPct val="100000"/>
              </a:lnSpc>
              <a:spcBef>
                <a:spcPts val="800"/>
              </a:spcBef>
              <a:spcAft>
                <a:spcPts val="0"/>
              </a:spcAft>
              <a:buSzPts val="1100"/>
              <a:buChar char="►"/>
            </a:pPr>
            <a:r>
              <a:rPr lang="en"/>
              <a:t>Problem Statement</a:t>
            </a:r>
            <a:endParaRPr/>
          </a:p>
          <a:p>
            <a:pPr indent="-234950" lvl="0" marL="342900" rtl="0" algn="l">
              <a:lnSpc>
                <a:spcPct val="100000"/>
              </a:lnSpc>
              <a:spcBef>
                <a:spcPts val="800"/>
              </a:spcBef>
              <a:spcAft>
                <a:spcPts val="0"/>
              </a:spcAft>
              <a:buSzPts val="1100"/>
              <a:buChar char="►"/>
            </a:pPr>
            <a:r>
              <a:rPr lang="en"/>
              <a:t>Objectives</a:t>
            </a:r>
            <a:endParaRPr/>
          </a:p>
          <a:p>
            <a:pPr indent="-234950" lvl="0" marL="342900" rtl="0" algn="l">
              <a:lnSpc>
                <a:spcPct val="100000"/>
              </a:lnSpc>
              <a:spcBef>
                <a:spcPts val="800"/>
              </a:spcBef>
              <a:spcAft>
                <a:spcPts val="0"/>
              </a:spcAft>
              <a:buSzPts val="1100"/>
              <a:buChar char="►"/>
            </a:pPr>
            <a:r>
              <a:rPr lang="en"/>
              <a:t>Base Paper – Journal Paper Reference</a:t>
            </a:r>
            <a:endParaRPr/>
          </a:p>
          <a:p>
            <a:pPr indent="-234950" lvl="0" marL="342900" rtl="0" algn="l">
              <a:lnSpc>
                <a:spcPct val="100000"/>
              </a:lnSpc>
              <a:spcBef>
                <a:spcPts val="800"/>
              </a:spcBef>
              <a:spcAft>
                <a:spcPts val="0"/>
              </a:spcAft>
              <a:buSzPts val="1100"/>
              <a:buChar char="►"/>
            </a:pPr>
            <a:r>
              <a:rPr lang="en"/>
              <a:t>Literature Survey</a:t>
            </a:r>
            <a:endParaRPr/>
          </a:p>
          <a:p>
            <a:pPr indent="-234950" lvl="0" marL="342900" rtl="0" algn="l">
              <a:lnSpc>
                <a:spcPct val="100000"/>
              </a:lnSpc>
              <a:spcBef>
                <a:spcPts val="800"/>
              </a:spcBef>
              <a:spcAft>
                <a:spcPts val="0"/>
              </a:spcAft>
              <a:buSzPts val="1100"/>
              <a:buChar char="►"/>
            </a:pPr>
            <a:r>
              <a:rPr lang="en"/>
              <a:t>Gap Identification</a:t>
            </a:r>
            <a:endParaRPr/>
          </a:p>
          <a:p>
            <a:pPr indent="-234950" lvl="0" marL="342900" rtl="0" algn="l">
              <a:lnSpc>
                <a:spcPct val="100000"/>
              </a:lnSpc>
              <a:spcBef>
                <a:spcPts val="800"/>
              </a:spcBef>
              <a:spcAft>
                <a:spcPts val="0"/>
              </a:spcAft>
              <a:buSzPts val="1100"/>
              <a:buChar char="►"/>
            </a:pPr>
            <a:r>
              <a:rPr lang="en"/>
              <a:t>References</a:t>
            </a:r>
            <a:endParaRPr/>
          </a:p>
        </p:txBody>
      </p:sp>
      <p:sp>
        <p:nvSpPr>
          <p:cNvPr id="163" name="Google Shape;163;p27"/>
          <p:cNvSpPr txBox="1"/>
          <p:nvPr>
            <p:ph idx="12" type="sldNum"/>
          </p:nvPr>
        </p:nvSpPr>
        <p:spPr>
          <a:xfrm>
            <a:off x="7754540" y="114300"/>
            <a:ext cx="628650" cy="359569"/>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1681618" y="729853"/>
            <a:ext cx="5756215" cy="510224"/>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INTRODUCTION</a:t>
            </a:r>
            <a:endParaRPr/>
          </a:p>
        </p:txBody>
      </p:sp>
      <p:sp>
        <p:nvSpPr>
          <p:cNvPr id="169" name="Google Shape;169;p28"/>
          <p:cNvSpPr txBox="1"/>
          <p:nvPr>
            <p:ph idx="1" type="body"/>
          </p:nvPr>
        </p:nvSpPr>
        <p:spPr>
          <a:xfrm>
            <a:off x="1089450" y="1416475"/>
            <a:ext cx="7163700" cy="3023100"/>
          </a:xfrm>
          <a:prstGeom prst="rect">
            <a:avLst/>
          </a:prstGeom>
          <a:noFill/>
          <a:ln>
            <a:noFill/>
          </a:ln>
        </p:spPr>
        <p:txBody>
          <a:bodyPr anchorCtr="0" anchor="t" bIns="34275" lIns="68575" spcFirstLastPara="1" rIns="68575" wrap="square" tIns="34275">
            <a:noAutofit/>
          </a:bodyPr>
          <a:lstStyle/>
          <a:p>
            <a:pPr indent="-152400" lvl="0" marL="177800" rtl="0" algn="l">
              <a:lnSpc>
                <a:spcPct val="115000"/>
              </a:lnSpc>
              <a:spcBef>
                <a:spcPts val="1200"/>
              </a:spcBef>
              <a:spcAft>
                <a:spcPts val="0"/>
              </a:spcAft>
              <a:buSzPts val="1000"/>
              <a:buChar char="►"/>
            </a:pPr>
            <a:r>
              <a:rPr lang="en" sz="1400"/>
              <a:t>CollabMind AI is a private collaborative research platform designed to help teams work together efficiently using Artificial Intelligence. In today’s digital world, students and researchers deal with large amounts of information, making it difficult to organize, understand, and collaborate effectively.</a:t>
            </a:r>
            <a:endParaRPr sz="1400"/>
          </a:p>
          <a:p>
            <a:pPr indent="-152400" lvl="0" marL="177800" rtl="0" algn="l">
              <a:lnSpc>
                <a:spcPct val="115000"/>
              </a:lnSpc>
              <a:spcBef>
                <a:spcPts val="0"/>
              </a:spcBef>
              <a:spcAft>
                <a:spcPts val="0"/>
              </a:spcAft>
              <a:buSzPts val="1000"/>
              <a:buChar char="►"/>
            </a:pPr>
            <a:r>
              <a:rPr lang="en" sz="1400"/>
              <a:t>This platform integrates advanced AI with real-time collaboration features, allowing multiple users to upload documents, interact with AI, and generate useful outputs such as notes, quizzes, flashcards, and presentations. The system uses Google Gemini AI to provide intelligent responses based only on user-uploaded documents, ensuring accuracy and relevance.</a:t>
            </a:r>
            <a:endParaRPr sz="1400"/>
          </a:p>
          <a:p>
            <a:pPr indent="-152400" lvl="0" marL="177800" rtl="0" algn="l">
              <a:lnSpc>
                <a:spcPct val="115000"/>
              </a:lnSpc>
              <a:spcBef>
                <a:spcPts val="0"/>
              </a:spcBef>
              <a:spcAft>
                <a:spcPts val="0"/>
              </a:spcAft>
              <a:buSzPts val="1000"/>
              <a:buChar char="►"/>
            </a:pPr>
            <a:r>
              <a:rPr lang="en" sz="1400"/>
              <a:t>The main goal of CollabMind AI is to combine collaboration, privacy, and AI-powered automation into a single platform, making research and learning faster, smarter, and more organized.</a:t>
            </a:r>
            <a:endParaRPr sz="1400"/>
          </a:p>
          <a:p>
            <a:pPr indent="0" lvl="0" marL="0" rtl="0" algn="l">
              <a:lnSpc>
                <a:spcPct val="100000"/>
              </a:lnSpc>
              <a:spcBef>
                <a:spcPts val="1200"/>
              </a:spcBef>
              <a:spcAft>
                <a:spcPts val="0"/>
              </a:spcAft>
              <a:buNone/>
            </a:pPr>
            <a:r>
              <a:rPr lang="en" sz="1400"/>
              <a:t>  </a:t>
            </a:r>
            <a:endParaRPr sz="1400"/>
          </a:p>
          <a:p>
            <a:pPr indent="-165100" lvl="0" marL="342900" rtl="0" algn="l">
              <a:lnSpc>
                <a:spcPct val="100000"/>
              </a:lnSpc>
              <a:spcBef>
                <a:spcPts val="800"/>
              </a:spcBef>
              <a:spcAft>
                <a:spcPts val="0"/>
              </a:spcAft>
              <a:buSzPts val="1100"/>
              <a:buNone/>
            </a:pPr>
            <a:r>
              <a:t/>
            </a:r>
            <a:endParaRPr sz="1400"/>
          </a:p>
        </p:txBody>
      </p:sp>
      <p:sp>
        <p:nvSpPr>
          <p:cNvPr id="170" name="Google Shape;170;p28"/>
          <p:cNvSpPr txBox="1"/>
          <p:nvPr>
            <p:ph idx="12" type="sldNum"/>
          </p:nvPr>
        </p:nvSpPr>
        <p:spPr>
          <a:xfrm>
            <a:off x="7754540" y="114300"/>
            <a:ext cx="628650" cy="359569"/>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1681618" y="729853"/>
            <a:ext cx="5756215" cy="510224"/>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PROBLEM STATEMENT</a:t>
            </a:r>
            <a:endParaRPr/>
          </a:p>
        </p:txBody>
      </p:sp>
      <p:sp>
        <p:nvSpPr>
          <p:cNvPr id="176" name="Google Shape;176;p29"/>
          <p:cNvSpPr txBox="1"/>
          <p:nvPr>
            <p:ph idx="1" type="body"/>
          </p:nvPr>
        </p:nvSpPr>
        <p:spPr>
          <a:xfrm>
            <a:off x="965800" y="1683949"/>
            <a:ext cx="6620400" cy="27633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lang="en"/>
              <a:t>Existing tools used for research and collaboration have several limitations:</a:t>
            </a:r>
            <a:endParaRPr/>
          </a:p>
          <a:p>
            <a:pPr indent="-298450" lvl="0" marL="457200" rtl="0" algn="l">
              <a:lnSpc>
                <a:spcPct val="115000"/>
              </a:lnSpc>
              <a:spcBef>
                <a:spcPts val="1200"/>
              </a:spcBef>
              <a:spcAft>
                <a:spcPts val="0"/>
              </a:spcAft>
              <a:buClr>
                <a:schemeClr val="dk1"/>
              </a:buClr>
              <a:buSzPts val="1100"/>
              <a:buChar char="●"/>
            </a:pPr>
            <a:r>
              <a:rPr lang="en"/>
              <a:t>AI tools like ChatGPT do not support collaborative document-based workflows</a:t>
            </a:r>
            <a:endParaRPr/>
          </a:p>
          <a:p>
            <a:pPr indent="-298450" lvl="0" marL="457200" rtl="0" algn="l">
              <a:lnSpc>
                <a:spcPct val="115000"/>
              </a:lnSpc>
              <a:spcBef>
                <a:spcPts val="0"/>
              </a:spcBef>
              <a:spcAft>
                <a:spcPts val="0"/>
              </a:spcAft>
              <a:buClr>
                <a:schemeClr val="dk1"/>
              </a:buClr>
              <a:buSzPts val="1100"/>
              <a:buChar char="●"/>
            </a:pPr>
            <a:r>
              <a:rPr lang="en"/>
              <a:t>Platforms like Google Docs allow collaboration but lack AI assistance</a:t>
            </a:r>
            <a:endParaRPr/>
          </a:p>
          <a:p>
            <a:pPr indent="-298450" lvl="0" marL="457200" rtl="0" algn="l">
              <a:lnSpc>
                <a:spcPct val="115000"/>
              </a:lnSpc>
              <a:spcBef>
                <a:spcPts val="0"/>
              </a:spcBef>
              <a:spcAft>
                <a:spcPts val="0"/>
              </a:spcAft>
              <a:buClr>
                <a:schemeClr val="dk1"/>
              </a:buClr>
              <a:buSzPts val="1100"/>
              <a:buChar char="●"/>
            </a:pPr>
            <a:r>
              <a:rPr lang="en"/>
              <a:t>Many AI tools provide answers without proper sources, reducing reliability</a:t>
            </a:r>
            <a:endParaRPr/>
          </a:p>
          <a:p>
            <a:pPr indent="-298450" lvl="0" marL="457200" rtl="0" algn="l">
              <a:lnSpc>
                <a:spcPct val="115000"/>
              </a:lnSpc>
              <a:spcBef>
                <a:spcPts val="0"/>
              </a:spcBef>
              <a:spcAft>
                <a:spcPts val="0"/>
              </a:spcAft>
              <a:buClr>
                <a:schemeClr val="dk1"/>
              </a:buClr>
              <a:buSzPts val="1100"/>
              <a:buChar char="●"/>
            </a:pPr>
            <a:r>
              <a:rPr lang="en"/>
              <a:t>Users need to switch between multiple applications for different tasks</a:t>
            </a:r>
            <a:endParaRPr/>
          </a:p>
          <a:p>
            <a:pPr indent="-298450" lvl="0" marL="457200" rtl="0" algn="l">
              <a:lnSpc>
                <a:spcPct val="115000"/>
              </a:lnSpc>
              <a:spcBef>
                <a:spcPts val="0"/>
              </a:spcBef>
              <a:spcAft>
                <a:spcPts val="0"/>
              </a:spcAft>
              <a:buClr>
                <a:schemeClr val="dk1"/>
              </a:buClr>
              <a:buSzPts val="1100"/>
              <a:buChar char="●"/>
            </a:pPr>
            <a:r>
              <a:rPr lang="en"/>
              <a:t>Most platforms do not ensure complete data privacy</a:t>
            </a:r>
            <a:endParaRPr/>
          </a:p>
          <a:p>
            <a:pPr indent="-298450" lvl="0" marL="457200" rtl="0" algn="l">
              <a:lnSpc>
                <a:spcPct val="115000"/>
              </a:lnSpc>
              <a:spcBef>
                <a:spcPts val="0"/>
              </a:spcBef>
              <a:spcAft>
                <a:spcPts val="0"/>
              </a:spcAft>
              <a:buClr>
                <a:schemeClr val="dk1"/>
              </a:buClr>
              <a:buSzPts val="1100"/>
              <a:buChar char="●"/>
            </a:pPr>
            <a:r>
              <a:rPr lang="en"/>
              <a:t>Lack of automation increases manual effort in research tasks</a:t>
            </a:r>
            <a:endParaRPr/>
          </a:p>
          <a:p>
            <a:pPr indent="0" lvl="0" marL="0" rtl="0" algn="l">
              <a:lnSpc>
                <a:spcPct val="115000"/>
              </a:lnSpc>
              <a:spcBef>
                <a:spcPts val="1200"/>
              </a:spcBef>
              <a:spcAft>
                <a:spcPts val="0"/>
              </a:spcAft>
              <a:buNone/>
            </a:pPr>
            <a:r>
              <a:rPr lang="en"/>
              <a:t>These issues make research inefficient, time-consuming, and less reliable.</a:t>
            </a:r>
            <a:endParaRPr/>
          </a:p>
          <a:p>
            <a:pPr indent="0" lvl="0" marL="177800" rtl="0" algn="l">
              <a:lnSpc>
                <a:spcPct val="100000"/>
              </a:lnSpc>
              <a:spcBef>
                <a:spcPts val="1200"/>
              </a:spcBef>
              <a:spcAft>
                <a:spcPts val="0"/>
              </a:spcAft>
              <a:buNone/>
            </a:pPr>
            <a:r>
              <a:t/>
            </a:r>
            <a:endParaRPr/>
          </a:p>
          <a:p>
            <a:pPr indent="-165100" lvl="0" marL="342900" rtl="0" algn="l">
              <a:lnSpc>
                <a:spcPct val="100000"/>
              </a:lnSpc>
              <a:spcBef>
                <a:spcPts val="800"/>
              </a:spcBef>
              <a:spcAft>
                <a:spcPts val="0"/>
              </a:spcAft>
              <a:buSzPts val="1100"/>
              <a:buNone/>
            </a:pPr>
            <a:r>
              <a:t/>
            </a:r>
            <a:endParaRPr/>
          </a:p>
        </p:txBody>
      </p:sp>
      <p:sp>
        <p:nvSpPr>
          <p:cNvPr id="177" name="Google Shape;177;p29"/>
          <p:cNvSpPr txBox="1"/>
          <p:nvPr>
            <p:ph idx="12" type="sldNum"/>
          </p:nvPr>
        </p:nvSpPr>
        <p:spPr>
          <a:xfrm>
            <a:off x="7754540" y="114300"/>
            <a:ext cx="628650" cy="359569"/>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1681618" y="729853"/>
            <a:ext cx="5756215" cy="510224"/>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OBJECTIVES</a:t>
            </a:r>
            <a:endParaRPr/>
          </a:p>
        </p:txBody>
      </p:sp>
      <p:sp>
        <p:nvSpPr>
          <p:cNvPr id="183" name="Google Shape;183;p30"/>
          <p:cNvSpPr txBox="1"/>
          <p:nvPr>
            <p:ph idx="1" type="body"/>
          </p:nvPr>
        </p:nvSpPr>
        <p:spPr>
          <a:xfrm>
            <a:off x="866775" y="1952625"/>
            <a:ext cx="6571059" cy="2562225"/>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a:t>The main objectives of the CollabMind AI project are:</a:t>
            </a:r>
            <a:endParaRPr/>
          </a:p>
          <a:p>
            <a:pPr indent="-298450" lvl="0" marL="457200" rtl="0" algn="l">
              <a:lnSpc>
                <a:spcPct val="115000"/>
              </a:lnSpc>
              <a:spcBef>
                <a:spcPts val="1200"/>
              </a:spcBef>
              <a:spcAft>
                <a:spcPts val="0"/>
              </a:spcAft>
              <a:buClr>
                <a:schemeClr val="dk1"/>
              </a:buClr>
              <a:buSzPts val="1100"/>
              <a:buChar char="●"/>
            </a:pPr>
            <a:r>
              <a:rPr lang="en"/>
              <a:t>To develop a secure and private collaborative workspace</a:t>
            </a:r>
            <a:endParaRPr/>
          </a:p>
          <a:p>
            <a:pPr indent="-298450" lvl="0" marL="457200" rtl="0" algn="l">
              <a:lnSpc>
                <a:spcPct val="115000"/>
              </a:lnSpc>
              <a:spcBef>
                <a:spcPts val="0"/>
              </a:spcBef>
              <a:spcAft>
                <a:spcPts val="0"/>
              </a:spcAft>
              <a:buClr>
                <a:schemeClr val="dk1"/>
              </a:buClr>
              <a:buSzPts val="1100"/>
              <a:buChar char="●"/>
            </a:pPr>
            <a:r>
              <a:rPr lang="en"/>
              <a:t>To enable multiple users to work together in real time</a:t>
            </a:r>
            <a:endParaRPr/>
          </a:p>
          <a:p>
            <a:pPr indent="-298450" lvl="0" marL="457200" rtl="0" algn="l">
              <a:lnSpc>
                <a:spcPct val="115000"/>
              </a:lnSpc>
              <a:spcBef>
                <a:spcPts val="0"/>
              </a:spcBef>
              <a:spcAft>
                <a:spcPts val="0"/>
              </a:spcAft>
              <a:buClr>
                <a:schemeClr val="dk1"/>
              </a:buClr>
              <a:buSzPts val="1100"/>
              <a:buChar char="●"/>
            </a:pPr>
            <a:r>
              <a:rPr lang="en"/>
              <a:t>To integrate AI that provides answers based on uploaded documents</a:t>
            </a:r>
            <a:endParaRPr/>
          </a:p>
          <a:p>
            <a:pPr indent="-298450" lvl="0" marL="457200" rtl="0" algn="l">
              <a:lnSpc>
                <a:spcPct val="115000"/>
              </a:lnSpc>
              <a:spcBef>
                <a:spcPts val="0"/>
              </a:spcBef>
              <a:spcAft>
                <a:spcPts val="0"/>
              </a:spcAft>
              <a:buClr>
                <a:schemeClr val="dk1"/>
              </a:buClr>
              <a:buSzPts val="1100"/>
              <a:buChar char="●"/>
            </a:pPr>
            <a:r>
              <a:rPr lang="en"/>
              <a:t>To generate study materials like notes, quizzes, and flashcards automatically</a:t>
            </a:r>
            <a:endParaRPr/>
          </a:p>
          <a:p>
            <a:pPr indent="-298450" lvl="0" marL="457200" rtl="0" algn="l">
              <a:lnSpc>
                <a:spcPct val="115000"/>
              </a:lnSpc>
              <a:spcBef>
                <a:spcPts val="0"/>
              </a:spcBef>
              <a:spcAft>
                <a:spcPts val="0"/>
              </a:spcAft>
              <a:buClr>
                <a:schemeClr val="dk1"/>
              </a:buClr>
              <a:buSzPts val="1100"/>
              <a:buChar char="●"/>
            </a:pPr>
            <a:r>
              <a:rPr lang="en"/>
              <a:t>To implement agent-based AI for task automation</a:t>
            </a:r>
            <a:endParaRPr/>
          </a:p>
          <a:p>
            <a:pPr indent="-298450" lvl="0" marL="457200" rtl="0" algn="l">
              <a:lnSpc>
                <a:spcPct val="115000"/>
              </a:lnSpc>
              <a:spcBef>
                <a:spcPts val="0"/>
              </a:spcBef>
              <a:spcAft>
                <a:spcPts val="0"/>
              </a:spcAft>
              <a:buClr>
                <a:schemeClr val="dk1"/>
              </a:buClr>
              <a:buSzPts val="1100"/>
              <a:buChar char="●"/>
            </a:pPr>
            <a:r>
              <a:rPr lang="en"/>
              <a:t>To ensure data privacy and prevent information leakage</a:t>
            </a:r>
            <a:endParaRPr/>
          </a:p>
          <a:p>
            <a:pPr indent="-298450" lvl="0" marL="457200" rtl="0" algn="l">
              <a:lnSpc>
                <a:spcPct val="115000"/>
              </a:lnSpc>
              <a:spcBef>
                <a:spcPts val="0"/>
              </a:spcBef>
              <a:spcAft>
                <a:spcPts val="0"/>
              </a:spcAft>
              <a:buClr>
                <a:schemeClr val="dk1"/>
              </a:buClr>
              <a:buSzPts val="1100"/>
              <a:buChar char="●"/>
            </a:pPr>
            <a:r>
              <a:rPr lang="en"/>
              <a:t>To build a scalable system using modern technologies</a:t>
            </a:r>
            <a:endParaRPr/>
          </a:p>
          <a:p>
            <a:pPr indent="-165100" lvl="0" marL="342900" rtl="0" algn="l">
              <a:lnSpc>
                <a:spcPct val="100000"/>
              </a:lnSpc>
              <a:spcBef>
                <a:spcPts val="1200"/>
              </a:spcBef>
              <a:spcAft>
                <a:spcPts val="0"/>
              </a:spcAft>
              <a:buSzPts val="1100"/>
              <a:buNone/>
            </a:pPr>
            <a:r>
              <a:t/>
            </a:r>
            <a:endParaRPr/>
          </a:p>
        </p:txBody>
      </p:sp>
      <p:sp>
        <p:nvSpPr>
          <p:cNvPr id="184" name="Google Shape;184;p30"/>
          <p:cNvSpPr txBox="1"/>
          <p:nvPr>
            <p:ph idx="12" type="sldNum"/>
          </p:nvPr>
        </p:nvSpPr>
        <p:spPr>
          <a:xfrm>
            <a:off x="7754540" y="114300"/>
            <a:ext cx="628650" cy="359569"/>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1681618" y="729853"/>
            <a:ext cx="5756215" cy="510224"/>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2"/>
              </a:buClr>
              <a:buSzPts val="1400"/>
              <a:buFont typeface="Gill Sans"/>
              <a:buNone/>
            </a:pPr>
            <a:r>
              <a:rPr lang="en"/>
              <a:t>BASE PAPER</a:t>
            </a:r>
            <a:endParaRPr/>
          </a:p>
        </p:txBody>
      </p:sp>
      <p:sp>
        <p:nvSpPr>
          <p:cNvPr id="190" name="Google Shape;190;p31"/>
          <p:cNvSpPr txBox="1"/>
          <p:nvPr>
            <p:ph idx="1" type="body"/>
          </p:nvPr>
        </p:nvSpPr>
        <p:spPr>
          <a:xfrm>
            <a:off x="988275" y="1605925"/>
            <a:ext cx="7148400" cy="25269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300">
                <a:latin typeface="Arial"/>
                <a:ea typeface="Arial"/>
                <a:cs typeface="Arial"/>
                <a:sym typeface="Arial"/>
              </a:rPr>
              <a:t>RAGentA: Multi-Agent Retrieval-Augmented Generation for Attributed Question Answering</a:t>
            </a:r>
            <a:endParaRPr>
              <a:highlight>
                <a:srgbClr val="FFFF00"/>
              </a:highlight>
            </a:endParaRPr>
          </a:p>
          <a:p>
            <a:pPr indent="0" lvl="0" marL="0" rtl="0" algn="l">
              <a:lnSpc>
                <a:spcPct val="115000"/>
              </a:lnSpc>
              <a:spcBef>
                <a:spcPts val="0"/>
              </a:spcBef>
              <a:spcAft>
                <a:spcPts val="0"/>
              </a:spcAft>
              <a:buClr>
                <a:schemeClr val="dk1"/>
              </a:buClr>
              <a:buSzPts val="1100"/>
              <a:buFont typeface="Arial"/>
              <a:buNone/>
            </a:pPr>
            <a:r>
              <a:t/>
            </a:r>
            <a:endParaRPr sz="1300">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300"/>
              <a:t>Reference Paper:</a:t>
            </a:r>
            <a:endParaRPr sz="1300"/>
          </a:p>
          <a:p>
            <a:pPr indent="0" lvl="0" marL="0" rtl="0" algn="l">
              <a:lnSpc>
                <a:spcPct val="115000"/>
              </a:lnSpc>
              <a:spcBef>
                <a:spcPts val="0"/>
              </a:spcBef>
              <a:spcAft>
                <a:spcPts val="0"/>
              </a:spcAft>
              <a:buClr>
                <a:schemeClr val="dk1"/>
              </a:buClr>
              <a:buSzPts val="1100"/>
              <a:buFont typeface="Arial"/>
              <a:buNone/>
            </a:pPr>
            <a:r>
              <a:rPr lang="en" sz="1300"/>
              <a:t>I. Besrour, J. He, T. Schreieder, and M. Färber,</a:t>
            </a:r>
            <a:endParaRPr sz="1300"/>
          </a:p>
          <a:p>
            <a:pPr indent="0" lvl="0" marL="0" rtl="0" algn="l">
              <a:lnSpc>
                <a:spcPct val="115000"/>
              </a:lnSpc>
              <a:spcBef>
                <a:spcPts val="0"/>
              </a:spcBef>
              <a:spcAft>
                <a:spcPts val="0"/>
              </a:spcAft>
              <a:buClr>
                <a:schemeClr val="dk1"/>
              </a:buClr>
              <a:buSzPts val="1100"/>
              <a:buFont typeface="Arial"/>
              <a:buNone/>
            </a:pPr>
            <a:r>
              <a:rPr lang="en" sz="1300"/>
              <a:t>“RAGentA: Multi-Agent Retrieval-Augmented Generation for Attributed Question Answering,”</a:t>
            </a:r>
            <a:endParaRPr sz="1300"/>
          </a:p>
          <a:p>
            <a:pPr indent="0" lvl="0" marL="0" rtl="0" algn="l">
              <a:lnSpc>
                <a:spcPct val="115000"/>
              </a:lnSpc>
              <a:spcBef>
                <a:spcPts val="0"/>
              </a:spcBef>
              <a:spcAft>
                <a:spcPts val="0"/>
              </a:spcAft>
              <a:buClr>
                <a:schemeClr val="dk1"/>
              </a:buClr>
              <a:buSzPts val="1100"/>
              <a:buFont typeface="Arial"/>
              <a:buNone/>
            </a:pPr>
            <a:r>
              <a:rPr lang="en" sz="1300"/>
              <a:t>in SIGIR 2025 LiveRAG Challenge, held in conjunction with the 48th International ACM SIGIR Conference on Research and Development in Information Retrieval (SIGIR 2025), 2025.</a:t>
            </a:r>
            <a:endParaRPr sz="1300"/>
          </a:p>
          <a:p>
            <a:pPr indent="0" lvl="0" marL="0" rtl="0" algn="l">
              <a:lnSpc>
                <a:spcPct val="115000"/>
              </a:lnSpc>
              <a:spcBef>
                <a:spcPts val="0"/>
              </a:spcBef>
              <a:spcAft>
                <a:spcPts val="0"/>
              </a:spcAft>
              <a:buClr>
                <a:schemeClr val="dk1"/>
              </a:buClr>
              <a:buSzPts val="1100"/>
              <a:buFont typeface="Arial"/>
              <a:buNone/>
            </a:pPr>
            <a:r>
              <a:t/>
            </a:r>
            <a:endParaRPr sz="1300">
              <a:highlight>
                <a:srgbClr val="FFFF00"/>
              </a:highlight>
            </a:endParaRPr>
          </a:p>
          <a:p>
            <a:pPr indent="0" lvl="0" marL="0" rtl="0" algn="l">
              <a:lnSpc>
                <a:spcPct val="115000"/>
              </a:lnSpc>
              <a:spcBef>
                <a:spcPts val="0"/>
              </a:spcBef>
              <a:spcAft>
                <a:spcPts val="0"/>
              </a:spcAft>
              <a:buClr>
                <a:schemeClr val="dk1"/>
              </a:buClr>
              <a:buSzPts val="1100"/>
              <a:buFont typeface="Arial"/>
              <a:buNone/>
            </a:pPr>
            <a:r>
              <a:rPr lang="en" sz="1300"/>
              <a:t> Link </a:t>
            </a:r>
            <a:endParaRPr sz="1300"/>
          </a:p>
          <a:p>
            <a:pPr indent="0" lvl="0" marL="0" rtl="0" algn="l">
              <a:lnSpc>
                <a:spcPct val="115000"/>
              </a:lnSpc>
              <a:spcBef>
                <a:spcPts val="0"/>
              </a:spcBef>
              <a:spcAft>
                <a:spcPts val="0"/>
              </a:spcAft>
              <a:buClr>
                <a:schemeClr val="dk1"/>
              </a:buClr>
              <a:buSzPts val="1100"/>
              <a:buFont typeface="Arial"/>
              <a:buNone/>
            </a:pPr>
            <a:r>
              <a:t/>
            </a:r>
            <a:endParaRPr sz="1300">
              <a:highlight>
                <a:srgbClr val="FFFF00"/>
              </a:highlight>
            </a:endParaRPr>
          </a:p>
          <a:p>
            <a:pPr indent="0" lvl="0" marL="0" rtl="0" algn="l">
              <a:lnSpc>
                <a:spcPct val="115000"/>
              </a:lnSpc>
              <a:spcBef>
                <a:spcPts val="0"/>
              </a:spcBef>
              <a:spcAft>
                <a:spcPts val="0"/>
              </a:spcAft>
              <a:buClr>
                <a:schemeClr val="dk1"/>
              </a:buClr>
              <a:buSzPts val="1100"/>
              <a:buFont typeface="Arial"/>
              <a:buNone/>
            </a:pPr>
            <a:r>
              <a:rPr lang="en" sz="1300" u="sng">
                <a:solidFill>
                  <a:schemeClr val="hlink"/>
                </a:solidFill>
                <a:hlinkClick r:id="rId3"/>
              </a:rPr>
              <a:t>https://arxiv.org/pdf/2506.16988</a:t>
            </a:r>
            <a:endParaRPr sz="1300"/>
          </a:p>
          <a:p>
            <a:pPr indent="0" lvl="0" marL="101600" rtl="0" algn="l">
              <a:lnSpc>
                <a:spcPct val="100000"/>
              </a:lnSpc>
              <a:spcBef>
                <a:spcPts val="800"/>
              </a:spcBef>
              <a:spcAft>
                <a:spcPts val="0"/>
              </a:spcAft>
              <a:buSzPts val="1100"/>
              <a:buNone/>
            </a:pPr>
            <a:r>
              <a:t/>
            </a:r>
            <a:endParaRPr sz="1300">
              <a:highlight>
                <a:srgbClr val="FFFF00"/>
              </a:highlight>
            </a:endParaRPr>
          </a:p>
        </p:txBody>
      </p:sp>
      <p:sp>
        <p:nvSpPr>
          <p:cNvPr id="191" name="Google Shape;191;p31"/>
          <p:cNvSpPr txBox="1"/>
          <p:nvPr>
            <p:ph idx="12" type="sldNum"/>
          </p:nvPr>
        </p:nvSpPr>
        <p:spPr>
          <a:xfrm>
            <a:off x="7754540" y="114300"/>
            <a:ext cx="628650" cy="359569"/>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accent1"/>
              </a:buClr>
              <a:buSzPts val="2100"/>
              <a:buFont typeface="Gill Sans"/>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1681618" y="729853"/>
            <a:ext cx="5756175"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198" name="Google Shape;198;p32"/>
          <p:cNvSpPr txBox="1"/>
          <p:nvPr>
            <p:ph idx="1" type="body"/>
          </p:nvPr>
        </p:nvSpPr>
        <p:spPr>
          <a:xfrm>
            <a:off x="120192" y="1650697"/>
            <a:ext cx="8950751" cy="2711556"/>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199" name="Google Shape;199;p32"/>
          <p:cNvSpPr txBox="1"/>
          <p:nvPr>
            <p:ph idx="12" type="sldNum"/>
          </p:nvPr>
        </p:nvSpPr>
        <p:spPr>
          <a:xfrm>
            <a:off x="7754540" y="114300"/>
            <a:ext cx="628650" cy="35955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00" name="Google Shape;200;p32"/>
          <p:cNvGraphicFramePr/>
          <p:nvPr/>
        </p:nvGraphicFramePr>
        <p:xfrm>
          <a:off x="36700" y="1398450"/>
          <a:ext cx="3000000" cy="3000000"/>
        </p:xfrm>
        <a:graphic>
          <a:graphicData uri="http://schemas.openxmlformats.org/drawingml/2006/table">
            <a:tbl>
              <a:tblPr>
                <a:noFill/>
                <a:tableStyleId>{2FEA3EFD-C128-48BF-A8A9-2B900AD69DF7}</a:tableStyleId>
              </a:tblPr>
              <a:tblGrid>
                <a:gridCol w="382850"/>
                <a:gridCol w="854750"/>
                <a:gridCol w="1040550"/>
                <a:gridCol w="3010200"/>
                <a:gridCol w="1904600"/>
                <a:gridCol w="1700200"/>
              </a:tblGrid>
              <a:tr h="558500">
                <a:tc>
                  <a:txBody>
                    <a:bodyPr/>
                    <a:lstStyle/>
                    <a:p>
                      <a:pPr indent="0" lvl="0" marL="0" rtl="0" algn="ctr">
                        <a:lnSpc>
                          <a:spcPct val="115000"/>
                        </a:lnSpc>
                        <a:spcBef>
                          <a:spcPts val="0"/>
                        </a:spcBef>
                        <a:spcAft>
                          <a:spcPts val="0"/>
                        </a:spcAft>
                        <a:buNone/>
                      </a:pPr>
                      <a:r>
                        <a:rPr b="1" lang="en" sz="1100"/>
                        <a:t>Ref.</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Author &amp; Year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Title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Methodology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Key Findings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Limitations</a:t>
                      </a:r>
                      <a:endParaRPr b="1" sz="1100"/>
                    </a:p>
                  </a:txBody>
                  <a:tcPr marT="91425" marB="91425" marR="91425" marL="91425"/>
                </a:tc>
              </a:tr>
              <a:tr h="24642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sz="1100"/>
                        <a:t>Besrour, I., He, J., Schreieder, T. &amp; Färber, M. (2025)</a:t>
                      </a:r>
                      <a:endParaRPr sz="1100"/>
                    </a:p>
                  </a:txBody>
                  <a:tcPr marT="91425" marB="91425" marR="91425" marL="91425"/>
                </a:tc>
                <a:tc>
                  <a:txBody>
                    <a:bodyPr/>
                    <a:lstStyle/>
                    <a:p>
                      <a:pPr indent="0" lvl="0" marL="0" rtl="0" algn="l">
                        <a:spcBef>
                          <a:spcPts val="0"/>
                        </a:spcBef>
                        <a:spcAft>
                          <a:spcPts val="0"/>
                        </a:spcAft>
                        <a:buNone/>
                      </a:pPr>
                      <a:r>
                        <a:rPr lang="en" sz="1100"/>
                        <a:t>RAGentA: Multi-Agent Retrieval-Augmented Generation for Attributed Question Answering</a:t>
                      </a:r>
                      <a:endParaRPr sz="1100"/>
                    </a:p>
                  </a:txBody>
                  <a:tcPr marT="91425" marB="91425" marR="91425" marL="91425"/>
                </a:tc>
                <a:tc>
                  <a:txBody>
                    <a:bodyPr/>
                    <a:lstStyle/>
                    <a:p>
                      <a:pPr indent="0" lvl="0" marL="0" rtl="0" algn="l">
                        <a:spcBef>
                          <a:spcPts val="0"/>
                        </a:spcBef>
                        <a:spcAft>
                          <a:spcPts val="0"/>
                        </a:spcAft>
                        <a:buNone/>
                      </a:pPr>
                      <a:r>
                        <a:rPr lang="en" sz="1100"/>
                        <a:t>This paper presents </a:t>
                      </a:r>
                      <a:r>
                        <a:rPr b="1" lang="en" sz="1100"/>
                        <a:t>RAGentA</a:t>
                      </a:r>
                      <a:r>
                        <a:rPr lang="en" sz="1100"/>
                        <a:t>, a system that improves question answering using AI. It combines </a:t>
                      </a:r>
                      <a:r>
                        <a:rPr b="1" lang="en" sz="1100"/>
                        <a:t>LLMs and document search (RAG)</a:t>
                      </a:r>
                      <a:r>
                        <a:rPr lang="en" sz="1100"/>
                        <a:t> with </a:t>
                      </a:r>
                      <a:r>
                        <a:rPr b="1" lang="en" sz="1100"/>
                        <a:t>4 agents working together</a:t>
                      </a:r>
                      <a:r>
                        <a:rPr lang="en" sz="1100"/>
                        <a:t>. First, it retrieves documents using both </a:t>
                      </a:r>
                      <a:r>
                        <a:rPr b="1" lang="en" sz="1100"/>
                        <a:t>keyword search (BM25)</a:t>
                      </a:r>
                      <a:r>
                        <a:rPr lang="en" sz="1100"/>
                        <a:t> and </a:t>
                      </a:r>
                      <a:r>
                        <a:rPr b="1" lang="en" sz="1100"/>
                        <a:t>semantic search (embeddings)</a:t>
                      </a:r>
                      <a:r>
                        <a:rPr lang="en" sz="1100"/>
                        <a:t>. Then: (1) Predictor generates answers from each document, (2) Judge filters useful documents, (3) Final Predictor creates a final answer with </a:t>
                      </a:r>
                      <a:r>
                        <a:rPr b="1" lang="en" sz="1100"/>
                        <a:t>citations</a:t>
                      </a:r>
                      <a:r>
                        <a:rPr lang="en" sz="1100"/>
                        <a:t>, (4) Reviser checks if the answer is complete and improves it if needed. Tested on </a:t>
                      </a:r>
                      <a:r>
                        <a:rPr b="1" lang="en" sz="1100"/>
                        <a:t>500 question-answer samples</a:t>
                      </a:r>
                      <a:r>
                        <a:rPr lang="en" sz="1100"/>
                        <a:t>.</a:t>
                      </a:r>
                      <a:endParaRPr sz="1100"/>
                    </a:p>
                  </a:txBody>
                  <a:tcPr marT="91425" marB="91425" marR="91425" marL="91425"/>
                </a:tc>
                <a:tc>
                  <a:txBody>
                    <a:bodyPr/>
                    <a:lstStyle/>
                    <a:p>
                      <a:pPr indent="0" lvl="0" marL="0" rtl="0" algn="l">
                        <a:spcBef>
                          <a:spcPts val="0"/>
                        </a:spcBef>
                        <a:spcAft>
                          <a:spcPts val="0"/>
                        </a:spcAft>
                        <a:buNone/>
                      </a:pPr>
                      <a:r>
                        <a:rPr lang="en" sz="1100"/>
                        <a:t>The system gives </a:t>
                      </a:r>
                      <a:r>
                        <a:rPr b="1" lang="en" sz="1100"/>
                        <a:t>better answers than normal RAG</a:t>
                      </a:r>
                      <a:r>
                        <a:rPr lang="en" sz="1100"/>
                        <a:t>. It improves document retrieval by </a:t>
                      </a:r>
                      <a:r>
                        <a:rPr b="1" lang="en" sz="1100"/>
                        <a:t>12.5%</a:t>
                      </a:r>
                      <a:r>
                        <a:rPr lang="en" sz="1100"/>
                        <a:t>. Answers are </a:t>
                      </a:r>
                      <a:r>
                        <a:rPr b="1" lang="en" sz="1100"/>
                        <a:t>more correct (+1.1%)</a:t>
                      </a:r>
                      <a:r>
                        <a:rPr lang="en" sz="1100"/>
                        <a:t> and much more </a:t>
                      </a:r>
                      <a:r>
                        <a:rPr b="1" lang="en" sz="1100"/>
                        <a:t>reliable (+10.7%)</a:t>
                      </a:r>
                      <a:r>
                        <a:rPr lang="en" sz="1100"/>
                        <a:t> because of proper citations. The multi-agent process helps in step-by-step improvement and reduces wrong answers.</a:t>
                      </a:r>
                      <a:endParaRPr sz="1100"/>
                    </a:p>
                  </a:txBody>
                  <a:tcPr marT="91425" marB="91425" marR="91425" marL="91425"/>
                </a:tc>
                <a:tc>
                  <a:txBody>
                    <a:bodyPr/>
                    <a:lstStyle/>
                    <a:p>
                      <a:pPr indent="0" lvl="0" marL="0" rtl="0" algn="l">
                        <a:spcBef>
                          <a:spcPts val="0"/>
                        </a:spcBef>
                        <a:spcAft>
                          <a:spcPts val="0"/>
                        </a:spcAft>
                        <a:buNone/>
                      </a:pPr>
                      <a:r>
                        <a:rPr lang="en" sz="1100"/>
                        <a:t>The system is </a:t>
                      </a:r>
                      <a:r>
                        <a:rPr b="1" lang="en" sz="1100"/>
                        <a:t>slow and needs high computing power</a:t>
                      </a:r>
                      <a:r>
                        <a:rPr lang="en" sz="1100"/>
                        <a:t> because multiple agents are used. Improvement in correctness is small. The revision step is not always very useful. Also tested on </a:t>
                      </a:r>
                      <a:r>
                        <a:rPr b="1" lang="en" sz="1100"/>
                        <a:t>synthetic data</a:t>
                      </a:r>
                      <a:r>
                        <a:rPr lang="en" sz="1100"/>
                        <a:t>, so real-world results may vary.</a:t>
                      </a:r>
                      <a:endParaRPr sz="11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07" name="Google Shape;207;p33"/>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08" name="Google Shape;208;p33"/>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09" name="Google Shape;209;p33"/>
          <p:cNvGraphicFramePr/>
          <p:nvPr/>
        </p:nvGraphicFramePr>
        <p:xfrm>
          <a:off x="188200" y="1459150"/>
          <a:ext cx="3000000" cy="3000000"/>
        </p:xfrm>
        <a:graphic>
          <a:graphicData uri="http://schemas.openxmlformats.org/drawingml/2006/table">
            <a:tbl>
              <a:tblPr>
                <a:noFill/>
                <a:tableStyleId>{2FEA3EFD-C128-48BF-A8A9-2B900AD69DF7}</a:tableStyleId>
              </a:tblPr>
              <a:tblGrid>
                <a:gridCol w="382850"/>
                <a:gridCol w="619075"/>
                <a:gridCol w="1135000"/>
                <a:gridCol w="2935950"/>
                <a:gridCol w="2204325"/>
                <a:gridCol w="1707175"/>
              </a:tblGrid>
              <a:tr h="486525">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1887125">
                <a:tc>
                  <a:txBody>
                    <a:bodyPr/>
                    <a:lstStyle/>
                    <a:p>
                      <a:pPr indent="0" lvl="0" marL="0" rtl="0" algn="l">
                        <a:spcBef>
                          <a:spcPts val="0"/>
                        </a:spcBef>
                        <a:spcAft>
                          <a:spcPts val="0"/>
                        </a:spcAft>
                        <a:buNone/>
                      </a:pPr>
                      <a:r>
                        <a:rPr lang="en" sz="1300"/>
                        <a:t>[2]</a:t>
                      </a:r>
                      <a:endParaRPr sz="1300"/>
                    </a:p>
                  </a:txBody>
                  <a:tcPr marT="91425" marB="91425" marR="91425" marL="91425"/>
                </a:tc>
                <a:tc>
                  <a:txBody>
                    <a:bodyPr/>
                    <a:lstStyle/>
                    <a:p>
                      <a:pPr indent="0" lvl="0" marL="0" rtl="0" algn="l">
                        <a:spcBef>
                          <a:spcPts val="0"/>
                        </a:spcBef>
                        <a:spcAft>
                          <a:spcPts val="0"/>
                        </a:spcAft>
                        <a:buNone/>
                      </a:pPr>
                      <a:r>
                        <a:rPr lang="en" sz="900"/>
                        <a:t>Nguyen, T., Chin, P. &amp; Tai, Y. (2025)</a:t>
                      </a:r>
                      <a:endParaRPr sz="900"/>
                    </a:p>
                  </a:txBody>
                  <a:tcPr marT="91425" marB="91425" marR="91425" marL="91425"/>
                </a:tc>
                <a:tc>
                  <a:txBody>
                    <a:bodyPr/>
                    <a:lstStyle/>
                    <a:p>
                      <a:pPr indent="0" lvl="0" marL="0" rtl="0" algn="l">
                        <a:spcBef>
                          <a:spcPts val="0"/>
                        </a:spcBef>
                        <a:spcAft>
                          <a:spcPts val="0"/>
                        </a:spcAft>
                        <a:buNone/>
                      </a:pPr>
                      <a:r>
                        <a:rPr lang="en" sz="1100"/>
                        <a:t>MA-RAG: Multi-Agent Retrieval-Augmented Generation via Collaborative Chain-of-Thought Reasoning</a:t>
                      </a:r>
                      <a:endParaRPr sz="11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MA-RAG</a:t>
                      </a:r>
                      <a:r>
                        <a:rPr lang="en" sz="1000"/>
                        <a:t>, a multi-agent system to improve question answering using RAG. It uses </a:t>
                      </a:r>
                      <a:r>
                        <a:rPr b="1" lang="en" sz="1000"/>
                        <a:t>different agents working step-by-step</a:t>
                      </a:r>
                      <a:r>
                        <a:rPr lang="en" sz="1000"/>
                        <a:t>: (1) Planner – breaks the question into smaller steps, (2) Step Definer – converts steps into clear sub-questions, (3) Retriever – finds relevant documents, (4) Extractor – selects only useful information, (5) QA Agent – generates the final answer. The system uses </a:t>
                      </a:r>
                      <a:r>
                        <a:rPr b="1" lang="en" sz="1000"/>
                        <a:t>chain-of-thought reasoning</a:t>
                      </a:r>
                      <a:r>
                        <a:rPr lang="en" sz="1000"/>
                        <a:t>, meaning agents think step-by-step and share intermediate reasoning. It works dynamically (only uses needed agents) and does not require training. Tested on datasets like </a:t>
                      </a:r>
                      <a:r>
                        <a:rPr b="1" lang="en" sz="1000"/>
                        <a:t>NQ, HotpotQA, TriviaQA, and 2WikimQA</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gives </a:t>
                      </a:r>
                      <a:r>
                        <a:rPr b="1" lang="en" sz="1000"/>
                        <a:t>much better performance than normal RAG and even large LLMs</a:t>
                      </a:r>
                      <a:r>
                        <a:rPr lang="en" sz="1000"/>
                        <a:t>. Even a small model (8B) performs better than bigger models without MA-RAG. It achieves </a:t>
                      </a:r>
                      <a:r>
                        <a:rPr b="1" lang="en" sz="1000"/>
                        <a:t>state-of-the-art results</a:t>
                      </a:r>
                      <a:r>
                        <a:rPr lang="en" sz="1000"/>
                        <a:t> on complex multi-step (multi-hop) questions. It improves accuracy, reasoning, and makes the process more </a:t>
                      </a:r>
                      <a:r>
                        <a:rPr b="1" lang="en" sz="1000"/>
                        <a:t>clear and interpretable</a:t>
                      </a:r>
                      <a:r>
                        <a:rPr lang="en" sz="1000"/>
                        <a:t>. Also works well in special domains like </a:t>
                      </a:r>
                      <a:r>
                        <a:rPr b="1" lang="en" sz="1000"/>
                        <a:t>medical QA without extra training</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more complex and slower</a:t>
                      </a:r>
                      <a:r>
                        <a:rPr lang="en" sz="1000"/>
                        <a:t> because it uses multiple agents and multiple steps. It increases computation cost and response time. Performance depends on good planning and extraction; if these fail, results drop. Requires careful resource management (some agents need large models).</a:t>
                      </a:r>
                      <a:endParaRPr sz="10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16" name="Google Shape;216;p34"/>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17" name="Google Shape;217;p34"/>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18" name="Google Shape;218;p34"/>
          <p:cNvGraphicFramePr/>
          <p:nvPr/>
        </p:nvGraphicFramePr>
        <p:xfrm>
          <a:off x="54350" y="1471100"/>
          <a:ext cx="3000000" cy="3000000"/>
        </p:xfrm>
        <a:graphic>
          <a:graphicData uri="http://schemas.openxmlformats.org/drawingml/2006/table">
            <a:tbl>
              <a:tblPr>
                <a:noFill/>
                <a:tableStyleId>{2FEA3EFD-C128-48BF-A8A9-2B900AD69DF7}</a:tableStyleId>
              </a:tblPr>
              <a:tblGrid>
                <a:gridCol w="285750"/>
                <a:gridCol w="619125"/>
                <a:gridCol w="1066800"/>
                <a:gridCol w="2952750"/>
                <a:gridCol w="2190750"/>
                <a:gridCol w="1895475"/>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247900">
                <a:tc>
                  <a:txBody>
                    <a:bodyPr/>
                    <a:lstStyle/>
                    <a:p>
                      <a:pPr indent="0" lvl="0" marL="0" rtl="0" algn="l">
                        <a:spcBef>
                          <a:spcPts val="0"/>
                        </a:spcBef>
                        <a:spcAft>
                          <a:spcPts val="0"/>
                        </a:spcAft>
                        <a:buNone/>
                      </a:pPr>
                      <a:r>
                        <a:rPr lang="en" sz="1300"/>
                        <a:t>[3]</a:t>
                      </a:r>
                      <a:endParaRPr sz="1300"/>
                    </a:p>
                  </a:txBody>
                  <a:tcPr marT="91425" marB="91425" marR="91425" marL="91425"/>
                </a:tc>
                <a:tc>
                  <a:txBody>
                    <a:bodyPr/>
                    <a:lstStyle/>
                    <a:p>
                      <a:pPr indent="0" lvl="0" marL="0" rtl="0" algn="l">
                        <a:spcBef>
                          <a:spcPts val="0"/>
                        </a:spcBef>
                        <a:spcAft>
                          <a:spcPts val="0"/>
                        </a:spcAft>
                        <a:buNone/>
                      </a:pPr>
                      <a:r>
                        <a:rPr lang="en" sz="1300"/>
                        <a:t>Ye, H., Guo, J., Liu, Z. &amp; Lam, K. (2026)</a:t>
                      </a:r>
                      <a:endParaRPr sz="1300"/>
                    </a:p>
                  </a:txBody>
                  <a:tcPr marT="91425" marB="91425" marR="91425" marL="91425"/>
                </a:tc>
                <a:tc>
                  <a:txBody>
                    <a:bodyPr/>
                    <a:lstStyle/>
                    <a:p>
                      <a:pPr indent="0" lvl="0" marL="0" rtl="0" algn="l">
                        <a:spcBef>
                          <a:spcPts val="0"/>
                        </a:spcBef>
                        <a:spcAft>
                          <a:spcPts val="0"/>
                        </a:spcAft>
                        <a:buNone/>
                      </a:pPr>
                      <a:r>
                        <a:rPr lang="en" sz="1300"/>
                        <a:t>Efficient Privacy-Preserving Retrieval Augmented Generation with Distance-Preserving Encryption</a:t>
                      </a:r>
                      <a:endParaRPr sz="13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ppRAG</a:t>
                      </a:r>
                      <a:r>
                        <a:rPr lang="en" sz="1000"/>
                        <a:t>, a system that makes RAG </a:t>
                      </a:r>
                      <a:r>
                        <a:rPr b="1" lang="en" sz="1000"/>
                        <a:t>secure and privacy-safe</a:t>
                      </a:r>
                      <a:r>
                        <a:rPr lang="en" sz="1000"/>
                        <a:t> when using cloud storage. It encrypts data before sending it to the cloud. It uses a special encryption method called </a:t>
                      </a:r>
                      <a:r>
                        <a:rPr b="1" lang="en" sz="1000"/>
                        <a:t>CAPRISE</a:t>
                      </a:r>
                      <a:r>
                        <a:rPr lang="en" sz="1000"/>
                        <a:t>, which allows similarity search on encrypted data without revealing actual content. It also uses </a:t>
                      </a:r>
                      <a:r>
                        <a:rPr b="1" lang="en" sz="1000"/>
                        <a:t>differential privacy</a:t>
                      </a:r>
                      <a:r>
                        <a:rPr lang="en" sz="1000"/>
                        <a:t> to add noise to queries so that repeated queries cannot leak information. The system works in 3 steps: (1) encrypt and upload data, (2) securely retrieve top documents using encrypted search, (3) generate answers using retrieved data.</a:t>
                      </a:r>
                      <a:endParaRPr sz="1000"/>
                    </a:p>
                  </a:txBody>
                  <a:tcPr marT="91425" marB="91425" marR="91425" marL="91425"/>
                </a:tc>
                <a:tc>
                  <a:txBody>
                    <a:bodyPr/>
                    <a:lstStyle/>
                    <a:p>
                      <a:pPr indent="0" lvl="0" marL="0" rtl="0" algn="l">
                        <a:spcBef>
                          <a:spcPts val="0"/>
                        </a:spcBef>
                        <a:spcAft>
                          <a:spcPts val="0"/>
                        </a:spcAft>
                        <a:buNone/>
                      </a:pPr>
                      <a:r>
                        <a:rPr lang="en" sz="1000"/>
                        <a:t>The system provides </a:t>
                      </a:r>
                      <a:r>
                        <a:rPr b="1" lang="en" sz="1000"/>
                        <a:t>strong privacy protection</a:t>
                      </a:r>
                      <a:r>
                        <a:rPr lang="en" sz="1000"/>
                        <a:t> while still keeping good performance. It protects against attacks like </a:t>
                      </a:r>
                      <a:r>
                        <a:rPr b="1" lang="en" sz="1000"/>
                        <a:t>vector-to-text (recovering original data), query analysis, and data leakage</a:t>
                      </a:r>
                      <a:r>
                        <a:rPr lang="en" sz="1000"/>
                        <a:t>. It is also </a:t>
                      </a:r>
                      <a:r>
                        <a:rPr b="1" lang="en" sz="1000"/>
                        <a:t>efficient</a:t>
                      </a:r>
                      <a:r>
                        <a:rPr lang="en" sz="1000"/>
                        <a:t>, giving much faster encryption than older methods (around 9× faster than some approaches). Maintains good retrieval accuracy while keeping data secure.</a:t>
                      </a:r>
                      <a:endParaRPr sz="1000"/>
                    </a:p>
                  </a:txBody>
                  <a:tcPr marT="91425" marB="91425" marR="91425" marL="91425"/>
                </a:tc>
                <a:tc>
                  <a:txBody>
                    <a:bodyPr/>
                    <a:lstStyle/>
                    <a:p>
                      <a:pPr indent="0" lvl="0" marL="0" rtl="0" algn="l">
                        <a:spcBef>
                          <a:spcPts val="0"/>
                        </a:spcBef>
                        <a:spcAft>
                          <a:spcPts val="0"/>
                        </a:spcAft>
                        <a:buNone/>
                      </a:pPr>
                      <a:r>
                        <a:rPr lang="en" sz="1000"/>
                        <a:t>There is a </a:t>
                      </a:r>
                      <a:r>
                        <a:rPr b="1" lang="en" sz="1000"/>
                        <a:t>trade-off between privacy and accuracy</a:t>
                      </a:r>
                      <a:r>
                        <a:rPr lang="en" sz="1000"/>
                        <a:t> (more privacy → slightly worse retrieval). Requires careful tuning of parameters for different datasets. Adds extra steps (encryption, noise), making the system more complex. May increase retrieval size and computation when strong privacy is applied.</a:t>
                      </a:r>
                      <a:endParaRPr sz="10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25" name="Google Shape;225;p35"/>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26" name="Google Shape;226;p35"/>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27" name="Google Shape;227;p35"/>
          <p:cNvGraphicFramePr/>
          <p:nvPr/>
        </p:nvGraphicFramePr>
        <p:xfrm>
          <a:off x="-94225" y="1336525"/>
          <a:ext cx="3000000" cy="3000000"/>
        </p:xfrm>
        <a:graphic>
          <a:graphicData uri="http://schemas.openxmlformats.org/drawingml/2006/table">
            <a:tbl>
              <a:tblPr>
                <a:noFill/>
                <a:tableStyleId>{2FEA3EFD-C128-48BF-A8A9-2B900AD69DF7}</a:tableStyleId>
              </a:tblPr>
              <a:tblGrid>
                <a:gridCol w="382850"/>
                <a:gridCol w="634950"/>
                <a:gridCol w="1289125"/>
                <a:gridCol w="2828400"/>
                <a:gridCol w="2212700"/>
                <a:gridCol w="1847125"/>
              </a:tblGrid>
              <a:tr h="7035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606650">
                <a:tc>
                  <a:txBody>
                    <a:bodyPr/>
                    <a:lstStyle/>
                    <a:p>
                      <a:pPr indent="0" lvl="0" marL="0" rtl="0" algn="l">
                        <a:spcBef>
                          <a:spcPts val="0"/>
                        </a:spcBef>
                        <a:spcAft>
                          <a:spcPts val="0"/>
                        </a:spcAft>
                        <a:buNone/>
                      </a:pPr>
                      <a:r>
                        <a:rPr lang="en" sz="1300"/>
                        <a:t>[4]</a:t>
                      </a:r>
                      <a:endParaRPr sz="1300"/>
                    </a:p>
                  </a:txBody>
                  <a:tcPr marT="91425" marB="91425" marR="91425" marL="91425"/>
                </a:tc>
                <a:tc>
                  <a:txBody>
                    <a:bodyPr/>
                    <a:lstStyle/>
                    <a:p>
                      <a:pPr indent="0" lvl="0" marL="0" rtl="0" algn="l">
                        <a:spcBef>
                          <a:spcPts val="0"/>
                        </a:spcBef>
                        <a:spcAft>
                          <a:spcPts val="0"/>
                        </a:spcAft>
                        <a:buNone/>
                      </a:pPr>
                      <a:r>
                        <a:rPr lang="en" sz="1000"/>
                        <a:t>Fu, S., Liu, F., Zhou, J., Cai, J. &amp; Pan, Z. (2026)</a:t>
                      </a:r>
                      <a:endParaRPr sz="1000"/>
                    </a:p>
                  </a:txBody>
                  <a:tcPr marT="91425" marB="91425" marR="91425" marL="91425"/>
                </a:tc>
                <a:tc>
                  <a:txBody>
                    <a:bodyPr/>
                    <a:lstStyle/>
                    <a:p>
                      <a:pPr indent="0" lvl="0" marL="0" rtl="0" algn="l">
                        <a:spcBef>
                          <a:spcPts val="0"/>
                        </a:spcBef>
                        <a:spcAft>
                          <a:spcPts val="0"/>
                        </a:spcAft>
                        <a:buNone/>
                      </a:pPr>
                      <a:r>
                        <a:rPr lang="en" sz="1100"/>
                        <a:t>PP-EDUVec: Privacy-Preserving Intelligent Management Algorithms for Educational-Corpus Vector Databases Under Retrieval-Augmented Learning</a:t>
                      </a:r>
                      <a:endParaRPr sz="11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PP-EDUVec</a:t>
                      </a:r>
                      <a:r>
                        <a:rPr lang="en" sz="1000"/>
                        <a:t>, a system for managing educational data (like notes, assignments, Q&amp;A) in vector databases safely. It focuses on </a:t>
                      </a:r>
                      <a:r>
                        <a:rPr b="1" lang="en" sz="1000"/>
                        <a:t>privacy + retrieval + efficiency together</a:t>
                      </a:r>
                      <a:r>
                        <a:rPr lang="en" sz="1000"/>
                        <a:t>. It uses: (1) </a:t>
                      </a:r>
                      <a:r>
                        <a:rPr b="1" lang="en" sz="1000"/>
                        <a:t>policy-based indexing</a:t>
                      </a:r>
                      <a:r>
                        <a:rPr lang="en" sz="1000"/>
                        <a:t> (data is grouped based on access rules like student/teacher), (2) </a:t>
                      </a:r>
                      <a:r>
                        <a:rPr b="1" lang="en" sz="1000"/>
                        <a:t>secure routing</a:t>
                      </a:r>
                      <a:r>
                        <a:rPr lang="en" sz="1000"/>
                        <a:t> (adds randomness while searching to protect user behavior), and (3) </a:t>
                      </a:r>
                      <a:r>
                        <a:rPr b="1" lang="en" sz="1000"/>
                        <a:t>BARES scheduler</a:t>
                      </a:r>
                      <a:r>
                        <a:rPr lang="en" sz="1000"/>
                        <a:t> (decides when to update or refresh data based on usefulness, cost, and privacy budget). It also uses </a:t>
                      </a:r>
                      <a:r>
                        <a:rPr b="1" lang="en" sz="1000"/>
                        <a:t>differential privacy</a:t>
                      </a:r>
                      <a:r>
                        <a:rPr lang="en" sz="1000"/>
                        <a:t> to protect sensitive student data.</a:t>
                      </a:r>
                      <a:endParaRPr sz="1000"/>
                    </a:p>
                  </a:txBody>
                  <a:tcPr marT="91425" marB="91425" marR="91425" marL="91425"/>
                </a:tc>
                <a:tc>
                  <a:txBody>
                    <a:bodyPr/>
                    <a:lstStyle/>
                    <a:p>
                      <a:pPr indent="0" lvl="0" marL="0" rtl="0" algn="l">
                        <a:spcBef>
                          <a:spcPts val="0"/>
                        </a:spcBef>
                        <a:spcAft>
                          <a:spcPts val="0"/>
                        </a:spcAft>
                        <a:buNone/>
                      </a:pPr>
                      <a:r>
                        <a:rPr lang="en" sz="1000"/>
                        <a:t>The system gives </a:t>
                      </a:r>
                      <a:r>
                        <a:rPr b="1" lang="en" sz="1000"/>
                        <a:t>good search results while protecting privacy</a:t>
                      </a:r>
                      <a:r>
                        <a:rPr lang="en" sz="1000"/>
                        <a:t>. It reduces data leakage significantly (</a:t>
                      </a:r>
                      <a:r>
                        <a:rPr b="1" lang="en" sz="1000"/>
                        <a:t>~36% less representation leakage and ~35% less access-pattern leakage</a:t>
                      </a:r>
                      <a:r>
                        <a:rPr lang="en" sz="1000"/>
                        <a:t>). It also improves efficiency with </a:t>
                      </a:r>
                      <a:r>
                        <a:rPr b="1" lang="en" sz="1000"/>
                        <a:t>faster response time (~20% faster)</a:t>
                      </a:r>
                      <a:r>
                        <a:rPr lang="en" sz="1000"/>
                        <a:t> and </a:t>
                      </a:r>
                      <a:r>
                        <a:rPr b="1" lang="en" sz="1000"/>
                        <a:t>lower maintenance cost (~35% less time)</a:t>
                      </a:r>
                      <a:r>
                        <a:rPr lang="en" sz="1000"/>
                        <a:t>. Maintains high retrieval accuracy (Recall@10 ≈ 0.835) even with privacy protection.</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complex to implement</a:t>
                      </a:r>
                      <a:r>
                        <a:rPr lang="en" sz="1000"/>
                        <a:t> because it combines many components (privacy, indexing, scheduling). Needs careful tuning of privacy parameters and system settings. Designed mainly for educational data, so may need changes for other domains. Also, real-world deployment with actual student data is not fully tested yet.</a:t>
                      </a:r>
                      <a:endParaRPr sz="1000"/>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34" name="Google Shape;234;p36"/>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35" name="Google Shape;235;p36"/>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36" name="Google Shape;236;p36"/>
          <p:cNvGraphicFramePr/>
          <p:nvPr/>
        </p:nvGraphicFramePr>
        <p:xfrm>
          <a:off x="54350" y="1366375"/>
          <a:ext cx="3000000" cy="3000000"/>
        </p:xfrm>
        <a:graphic>
          <a:graphicData uri="http://schemas.openxmlformats.org/drawingml/2006/table">
            <a:tbl>
              <a:tblPr>
                <a:noFill/>
                <a:tableStyleId>{2FEA3EFD-C128-48BF-A8A9-2B900AD69DF7}</a:tableStyleId>
              </a:tblPr>
              <a:tblGrid>
                <a:gridCol w="285750"/>
                <a:gridCol w="628650"/>
                <a:gridCol w="1276350"/>
                <a:gridCol w="2800350"/>
                <a:gridCol w="2190750"/>
                <a:gridCol w="1828800"/>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419350">
                <a:tc>
                  <a:txBody>
                    <a:bodyPr/>
                    <a:lstStyle/>
                    <a:p>
                      <a:pPr indent="0" lvl="0" marL="0" rtl="0" algn="l">
                        <a:spcBef>
                          <a:spcPts val="0"/>
                        </a:spcBef>
                        <a:spcAft>
                          <a:spcPts val="0"/>
                        </a:spcAft>
                        <a:buNone/>
                      </a:pPr>
                      <a:r>
                        <a:rPr lang="en" sz="1300"/>
                        <a:t>[4]</a:t>
                      </a:r>
                      <a:endParaRPr sz="1300"/>
                    </a:p>
                  </a:txBody>
                  <a:tcPr marT="91425" marB="91425" marR="91425" marL="91425"/>
                </a:tc>
                <a:tc>
                  <a:txBody>
                    <a:bodyPr/>
                    <a:lstStyle/>
                    <a:p>
                      <a:pPr indent="0" lvl="0" marL="0" rtl="0" algn="l">
                        <a:spcBef>
                          <a:spcPts val="0"/>
                        </a:spcBef>
                        <a:spcAft>
                          <a:spcPts val="0"/>
                        </a:spcAft>
                        <a:buNone/>
                      </a:pPr>
                      <a:r>
                        <a:rPr lang="en" sz="1300"/>
                        <a:t>Fu, S., Liu, F., Zhou, J., Cai, J. &amp; Pan, Z. (2026)</a:t>
                      </a:r>
                      <a:endParaRPr sz="1300"/>
                    </a:p>
                  </a:txBody>
                  <a:tcPr marT="91425" marB="91425" marR="91425" marL="91425"/>
                </a:tc>
                <a:tc>
                  <a:txBody>
                    <a:bodyPr/>
                    <a:lstStyle/>
                    <a:p>
                      <a:pPr indent="0" lvl="0" marL="0" rtl="0" algn="l">
                        <a:spcBef>
                          <a:spcPts val="0"/>
                        </a:spcBef>
                        <a:spcAft>
                          <a:spcPts val="0"/>
                        </a:spcAft>
                        <a:buNone/>
                      </a:pPr>
                      <a:r>
                        <a:rPr lang="en" sz="1300"/>
                        <a:t>PP-EDUVec: Privacy-Preserving Intelligent Management Algorithms for Educational-Corpus Vector Databases Under Retrieval-Augmented Learning</a:t>
                      </a:r>
                      <a:endParaRPr sz="13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PP-EDUVec</a:t>
                      </a:r>
                      <a:r>
                        <a:rPr lang="en" sz="1000"/>
                        <a:t>, a system for managing educational data (like notes, assignments, Q&amp;A) in vector databases safely. It focuses on </a:t>
                      </a:r>
                      <a:r>
                        <a:rPr b="1" lang="en" sz="1000"/>
                        <a:t>privacy + retrieval + efficiency together</a:t>
                      </a:r>
                      <a:r>
                        <a:rPr lang="en" sz="1000"/>
                        <a:t>. It uses: (1) </a:t>
                      </a:r>
                      <a:r>
                        <a:rPr b="1" lang="en" sz="1000"/>
                        <a:t>policy-based indexing</a:t>
                      </a:r>
                      <a:r>
                        <a:rPr lang="en" sz="1000"/>
                        <a:t> (data is grouped based on access rules like student/teacher), (2) </a:t>
                      </a:r>
                      <a:r>
                        <a:rPr b="1" lang="en" sz="1000"/>
                        <a:t>secure routing</a:t>
                      </a:r>
                      <a:r>
                        <a:rPr lang="en" sz="1000"/>
                        <a:t> (adds randomness while searching to protect user behavior), and (3) </a:t>
                      </a:r>
                      <a:r>
                        <a:rPr b="1" lang="en" sz="1000"/>
                        <a:t>BARES scheduler</a:t>
                      </a:r>
                      <a:r>
                        <a:rPr lang="en" sz="1000"/>
                        <a:t> (decides when to update or refresh data based on usefulness, cost, and privacy budget). It also uses </a:t>
                      </a:r>
                      <a:r>
                        <a:rPr b="1" lang="en" sz="1000"/>
                        <a:t>differential privacy</a:t>
                      </a:r>
                      <a:r>
                        <a:rPr lang="en" sz="1000"/>
                        <a:t> to protect sensitive student data.</a:t>
                      </a:r>
                      <a:endParaRPr sz="1000"/>
                    </a:p>
                  </a:txBody>
                  <a:tcPr marT="91425" marB="91425" marR="91425" marL="91425"/>
                </a:tc>
                <a:tc>
                  <a:txBody>
                    <a:bodyPr/>
                    <a:lstStyle/>
                    <a:p>
                      <a:pPr indent="0" lvl="0" marL="0" rtl="0" algn="l">
                        <a:spcBef>
                          <a:spcPts val="0"/>
                        </a:spcBef>
                        <a:spcAft>
                          <a:spcPts val="0"/>
                        </a:spcAft>
                        <a:buNone/>
                      </a:pPr>
                      <a:r>
                        <a:rPr lang="en" sz="1000"/>
                        <a:t>The system gives </a:t>
                      </a:r>
                      <a:r>
                        <a:rPr b="1" lang="en" sz="1000"/>
                        <a:t>good search results while protecting privacy</a:t>
                      </a:r>
                      <a:r>
                        <a:rPr lang="en" sz="1000"/>
                        <a:t>. It reduces data leakage significantly (</a:t>
                      </a:r>
                      <a:r>
                        <a:rPr b="1" lang="en" sz="1000"/>
                        <a:t>~36% less representation leakage and ~35% less access-pattern leakage</a:t>
                      </a:r>
                      <a:r>
                        <a:rPr lang="en" sz="1000"/>
                        <a:t>). It also improves efficiency with </a:t>
                      </a:r>
                      <a:r>
                        <a:rPr b="1" lang="en" sz="1000"/>
                        <a:t>faster response time (~20% faster)</a:t>
                      </a:r>
                      <a:r>
                        <a:rPr lang="en" sz="1000"/>
                        <a:t> and </a:t>
                      </a:r>
                      <a:r>
                        <a:rPr b="1" lang="en" sz="1000"/>
                        <a:t>lower maintenance cost (~35% less time)</a:t>
                      </a:r>
                      <a:r>
                        <a:rPr lang="en" sz="1000"/>
                        <a:t>. Maintains high retrieval accuracy (Recall@10 ≈ 0.835) even with privacy protection.</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complex to implement</a:t>
                      </a:r>
                      <a:r>
                        <a:rPr lang="en" sz="1000"/>
                        <a:t> because it combines many components (privacy, indexing, scheduling). Needs careful tuning of privacy parameters and system settings. Designed mainly for educational data, so may need changes for other domains. Also, real-world deployment with actual student data is not fully tested yet.</a:t>
                      </a:r>
                      <a:endParaRPr sz="10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43" name="Google Shape;243;p37"/>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44" name="Google Shape;244;p37"/>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45" name="Google Shape;245;p37"/>
          <p:cNvGraphicFramePr/>
          <p:nvPr/>
        </p:nvGraphicFramePr>
        <p:xfrm>
          <a:off x="0" y="1441250"/>
          <a:ext cx="3000000" cy="3000000"/>
        </p:xfrm>
        <a:graphic>
          <a:graphicData uri="http://schemas.openxmlformats.org/drawingml/2006/table">
            <a:tbl>
              <a:tblPr>
                <a:noFill/>
                <a:tableStyleId>{2FEA3EFD-C128-48BF-A8A9-2B900AD69DF7}</a:tableStyleId>
              </a:tblPr>
              <a:tblGrid>
                <a:gridCol w="285750"/>
                <a:gridCol w="800100"/>
                <a:gridCol w="866775"/>
                <a:gridCol w="3190875"/>
                <a:gridCol w="2019300"/>
                <a:gridCol w="1847850"/>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247900">
                <a:tc>
                  <a:txBody>
                    <a:bodyPr/>
                    <a:lstStyle/>
                    <a:p>
                      <a:pPr indent="0" lvl="0" marL="0" rtl="0" algn="l">
                        <a:spcBef>
                          <a:spcPts val="0"/>
                        </a:spcBef>
                        <a:spcAft>
                          <a:spcPts val="0"/>
                        </a:spcAft>
                        <a:buNone/>
                      </a:pPr>
                      <a:r>
                        <a:rPr lang="en" sz="1300"/>
                        <a:t>[5]</a:t>
                      </a:r>
                      <a:endParaRPr sz="1300"/>
                    </a:p>
                  </a:txBody>
                  <a:tcPr marT="91425" marB="91425" marR="91425" marL="91425"/>
                </a:tc>
                <a:tc>
                  <a:txBody>
                    <a:bodyPr/>
                    <a:lstStyle/>
                    <a:p>
                      <a:pPr indent="0" lvl="0" marL="0" rtl="0" algn="l">
                        <a:spcBef>
                          <a:spcPts val="0"/>
                        </a:spcBef>
                        <a:spcAft>
                          <a:spcPts val="0"/>
                        </a:spcAft>
                        <a:buNone/>
                      </a:pPr>
                      <a:r>
                        <a:rPr lang="en" sz="1300"/>
                        <a:t>Fourney, A., Bansal, G., Mozannar, H. et al. (2024)</a:t>
                      </a:r>
                      <a:endParaRPr sz="1300"/>
                    </a:p>
                  </a:txBody>
                  <a:tcPr marT="91425" marB="91425" marR="91425" marL="91425"/>
                </a:tc>
                <a:tc>
                  <a:txBody>
                    <a:bodyPr/>
                    <a:lstStyle/>
                    <a:p>
                      <a:pPr indent="0" lvl="0" marL="0" rtl="0" algn="l">
                        <a:spcBef>
                          <a:spcPts val="0"/>
                        </a:spcBef>
                        <a:spcAft>
                          <a:spcPts val="0"/>
                        </a:spcAft>
                        <a:buNone/>
                      </a:pPr>
                      <a:r>
                        <a:rPr lang="en" sz="1300"/>
                        <a:t>Magentic-One: A Generalist Multi-Agent System for Solving Complex Tasks</a:t>
                      </a:r>
                      <a:endParaRPr sz="13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Magentic-One</a:t>
                      </a:r>
                      <a:r>
                        <a:rPr lang="en" sz="1000"/>
                        <a:t>, a system where </a:t>
                      </a:r>
                      <a:r>
                        <a:rPr b="1" lang="en" sz="1000"/>
                        <a:t>multiple AI agents work together</a:t>
                      </a:r>
                      <a:r>
                        <a:rPr lang="en" sz="1000"/>
                        <a:t> to solve complex tasks. It uses a main agent called the </a:t>
                      </a:r>
                      <a:r>
                        <a:rPr b="1" lang="en" sz="1000"/>
                        <a:t>Orchestrator</a:t>
                      </a:r>
                      <a:r>
                        <a:rPr lang="en" sz="1000"/>
                        <a:t>, which plans tasks, assigns work, tracks progress, and fixes errors. Other agents include: </a:t>
                      </a:r>
                      <a:r>
                        <a:rPr b="1" lang="en" sz="1000"/>
                        <a:t>WebSurfer</a:t>
                      </a:r>
                      <a:r>
                        <a:rPr lang="en" sz="1000"/>
                        <a:t> (browses internet), </a:t>
                      </a:r>
                      <a:r>
                        <a:rPr b="1" lang="en" sz="1000"/>
                        <a:t>FileSurfer</a:t>
                      </a:r>
                      <a:r>
                        <a:rPr lang="en" sz="1000"/>
                        <a:t> (reads files), </a:t>
                      </a:r>
                      <a:r>
                        <a:rPr b="1" lang="en" sz="1000"/>
                        <a:t>Coder</a:t>
                      </a:r>
                      <a:r>
                        <a:rPr lang="en" sz="1000"/>
                        <a:t> (writes code), and </a:t>
                      </a:r>
                      <a:r>
                        <a:rPr b="1" lang="en" sz="1000"/>
                        <a:t>ComputerTerminal</a:t>
                      </a:r>
                      <a:r>
                        <a:rPr lang="en" sz="1000"/>
                        <a:t> (runs code). The system works in loops: first it creates a plan, then agents perform tasks step-by-step, and the Orchestrator keeps improving the process until the task is done. It is tested on benchmarks like </a:t>
                      </a:r>
                      <a:r>
                        <a:rPr b="1" lang="en" sz="1000"/>
                        <a:t>GAIA, WebArena, and AssistantBench</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shows </a:t>
                      </a:r>
                      <a:r>
                        <a:rPr b="1" lang="en" sz="1000"/>
                        <a:t>strong performance across different tasks</a:t>
                      </a:r>
                      <a:r>
                        <a:rPr lang="en" sz="1000"/>
                        <a:t>, close to state-of-the-art models. It can handle </a:t>
                      </a:r>
                      <a:r>
                        <a:rPr b="1" lang="en" sz="1000"/>
                        <a:t>complex multi-step problems</a:t>
                      </a:r>
                      <a:r>
                        <a:rPr lang="en" sz="1000"/>
                        <a:t> like web browsing, coding, and file analysis. The multi-agent design makes it </a:t>
                      </a:r>
                      <a:r>
                        <a:rPr b="1" lang="en" sz="1000"/>
                        <a:t>flexible and modular</a:t>
                      </a:r>
                      <a:r>
                        <a:rPr lang="en" sz="1000"/>
                        <a:t>, meaning agents can be added or removed easily. It also shows better performance on </a:t>
                      </a:r>
                      <a:r>
                        <a:rPr b="1" lang="en" sz="1000"/>
                        <a:t>hard tasks</a:t>
                      </a:r>
                      <a:r>
                        <a:rPr lang="en" sz="1000"/>
                        <a:t> compared to simple ones.</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slow and expensive</a:t>
                      </a:r>
                      <a:r>
                        <a:rPr lang="en" sz="1000"/>
                        <a:t> because many agents and steps are involved. It requires high computing power and time. Sometimes agents repeat mistakes or take inefficient actions. It also lacks long-term memory (cannot learn across tasks). Limited support for some data types (like video/audio) and limited tools for some actions.</a:t>
                      </a:r>
                      <a:endParaRPr sz="10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52" name="Google Shape;252;p38"/>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53" name="Google Shape;253;p38"/>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54" name="Google Shape;254;p38"/>
          <p:cNvGraphicFramePr/>
          <p:nvPr/>
        </p:nvGraphicFramePr>
        <p:xfrm>
          <a:off x="120200" y="1512850"/>
          <a:ext cx="3000000" cy="3000000"/>
        </p:xfrm>
        <a:graphic>
          <a:graphicData uri="http://schemas.openxmlformats.org/drawingml/2006/table">
            <a:tbl>
              <a:tblPr>
                <a:noFill/>
                <a:tableStyleId>{2FEA3EFD-C128-48BF-A8A9-2B900AD69DF7}</a:tableStyleId>
              </a:tblPr>
              <a:tblGrid>
                <a:gridCol w="285750"/>
                <a:gridCol w="819150"/>
                <a:gridCol w="695325"/>
                <a:gridCol w="2990850"/>
                <a:gridCol w="2181225"/>
                <a:gridCol w="2047875"/>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076450">
                <a:tc>
                  <a:txBody>
                    <a:bodyPr/>
                    <a:lstStyle/>
                    <a:p>
                      <a:pPr indent="0" lvl="0" marL="0" rtl="0" algn="l">
                        <a:spcBef>
                          <a:spcPts val="0"/>
                        </a:spcBef>
                        <a:spcAft>
                          <a:spcPts val="0"/>
                        </a:spcAft>
                        <a:buNone/>
                      </a:pPr>
                      <a:r>
                        <a:rPr lang="en" sz="1300"/>
                        <a:t>[6]</a:t>
                      </a:r>
                      <a:endParaRPr sz="1300"/>
                    </a:p>
                  </a:txBody>
                  <a:tcPr marT="91425" marB="91425" marR="91425" marL="91425"/>
                </a:tc>
                <a:tc>
                  <a:txBody>
                    <a:bodyPr/>
                    <a:lstStyle/>
                    <a:p>
                      <a:pPr indent="0" lvl="0" marL="0" rtl="0" algn="l">
                        <a:spcBef>
                          <a:spcPts val="0"/>
                        </a:spcBef>
                        <a:spcAft>
                          <a:spcPts val="0"/>
                        </a:spcAft>
                        <a:buNone/>
                      </a:pPr>
                      <a:r>
                        <a:rPr lang="en" sz="1300"/>
                        <a:t>Meyerson, E., Paolo, G., Dailey, R. et al. (2025)</a:t>
                      </a:r>
                      <a:endParaRPr sz="1300"/>
                    </a:p>
                  </a:txBody>
                  <a:tcPr marT="91425" marB="91425" marR="91425" marL="91425"/>
                </a:tc>
                <a:tc>
                  <a:txBody>
                    <a:bodyPr/>
                    <a:lstStyle/>
                    <a:p>
                      <a:pPr indent="0" lvl="0" marL="0" rtl="0" algn="l">
                        <a:spcBef>
                          <a:spcPts val="0"/>
                        </a:spcBef>
                        <a:spcAft>
                          <a:spcPts val="0"/>
                        </a:spcAft>
                        <a:buNone/>
                      </a:pPr>
                      <a:r>
                        <a:rPr lang="en" sz="1300"/>
                        <a:t>Solving a Million-Step LLM Task with Zero Errors</a:t>
                      </a:r>
                      <a:endParaRPr sz="1300"/>
                    </a:p>
                  </a:txBody>
                  <a:tcPr marT="91425" marB="91425" marR="91425" marL="91425"/>
                </a:tc>
                <a:tc>
                  <a:txBody>
                    <a:bodyPr/>
                    <a:lstStyle/>
                    <a:p>
                      <a:pPr indent="0" lvl="0" marL="0" rtl="0" algn="l">
                        <a:spcBef>
                          <a:spcPts val="0"/>
                        </a:spcBef>
                        <a:spcAft>
                          <a:spcPts val="0"/>
                        </a:spcAft>
                        <a:buNone/>
                      </a:pPr>
                      <a:r>
                        <a:rPr lang="en" sz="1000"/>
                        <a:t>This paper introduces a system called </a:t>
                      </a:r>
                      <a:r>
                        <a:rPr b="1" lang="en" sz="1000"/>
                        <a:t>MAKER</a:t>
                      </a:r>
                      <a:r>
                        <a:rPr lang="en" sz="1000"/>
                        <a:t>, based on </a:t>
                      </a:r>
                      <a:r>
                        <a:rPr b="1" lang="en" sz="1000"/>
                        <a:t>multi-agent decomposition</a:t>
                      </a:r>
                      <a:r>
                        <a:rPr lang="en" sz="1000"/>
                        <a:t>. It breaks a large task into </a:t>
                      </a:r>
                      <a:r>
                        <a:rPr b="1" lang="en" sz="1000"/>
                        <a:t>very small steps (micro-tasks)</a:t>
                      </a:r>
                      <a:r>
                        <a:rPr lang="en" sz="1000"/>
                        <a:t>. Each step is solved by separate agents. It uses </a:t>
                      </a:r>
                      <a:r>
                        <a:rPr b="1" lang="en" sz="1000"/>
                        <a:t>3 main ideas</a:t>
                      </a:r>
                      <a:r>
                        <a:rPr lang="en" sz="1000"/>
                        <a:t>: (1) extreme task breakdown (each agent does only one small step), (2) </a:t>
                      </a:r>
                      <a:r>
                        <a:rPr b="1" lang="en" sz="1000"/>
                        <a:t>voting-based error correction</a:t>
                      </a:r>
                      <a:r>
                        <a:rPr lang="en" sz="1000"/>
                        <a:t> (multiple agents solve same step and best answer is chosen), (3) </a:t>
                      </a:r>
                      <a:r>
                        <a:rPr b="1" lang="en" sz="1000"/>
                        <a:t>red-flagging</a:t>
                      </a:r>
                      <a:r>
                        <a:rPr lang="en" sz="1000"/>
                        <a:t> (removes suspicious or wrong outputs). The system is tested on the </a:t>
                      </a:r>
                      <a:r>
                        <a:rPr b="1" lang="en" sz="1000"/>
                        <a:t>Towers of Hanoi problem</a:t>
                      </a:r>
                      <a:r>
                        <a:rPr lang="en" sz="1000"/>
                        <a:t>, which needs over </a:t>
                      </a:r>
                      <a:r>
                        <a:rPr b="1" lang="en" sz="1000"/>
                        <a:t>1 million steps</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successfully solves a </a:t>
                      </a:r>
                      <a:r>
                        <a:rPr b="1" lang="en" sz="1000"/>
                        <a:t>1 million-step task with zero errors</a:t>
                      </a:r>
                      <a:r>
                        <a:rPr lang="en" sz="1000"/>
                        <a:t>, which normal LLMs cannot do. Shows that </a:t>
                      </a:r>
                      <a:r>
                        <a:rPr b="1" lang="en" sz="1000"/>
                        <a:t>breaking tasks into small steps + voting</a:t>
                      </a:r>
                      <a:r>
                        <a:rPr lang="en" sz="1000"/>
                        <a:t> can make AI very reliable. Also proves that even </a:t>
                      </a:r>
                      <a:r>
                        <a:rPr b="1" lang="en" sz="1000"/>
                        <a:t>small models can solve very large problems</a:t>
                      </a:r>
                      <a:r>
                        <a:rPr lang="en" sz="1000"/>
                        <a:t> if structured properly. Demonstrates a new way to scale AI without just increasing model size.</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very complex and requires many operations</a:t>
                      </a:r>
                      <a:r>
                        <a:rPr lang="en" sz="1000"/>
                        <a:t>, making it costly and slow. Works well only if tasks can be broken into very small steps. Needs careful design for decomposition and error handling. Not yet tested on many real-world complex problems beyond structured tasks like Hanoi.</a:t>
                      </a:r>
                      <a:endParaRPr sz="1000"/>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61" name="Google Shape;261;p39"/>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62" name="Google Shape;262;p39"/>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63" name="Google Shape;263;p39"/>
          <p:cNvGraphicFramePr/>
          <p:nvPr/>
        </p:nvGraphicFramePr>
        <p:xfrm>
          <a:off x="54350" y="1376825"/>
          <a:ext cx="3000000" cy="3000000"/>
        </p:xfrm>
        <a:graphic>
          <a:graphicData uri="http://schemas.openxmlformats.org/drawingml/2006/table">
            <a:tbl>
              <a:tblPr>
                <a:noFill/>
                <a:tableStyleId>{2FEA3EFD-C128-48BF-A8A9-2B900AD69DF7}</a:tableStyleId>
              </a:tblPr>
              <a:tblGrid>
                <a:gridCol w="285750"/>
                <a:gridCol w="1000125"/>
                <a:gridCol w="1076325"/>
                <a:gridCol w="2438400"/>
                <a:gridCol w="1924050"/>
                <a:gridCol w="2286000"/>
              </a:tblGrid>
              <a:tr h="190500">
                <a:tc>
                  <a:txBody>
                    <a:bodyPr/>
                    <a:lstStyle/>
                    <a:p>
                      <a:pPr indent="0" lvl="0" marL="0" rtl="0" algn="ctr">
                        <a:lnSpc>
                          <a:spcPct val="115000"/>
                        </a:lnSpc>
                        <a:spcBef>
                          <a:spcPts val="0"/>
                        </a:spcBef>
                        <a:spcAft>
                          <a:spcPts val="0"/>
                        </a:spcAft>
                        <a:buNone/>
                      </a:pPr>
                      <a:r>
                        <a:rPr b="1" lang="en" sz="900"/>
                        <a:t>Ref.</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Author &amp; Year</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Title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Methodology</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Key Findings</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Limitations</a:t>
                      </a:r>
                      <a:endParaRPr b="1" sz="900"/>
                    </a:p>
                  </a:txBody>
                  <a:tcPr marT="91425" marB="91425" marR="91425" marL="91425"/>
                </a:tc>
              </a:tr>
              <a:tr h="2590800">
                <a:tc>
                  <a:txBody>
                    <a:bodyPr/>
                    <a:lstStyle/>
                    <a:p>
                      <a:pPr indent="0" lvl="0" marL="0" rtl="0" algn="l">
                        <a:spcBef>
                          <a:spcPts val="0"/>
                        </a:spcBef>
                        <a:spcAft>
                          <a:spcPts val="0"/>
                        </a:spcAft>
                        <a:buNone/>
                      </a:pPr>
                      <a:r>
                        <a:rPr lang="en" sz="1200"/>
                        <a:t>[7]</a:t>
                      </a:r>
                      <a:endParaRPr sz="1200"/>
                    </a:p>
                  </a:txBody>
                  <a:tcPr marT="91425" marB="91425" marR="91425" marL="91425"/>
                </a:tc>
                <a:tc>
                  <a:txBody>
                    <a:bodyPr/>
                    <a:lstStyle/>
                    <a:p>
                      <a:pPr indent="0" lvl="0" marL="0" rtl="0" algn="l">
                        <a:spcBef>
                          <a:spcPts val="0"/>
                        </a:spcBef>
                        <a:spcAft>
                          <a:spcPts val="0"/>
                        </a:spcAft>
                        <a:buNone/>
                      </a:pPr>
                      <a:r>
                        <a:rPr lang="en" sz="1200"/>
                        <a:t>Masters, C., Vellanki, A., Shangguan, J., Kultys, B., Gilmore, J., Moore, A. &amp; Albrecht, S. V. (2025)</a:t>
                      </a:r>
                      <a:endParaRPr sz="1200"/>
                    </a:p>
                  </a:txBody>
                  <a:tcPr marT="91425" marB="91425" marR="91425" marL="91425"/>
                </a:tc>
                <a:tc>
                  <a:txBody>
                    <a:bodyPr/>
                    <a:lstStyle/>
                    <a:p>
                      <a:pPr indent="0" lvl="0" marL="0" rtl="0" algn="l">
                        <a:spcBef>
                          <a:spcPts val="0"/>
                        </a:spcBef>
                        <a:spcAft>
                          <a:spcPts val="0"/>
                        </a:spcAft>
                        <a:buNone/>
                      </a:pPr>
                      <a:r>
                        <a:rPr lang="en" sz="1200"/>
                        <a:t>Orchestrating Human-AI Teams: The Manager Agent as a Unifying Research Challenge</a:t>
                      </a:r>
                      <a:endParaRPr sz="1200"/>
                    </a:p>
                  </a:txBody>
                  <a:tcPr marT="91425" marB="91425" marR="91425" marL="91425"/>
                </a:tc>
                <a:tc>
                  <a:txBody>
                    <a:bodyPr/>
                    <a:lstStyle/>
                    <a:p>
                      <a:pPr indent="0" lvl="0" marL="0" rtl="0" algn="l">
                        <a:spcBef>
                          <a:spcPts val="0"/>
                        </a:spcBef>
                        <a:spcAft>
                          <a:spcPts val="0"/>
                        </a:spcAft>
                        <a:buNone/>
                      </a:pPr>
                      <a:r>
                        <a:rPr lang="en" sz="900"/>
                        <a:t>This paper proposes a </a:t>
                      </a:r>
                      <a:r>
                        <a:rPr b="1" lang="en" sz="900"/>
                        <a:t>Manager Agent</a:t>
                      </a:r>
                      <a:r>
                        <a:rPr lang="en" sz="900"/>
                        <a:t>, which acts like a </a:t>
                      </a:r>
                      <a:r>
                        <a:rPr b="1" lang="en" sz="900"/>
                        <a:t>project manager AI</a:t>
                      </a:r>
                      <a:r>
                        <a:rPr lang="en" sz="900"/>
                        <a:t> that controls and coordinates both humans and AI agents. It breaks big goals into smaller tasks, assigns tasks to workers, monitors progress, adapts plans when things change, and communicates with stakeholders. The system is modeled using a </a:t>
                      </a:r>
                      <a:r>
                        <a:rPr b="1" lang="en" sz="900"/>
                        <a:t>POSG (Partially Observable Stochastic Game)</a:t>
                      </a:r>
                      <a:r>
                        <a:rPr lang="en" sz="900"/>
                        <a:t> to handle uncertainty and multiple agents. It also introduces </a:t>
                      </a:r>
                      <a:r>
                        <a:rPr b="1" lang="en" sz="900"/>
                        <a:t>MA-Gym</a:t>
                      </a:r>
                      <a:r>
                        <a:rPr lang="en" sz="900"/>
                        <a:t>, a simulation environment to test such systems across real-world workflows.</a:t>
                      </a:r>
                      <a:endParaRPr sz="900"/>
                    </a:p>
                  </a:txBody>
                  <a:tcPr marT="91425" marB="91425" marR="91425" marL="91425"/>
                </a:tc>
                <a:tc>
                  <a:txBody>
                    <a:bodyPr/>
                    <a:lstStyle/>
                    <a:p>
                      <a:pPr indent="0" lvl="0" marL="0" rtl="0" algn="l">
                        <a:spcBef>
                          <a:spcPts val="0"/>
                        </a:spcBef>
                        <a:spcAft>
                          <a:spcPts val="0"/>
                        </a:spcAft>
                        <a:buNone/>
                      </a:pPr>
                      <a:r>
                        <a:rPr lang="en" sz="900"/>
                        <a:t>The paper shows that managing complex workflows with AI is </a:t>
                      </a:r>
                      <a:r>
                        <a:rPr b="1" lang="en" sz="900"/>
                        <a:t>very difficult</a:t>
                      </a:r>
                      <a:r>
                        <a:rPr lang="en" sz="900"/>
                        <a:t>. Current AI systems struggle to balance </a:t>
                      </a:r>
                      <a:r>
                        <a:rPr b="1" lang="en" sz="900"/>
                        <a:t>goal completion, time, cost, and constraints together</a:t>
                      </a:r>
                      <a:r>
                        <a:rPr lang="en" sz="900"/>
                        <a:t>. It highlights that multi-agent coordination, planning, and real-time adaptation are still open challenges. It also shows that stronger models improve planning but still fail in many real-world scenarios.</a:t>
                      </a:r>
                      <a:endParaRPr sz="900"/>
                    </a:p>
                  </a:txBody>
                  <a:tcPr marT="91425" marB="91425" marR="91425" marL="91425"/>
                </a:tc>
                <a:tc>
                  <a:txBody>
                    <a:bodyPr/>
                    <a:lstStyle/>
                    <a:p>
                      <a:pPr indent="0" lvl="0" marL="0" rtl="0" algn="l">
                        <a:spcBef>
                          <a:spcPts val="0"/>
                        </a:spcBef>
                        <a:spcAft>
                          <a:spcPts val="0"/>
                        </a:spcAft>
                        <a:buNone/>
                      </a:pPr>
                      <a:r>
                        <a:rPr lang="en" sz="900"/>
                        <a:t>This is mostly a </a:t>
                      </a:r>
                      <a:r>
                        <a:rPr b="1" lang="en" sz="900"/>
                        <a:t>conceptual/research paper</a:t>
                      </a:r>
                      <a:r>
                        <a:rPr lang="en" sz="900"/>
                        <a:t>, not a fully working system. Current models perform poorly in real-world workflow management. The system is complex and requires solving many open problems like coordination, planning, and governance. Also, ethical issues like </a:t>
                      </a:r>
                      <a:r>
                        <a:rPr b="1" lang="en" sz="900"/>
                        <a:t>bias, privacy, and accountability</a:t>
                      </a:r>
                      <a:r>
                        <a:rPr lang="en" sz="900"/>
                        <a:t> are not fully solved yet.</a:t>
                      </a:r>
                      <a:endParaRPr sz="9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0"/>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70" name="Google Shape;270;p40"/>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71" name="Google Shape;271;p40"/>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72" name="Google Shape;272;p40"/>
          <p:cNvGraphicFramePr/>
          <p:nvPr/>
        </p:nvGraphicFramePr>
        <p:xfrm>
          <a:off x="120200" y="1494950"/>
          <a:ext cx="3000000" cy="3000000"/>
        </p:xfrm>
        <a:graphic>
          <a:graphicData uri="http://schemas.openxmlformats.org/drawingml/2006/table">
            <a:tbl>
              <a:tblPr>
                <a:noFill/>
                <a:tableStyleId>{2FEA3EFD-C128-48BF-A8A9-2B900AD69DF7}</a:tableStyleId>
              </a:tblPr>
              <a:tblGrid>
                <a:gridCol w="285750"/>
                <a:gridCol w="685800"/>
                <a:gridCol w="828675"/>
                <a:gridCol w="2771775"/>
                <a:gridCol w="2257425"/>
                <a:gridCol w="2181225"/>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076450">
                <a:tc>
                  <a:txBody>
                    <a:bodyPr/>
                    <a:lstStyle/>
                    <a:p>
                      <a:pPr indent="0" lvl="0" marL="0" rtl="0" algn="l">
                        <a:spcBef>
                          <a:spcPts val="0"/>
                        </a:spcBef>
                        <a:spcAft>
                          <a:spcPts val="0"/>
                        </a:spcAft>
                        <a:buNone/>
                      </a:pPr>
                      <a:r>
                        <a:rPr lang="en" sz="1300"/>
                        <a:t>[8]</a:t>
                      </a:r>
                      <a:endParaRPr sz="1300"/>
                    </a:p>
                  </a:txBody>
                  <a:tcPr marT="91425" marB="91425" marR="91425" marL="91425"/>
                </a:tc>
                <a:tc>
                  <a:txBody>
                    <a:bodyPr/>
                    <a:lstStyle/>
                    <a:p>
                      <a:pPr indent="0" lvl="0" marL="0" rtl="0" algn="l">
                        <a:spcBef>
                          <a:spcPts val="0"/>
                        </a:spcBef>
                        <a:spcAft>
                          <a:spcPts val="0"/>
                        </a:spcAft>
                        <a:buNone/>
                      </a:pPr>
                      <a:r>
                        <a:rPr lang="en" sz="1300"/>
                        <a:t>LearnLM Team, Google (2025)</a:t>
                      </a:r>
                      <a:endParaRPr sz="1300"/>
                    </a:p>
                  </a:txBody>
                  <a:tcPr marT="91425" marB="91425" marR="91425" marL="91425"/>
                </a:tc>
                <a:tc>
                  <a:txBody>
                    <a:bodyPr/>
                    <a:lstStyle/>
                    <a:p>
                      <a:pPr indent="0" lvl="0" marL="0" rtl="0" algn="l">
                        <a:spcBef>
                          <a:spcPts val="0"/>
                        </a:spcBef>
                        <a:spcAft>
                          <a:spcPts val="0"/>
                        </a:spcAft>
                        <a:buNone/>
                      </a:pPr>
                      <a:r>
                        <a:rPr lang="en" sz="1300"/>
                        <a:t>Towards an AI-Augmented Textbook</a:t>
                      </a:r>
                      <a:endParaRPr sz="1300"/>
                    </a:p>
                  </a:txBody>
                  <a:tcPr marT="91425" marB="91425" marR="91425" marL="91425"/>
                </a:tc>
                <a:tc>
                  <a:txBody>
                    <a:bodyPr/>
                    <a:lstStyle/>
                    <a:p>
                      <a:pPr indent="0" lvl="0" marL="0" rtl="0" algn="l">
                        <a:spcBef>
                          <a:spcPts val="0"/>
                        </a:spcBef>
                        <a:spcAft>
                          <a:spcPts val="0"/>
                        </a:spcAft>
                        <a:buNone/>
                      </a:pPr>
                      <a:r>
                        <a:rPr lang="en" sz="1000"/>
                        <a:t>This paper presents a system called </a:t>
                      </a:r>
                      <a:r>
                        <a:rPr b="1" lang="en" sz="1000"/>
                        <a:t>“Learn Your Way”</a:t>
                      </a:r>
                      <a:r>
                        <a:rPr lang="en" sz="1000"/>
                        <a:t>, which uses </a:t>
                      </a:r>
                      <a:r>
                        <a:rPr b="1" lang="en" sz="1000"/>
                        <a:t>Generative AI to improve textbooks</a:t>
                      </a:r>
                      <a:r>
                        <a:rPr lang="en" sz="1000"/>
                        <a:t>. It works in two main steps: (1) </a:t>
                      </a:r>
                      <a:r>
                        <a:rPr b="1" lang="en" sz="1000"/>
                        <a:t>Personalization</a:t>
                      </a:r>
                      <a:r>
                        <a:rPr lang="en" sz="1000"/>
                        <a:t> – rewrites content based on student level (grade) and interests, (2) </a:t>
                      </a:r>
                      <a:r>
                        <a:rPr b="1" lang="en" sz="1000"/>
                        <a:t>Transformation</a:t>
                      </a:r>
                      <a:r>
                        <a:rPr lang="en" sz="1000"/>
                        <a:t> – converts content into multiple formats like slides, audio lessons, mind maps, quizzes, and interactive text. It also includes </a:t>
                      </a:r>
                      <a:r>
                        <a:rPr b="1" lang="en" sz="1000"/>
                        <a:t>assessments and feedback</a:t>
                      </a:r>
                      <a:r>
                        <a:rPr lang="en" sz="1000"/>
                        <a:t> to track learning. The system was tested using </a:t>
                      </a:r>
                      <a:r>
                        <a:rPr b="1" lang="en" sz="1000"/>
                        <a:t>student experiments and expert evaluation</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improves </a:t>
                      </a:r>
                      <a:r>
                        <a:rPr b="1" lang="en" sz="1000"/>
                        <a:t>learning experience and performance</a:t>
                      </a:r>
                      <a:r>
                        <a:rPr lang="en" sz="1000"/>
                        <a:t>. Students using it scored </a:t>
                      </a:r>
                      <a:r>
                        <a:rPr b="1" lang="en" sz="1000"/>
                        <a:t>higher in tests (both immediate and after 3 days)</a:t>
                      </a:r>
                      <a:r>
                        <a:rPr lang="en" sz="1000"/>
                        <a:t> compared to normal textbooks. It makes learning more </a:t>
                      </a:r>
                      <a:r>
                        <a:rPr b="1" lang="en" sz="1000"/>
                        <a:t>engaging, personalized, and interactive</a:t>
                      </a:r>
                      <a:r>
                        <a:rPr lang="en" sz="1000"/>
                        <a:t>. Multiple formats (audio, visuals, quizzes) help better understanding and memory. Experts also rated the system highly in terms of teaching quality.</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complex and depends heavily on AI quality</a:t>
                      </a:r>
                      <a:r>
                        <a:rPr lang="en" sz="1000"/>
                        <a:t>. It is unclear which part (quiz, audio, personalization, etc.) gives the most improvement. Needs more testing on different subjects and larger datasets. AI-generated visuals and content may sometimes be inaccurate. Also requires high resources and careful design for real-world use.</a:t>
                      </a:r>
                      <a:endParaRPr sz="10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79" name="Google Shape;279;p41"/>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80" name="Google Shape;280;p41"/>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81" name="Google Shape;281;p41"/>
          <p:cNvGraphicFramePr/>
          <p:nvPr/>
        </p:nvGraphicFramePr>
        <p:xfrm>
          <a:off x="90275" y="1508650"/>
          <a:ext cx="3000000" cy="3000000"/>
        </p:xfrm>
        <a:graphic>
          <a:graphicData uri="http://schemas.openxmlformats.org/drawingml/2006/table">
            <a:tbl>
              <a:tblPr>
                <a:noFill/>
                <a:tableStyleId>{2FEA3EFD-C128-48BF-A8A9-2B900AD69DF7}</a:tableStyleId>
              </a:tblPr>
              <a:tblGrid>
                <a:gridCol w="285750"/>
                <a:gridCol w="685800"/>
                <a:gridCol w="828675"/>
                <a:gridCol w="2771775"/>
                <a:gridCol w="2257425"/>
                <a:gridCol w="2181225"/>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076450">
                <a:tc>
                  <a:txBody>
                    <a:bodyPr/>
                    <a:lstStyle/>
                    <a:p>
                      <a:pPr indent="0" lvl="0" marL="0" rtl="0" algn="l">
                        <a:spcBef>
                          <a:spcPts val="0"/>
                        </a:spcBef>
                        <a:spcAft>
                          <a:spcPts val="0"/>
                        </a:spcAft>
                        <a:buNone/>
                      </a:pPr>
                      <a:r>
                        <a:rPr lang="en" sz="1300"/>
                        <a:t>[8]</a:t>
                      </a:r>
                      <a:endParaRPr sz="1300"/>
                    </a:p>
                  </a:txBody>
                  <a:tcPr marT="91425" marB="91425" marR="91425" marL="91425"/>
                </a:tc>
                <a:tc>
                  <a:txBody>
                    <a:bodyPr/>
                    <a:lstStyle/>
                    <a:p>
                      <a:pPr indent="0" lvl="0" marL="0" rtl="0" algn="l">
                        <a:spcBef>
                          <a:spcPts val="0"/>
                        </a:spcBef>
                        <a:spcAft>
                          <a:spcPts val="0"/>
                        </a:spcAft>
                        <a:buNone/>
                      </a:pPr>
                      <a:r>
                        <a:rPr lang="en" sz="1300"/>
                        <a:t>LearnLM Team, Google (2025)</a:t>
                      </a:r>
                      <a:endParaRPr sz="1300"/>
                    </a:p>
                  </a:txBody>
                  <a:tcPr marT="91425" marB="91425" marR="91425" marL="91425"/>
                </a:tc>
                <a:tc>
                  <a:txBody>
                    <a:bodyPr/>
                    <a:lstStyle/>
                    <a:p>
                      <a:pPr indent="0" lvl="0" marL="0" rtl="0" algn="l">
                        <a:spcBef>
                          <a:spcPts val="0"/>
                        </a:spcBef>
                        <a:spcAft>
                          <a:spcPts val="0"/>
                        </a:spcAft>
                        <a:buNone/>
                      </a:pPr>
                      <a:r>
                        <a:rPr lang="en" sz="1300"/>
                        <a:t>Towards an AI-Augmented Textbook</a:t>
                      </a:r>
                      <a:endParaRPr sz="1300"/>
                    </a:p>
                  </a:txBody>
                  <a:tcPr marT="91425" marB="91425" marR="91425" marL="91425"/>
                </a:tc>
                <a:tc>
                  <a:txBody>
                    <a:bodyPr/>
                    <a:lstStyle/>
                    <a:p>
                      <a:pPr indent="0" lvl="0" marL="0" rtl="0" algn="l">
                        <a:spcBef>
                          <a:spcPts val="0"/>
                        </a:spcBef>
                        <a:spcAft>
                          <a:spcPts val="0"/>
                        </a:spcAft>
                        <a:buNone/>
                      </a:pPr>
                      <a:r>
                        <a:rPr lang="en" sz="1000"/>
                        <a:t>This paper presents a system called </a:t>
                      </a:r>
                      <a:r>
                        <a:rPr b="1" lang="en" sz="1000"/>
                        <a:t>“Learn Your Way”</a:t>
                      </a:r>
                      <a:r>
                        <a:rPr lang="en" sz="1000"/>
                        <a:t>, which uses </a:t>
                      </a:r>
                      <a:r>
                        <a:rPr b="1" lang="en" sz="1000"/>
                        <a:t>Generative AI to improve textbooks</a:t>
                      </a:r>
                      <a:r>
                        <a:rPr lang="en" sz="1000"/>
                        <a:t>. It works in two main steps: (1) </a:t>
                      </a:r>
                      <a:r>
                        <a:rPr b="1" lang="en" sz="1000"/>
                        <a:t>Personalization</a:t>
                      </a:r>
                      <a:r>
                        <a:rPr lang="en" sz="1000"/>
                        <a:t> – rewrites content based on student level (grade) and interests, (2) </a:t>
                      </a:r>
                      <a:r>
                        <a:rPr b="1" lang="en" sz="1000"/>
                        <a:t>Transformation</a:t>
                      </a:r>
                      <a:r>
                        <a:rPr lang="en" sz="1000"/>
                        <a:t> – converts content into multiple formats like slides, audio lessons, mind maps, quizzes, and interactive text. It also includes </a:t>
                      </a:r>
                      <a:r>
                        <a:rPr b="1" lang="en" sz="1000"/>
                        <a:t>assessments and feedback</a:t>
                      </a:r>
                      <a:r>
                        <a:rPr lang="en" sz="1000"/>
                        <a:t> to track learning. The system was tested using </a:t>
                      </a:r>
                      <a:r>
                        <a:rPr b="1" lang="en" sz="1000"/>
                        <a:t>student experiments and expert evaluation</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improves </a:t>
                      </a:r>
                      <a:r>
                        <a:rPr b="1" lang="en" sz="1000"/>
                        <a:t>learning experience and performance</a:t>
                      </a:r>
                      <a:r>
                        <a:rPr lang="en" sz="1000"/>
                        <a:t>. Students using it scored </a:t>
                      </a:r>
                      <a:r>
                        <a:rPr b="1" lang="en" sz="1000"/>
                        <a:t>higher in tests (both immediate and after 3 days)</a:t>
                      </a:r>
                      <a:r>
                        <a:rPr lang="en" sz="1000"/>
                        <a:t> compared to normal textbooks. It makes learning more </a:t>
                      </a:r>
                      <a:r>
                        <a:rPr b="1" lang="en" sz="1000"/>
                        <a:t>engaging, personalized, and interactive</a:t>
                      </a:r>
                      <a:r>
                        <a:rPr lang="en" sz="1000"/>
                        <a:t>. Multiple formats (audio, visuals, quizzes) help better understanding and memory. Experts also rated the system highly in terms of teaching quality.</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complex and depends heavily on AI quality</a:t>
                      </a:r>
                      <a:r>
                        <a:rPr lang="en" sz="1000"/>
                        <a:t>. It is unclear which part (quiz, audio, personalization, etc.) gives the most improvement. Needs more testing on different subjects and larger datasets. AI-generated visuals and content may sometimes be inaccurate. Also requires high resources and careful design for real-world use.</a:t>
                      </a:r>
                      <a:endParaRPr sz="1000"/>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88" name="Google Shape;288;p42"/>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89" name="Google Shape;289;p42"/>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90" name="Google Shape;290;p42"/>
          <p:cNvGraphicFramePr/>
          <p:nvPr/>
        </p:nvGraphicFramePr>
        <p:xfrm>
          <a:off x="90275" y="1387575"/>
          <a:ext cx="3000000" cy="3000000"/>
        </p:xfrm>
        <a:graphic>
          <a:graphicData uri="http://schemas.openxmlformats.org/drawingml/2006/table">
            <a:tbl>
              <a:tblPr>
                <a:noFill/>
                <a:tableStyleId>{2FEA3EFD-C128-48BF-A8A9-2B900AD69DF7}</a:tableStyleId>
              </a:tblPr>
              <a:tblGrid>
                <a:gridCol w="285750"/>
                <a:gridCol w="647700"/>
                <a:gridCol w="1076325"/>
                <a:gridCol w="2905125"/>
                <a:gridCol w="2000250"/>
                <a:gridCol w="2095500"/>
              </a:tblGrid>
              <a:tr h="361950">
                <a:tc>
                  <a:txBody>
                    <a:bodyPr/>
                    <a:lstStyle/>
                    <a:p>
                      <a:pPr indent="0" lvl="0" marL="0" rtl="0" algn="ctr">
                        <a:lnSpc>
                          <a:spcPct val="115000"/>
                        </a:lnSpc>
                        <a:spcBef>
                          <a:spcPts val="0"/>
                        </a:spcBef>
                        <a:spcAft>
                          <a:spcPts val="0"/>
                        </a:spcAft>
                        <a:buNone/>
                      </a:pPr>
                      <a:r>
                        <a:rPr b="1" lang="en" sz="900"/>
                        <a:t>Ref.</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Author &amp; Year</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Title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Methodology</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Key Findings</a:t>
                      </a:r>
                      <a:endParaRPr b="1" sz="900"/>
                    </a:p>
                  </a:txBody>
                  <a:tcPr marT="91425" marB="91425" marR="91425" marL="91425"/>
                </a:tc>
                <a:tc>
                  <a:txBody>
                    <a:bodyPr/>
                    <a:lstStyle/>
                    <a:p>
                      <a:pPr indent="0" lvl="0" marL="0" rtl="0" algn="ctr">
                        <a:lnSpc>
                          <a:spcPct val="115000"/>
                        </a:lnSpc>
                        <a:spcBef>
                          <a:spcPts val="0"/>
                        </a:spcBef>
                        <a:spcAft>
                          <a:spcPts val="0"/>
                        </a:spcAft>
                        <a:buNone/>
                      </a:pPr>
                      <a:r>
                        <a:rPr b="1" lang="en" sz="900"/>
                        <a:t>Limitations</a:t>
                      </a:r>
                      <a:endParaRPr b="1" sz="900"/>
                    </a:p>
                  </a:txBody>
                  <a:tcPr marT="91425" marB="91425" marR="91425" marL="91425"/>
                </a:tc>
              </a:tr>
              <a:tr h="2419350">
                <a:tc>
                  <a:txBody>
                    <a:bodyPr/>
                    <a:lstStyle/>
                    <a:p>
                      <a:pPr indent="0" lvl="0" marL="0" rtl="0" algn="l">
                        <a:spcBef>
                          <a:spcPts val="0"/>
                        </a:spcBef>
                        <a:spcAft>
                          <a:spcPts val="0"/>
                        </a:spcAft>
                        <a:buNone/>
                      </a:pPr>
                      <a:r>
                        <a:rPr lang="en" sz="1200"/>
                        <a:t>[9]</a:t>
                      </a:r>
                      <a:endParaRPr sz="1200"/>
                    </a:p>
                  </a:txBody>
                  <a:tcPr marT="91425" marB="91425" marR="91425" marL="91425"/>
                </a:tc>
                <a:tc>
                  <a:txBody>
                    <a:bodyPr/>
                    <a:lstStyle/>
                    <a:p>
                      <a:pPr indent="0" lvl="0" marL="0" rtl="0" algn="l">
                        <a:spcBef>
                          <a:spcPts val="0"/>
                        </a:spcBef>
                        <a:spcAft>
                          <a:spcPts val="0"/>
                        </a:spcAft>
                        <a:buNone/>
                      </a:pPr>
                      <a:r>
                        <a:rPr lang="en" sz="1200"/>
                        <a:t>Lu, R., Bi, J., Ma, Y., Xiao, F., Du, Y. &amp; Tian, Y. (2025)</a:t>
                      </a:r>
                      <a:endParaRPr sz="1200"/>
                    </a:p>
                  </a:txBody>
                  <a:tcPr marT="91425" marB="91425" marR="91425" marL="91425"/>
                </a:tc>
                <a:tc>
                  <a:txBody>
                    <a:bodyPr/>
                    <a:lstStyle/>
                    <a:p>
                      <a:pPr indent="0" lvl="0" marL="0" rtl="0" algn="l">
                        <a:spcBef>
                          <a:spcPts val="0"/>
                        </a:spcBef>
                        <a:spcAft>
                          <a:spcPts val="0"/>
                        </a:spcAft>
                        <a:buNone/>
                      </a:pPr>
                      <a:r>
                        <a:rPr lang="en" sz="1200"/>
                        <a:t>MV-Debate: Multi-view Agent Debate with Dynamic Reflection Gating for Multimodal Harmful Content Detection</a:t>
                      </a:r>
                      <a:endParaRPr sz="1200"/>
                    </a:p>
                  </a:txBody>
                  <a:tcPr marT="91425" marB="91425" marR="91425" marL="91425"/>
                </a:tc>
                <a:tc>
                  <a:txBody>
                    <a:bodyPr/>
                    <a:lstStyle/>
                    <a:p>
                      <a:pPr indent="0" lvl="0" marL="0" rtl="0" algn="l">
                        <a:spcBef>
                          <a:spcPts val="0"/>
                        </a:spcBef>
                        <a:spcAft>
                          <a:spcPts val="0"/>
                        </a:spcAft>
                        <a:buNone/>
                      </a:pPr>
                      <a:r>
                        <a:rPr lang="en" sz="900"/>
                        <a:t>This paper introduces </a:t>
                      </a:r>
                      <a:r>
                        <a:rPr b="1" lang="en" sz="900"/>
                        <a:t>MV-Debate</a:t>
                      </a:r>
                      <a:r>
                        <a:rPr lang="en" sz="900"/>
                        <a:t>, a system for detecting harmful content (like hate speech, sarcasm, misinformation) from </a:t>
                      </a:r>
                      <a:r>
                        <a:rPr b="1" lang="en" sz="900"/>
                        <a:t>text + images together</a:t>
                      </a:r>
                      <a:r>
                        <a:rPr lang="en" sz="900"/>
                        <a:t>. It uses </a:t>
                      </a:r>
                      <a:r>
                        <a:rPr b="1" lang="en" sz="900"/>
                        <a:t>4 different agents with different thinking styles</a:t>
                      </a:r>
                      <a:r>
                        <a:rPr lang="en" sz="900"/>
                        <a:t>: (1) Surface Analyst (looks at visible content), (2) Deep Reasoner (finds hidden meaning), (3) Modality Contrast (checks mismatch between text and image), (4) Social Contextualist (uses cultural/social knowledge). A </a:t>
                      </a:r>
                      <a:r>
                        <a:rPr b="1" lang="en" sz="900"/>
                        <a:t>Judge agent</a:t>
                      </a:r>
                      <a:r>
                        <a:rPr lang="en" sz="900"/>
                        <a:t> scores answers, and a </a:t>
                      </a:r>
                      <a:r>
                        <a:rPr b="1" lang="en" sz="900"/>
                        <a:t>Reflection agent</a:t>
                      </a:r>
                      <a:r>
                        <a:rPr lang="en" sz="900"/>
                        <a:t> improves them only when needed (using a threshold). The agents debate in multiple rounds and refine answers step-by-step.</a:t>
                      </a:r>
                      <a:endParaRPr sz="900"/>
                    </a:p>
                  </a:txBody>
                  <a:tcPr marT="91425" marB="91425" marR="91425" marL="91425"/>
                </a:tc>
                <a:tc>
                  <a:txBody>
                    <a:bodyPr/>
                    <a:lstStyle/>
                    <a:p>
                      <a:pPr indent="0" lvl="0" marL="0" rtl="0" algn="l">
                        <a:spcBef>
                          <a:spcPts val="0"/>
                        </a:spcBef>
                        <a:spcAft>
                          <a:spcPts val="0"/>
                        </a:spcAft>
                        <a:buNone/>
                      </a:pPr>
                      <a:r>
                        <a:rPr lang="en" sz="900"/>
                        <a:t>The system gives </a:t>
                      </a:r>
                      <a:r>
                        <a:rPr b="1" lang="en" sz="900"/>
                        <a:t>better accuracy than single models and older multi-agent systems</a:t>
                      </a:r>
                      <a:r>
                        <a:rPr lang="en" sz="900"/>
                        <a:t>. It performs well across different datasets for harmful content detection. Using </a:t>
                      </a:r>
                      <a:r>
                        <a:rPr b="1" lang="en" sz="900"/>
                        <a:t>different thinking styles improves reasoning quality</a:t>
                      </a:r>
                      <a:r>
                        <a:rPr lang="en" sz="900"/>
                        <a:t>. The reflection mechanism increases accuracy while saving computation (reduces unnecessary processing). Works well in both open-source and closed-source models.</a:t>
                      </a:r>
                      <a:endParaRPr sz="900"/>
                    </a:p>
                  </a:txBody>
                  <a:tcPr marT="91425" marB="91425" marR="91425" marL="91425"/>
                </a:tc>
                <a:tc>
                  <a:txBody>
                    <a:bodyPr/>
                    <a:lstStyle/>
                    <a:p>
                      <a:pPr indent="0" lvl="0" marL="0" rtl="0" algn="l">
                        <a:spcBef>
                          <a:spcPts val="0"/>
                        </a:spcBef>
                        <a:spcAft>
                          <a:spcPts val="0"/>
                        </a:spcAft>
                        <a:buNone/>
                      </a:pPr>
                      <a:r>
                        <a:rPr lang="en" sz="900"/>
                        <a:t>The system is </a:t>
                      </a:r>
                      <a:r>
                        <a:rPr b="1" lang="en" sz="900"/>
                        <a:t>complex and computationally expensive</a:t>
                      </a:r>
                      <a:r>
                        <a:rPr lang="en" sz="900"/>
                        <a:t> due to multiple agents and debate rounds. Performance depends on the quality of underlying models. May struggle with </a:t>
                      </a:r>
                      <a:r>
                        <a:rPr b="1" lang="en" sz="900"/>
                        <a:t>cultural context or subtle meanings</a:t>
                      </a:r>
                      <a:r>
                        <a:rPr lang="en" sz="900"/>
                        <a:t>. Fixed number of agents may not always be optimal. More rounds improve performance but increase time and cost.</a:t>
                      </a:r>
                      <a:endParaRPr sz="900"/>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LITERATURE SURVEY - COMPARISON CHART</a:t>
            </a:r>
            <a:endParaRPr/>
          </a:p>
        </p:txBody>
      </p:sp>
      <p:sp>
        <p:nvSpPr>
          <p:cNvPr id="297" name="Google Shape;297;p43"/>
          <p:cNvSpPr txBox="1"/>
          <p:nvPr>
            <p:ph idx="1" type="body"/>
          </p:nvPr>
        </p:nvSpPr>
        <p:spPr>
          <a:xfrm>
            <a:off x="120192" y="1650697"/>
            <a:ext cx="8950800" cy="2711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a:p>
            <a:pPr indent="0" lvl="0" marL="0" rtl="0" algn="l">
              <a:lnSpc>
                <a:spcPct val="100000"/>
              </a:lnSpc>
              <a:spcBef>
                <a:spcPts val="800"/>
              </a:spcBef>
              <a:spcAft>
                <a:spcPts val="0"/>
              </a:spcAft>
              <a:buSzPts val="1100"/>
              <a:buNone/>
            </a:pPr>
            <a:r>
              <a:t/>
            </a:r>
            <a:endParaRPr/>
          </a:p>
        </p:txBody>
      </p:sp>
      <p:sp>
        <p:nvSpPr>
          <p:cNvPr id="298" name="Google Shape;298;p43"/>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graphicFrame>
        <p:nvGraphicFramePr>
          <p:cNvPr id="299" name="Google Shape;299;p43"/>
          <p:cNvGraphicFramePr/>
          <p:nvPr/>
        </p:nvGraphicFramePr>
        <p:xfrm>
          <a:off x="120200" y="1411425"/>
          <a:ext cx="3000000" cy="3000000"/>
        </p:xfrm>
        <a:graphic>
          <a:graphicData uri="http://schemas.openxmlformats.org/drawingml/2006/table">
            <a:tbl>
              <a:tblPr>
                <a:noFill/>
                <a:tableStyleId>{2FEA3EFD-C128-48BF-A8A9-2B900AD69DF7}</a:tableStyleId>
              </a:tblPr>
              <a:tblGrid>
                <a:gridCol w="285750"/>
                <a:gridCol w="552450"/>
                <a:gridCol w="1085850"/>
                <a:gridCol w="2924175"/>
                <a:gridCol w="2076450"/>
                <a:gridCol w="2076450"/>
              </a:tblGrid>
              <a:tr h="361950">
                <a:tc>
                  <a:txBody>
                    <a:bodyPr/>
                    <a:lstStyle/>
                    <a:p>
                      <a:pPr indent="0" lvl="0" marL="0" rtl="0" algn="ctr">
                        <a:lnSpc>
                          <a:spcPct val="115000"/>
                        </a:lnSpc>
                        <a:spcBef>
                          <a:spcPts val="0"/>
                        </a:spcBef>
                        <a:spcAft>
                          <a:spcPts val="0"/>
                        </a:spcAft>
                        <a:buNone/>
                      </a:pPr>
                      <a:r>
                        <a:rPr b="1" lang="en" sz="1000"/>
                        <a:t>Ref.</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Author &amp;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Title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Methodology</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Key 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Limitations</a:t>
                      </a:r>
                      <a:endParaRPr b="1" sz="1000"/>
                    </a:p>
                  </a:txBody>
                  <a:tcPr marT="91425" marB="91425" marR="91425" marL="91425"/>
                </a:tc>
              </a:tr>
              <a:tr h="2419350">
                <a:tc>
                  <a:txBody>
                    <a:bodyPr/>
                    <a:lstStyle/>
                    <a:p>
                      <a:pPr indent="0" lvl="0" marL="0" rtl="0" algn="l">
                        <a:spcBef>
                          <a:spcPts val="0"/>
                        </a:spcBef>
                        <a:spcAft>
                          <a:spcPts val="0"/>
                        </a:spcAft>
                        <a:buNone/>
                      </a:pPr>
                      <a:r>
                        <a:rPr lang="en" sz="1300"/>
                        <a:t>[10]</a:t>
                      </a:r>
                      <a:endParaRPr sz="1300"/>
                    </a:p>
                  </a:txBody>
                  <a:tcPr marT="91425" marB="91425" marR="91425" marL="91425"/>
                </a:tc>
                <a:tc>
                  <a:txBody>
                    <a:bodyPr/>
                    <a:lstStyle/>
                    <a:p>
                      <a:pPr indent="0" lvl="0" marL="0" rtl="0" algn="l">
                        <a:spcBef>
                          <a:spcPts val="0"/>
                        </a:spcBef>
                        <a:spcAft>
                          <a:spcPts val="0"/>
                        </a:spcAft>
                        <a:buNone/>
                      </a:pPr>
                      <a:r>
                        <a:rPr lang="en" sz="1300"/>
                        <a:t>Neogi, S. &amp; Wang, Y. (2025)</a:t>
                      </a:r>
                      <a:endParaRPr sz="1300"/>
                    </a:p>
                  </a:txBody>
                  <a:tcPr marT="91425" marB="91425" marR="91425" marL="91425"/>
                </a:tc>
                <a:tc>
                  <a:txBody>
                    <a:bodyPr/>
                    <a:lstStyle/>
                    <a:p>
                      <a:pPr indent="0" lvl="0" marL="0" rtl="0" algn="l">
                        <a:spcBef>
                          <a:spcPts val="0"/>
                        </a:spcBef>
                        <a:spcAft>
                          <a:spcPts val="0"/>
                        </a:spcAft>
                        <a:buNone/>
                      </a:pPr>
                      <a:r>
                        <a:rPr lang="en" sz="1300"/>
                        <a:t>CEDA: Cross-modal Evaluation through Debate Agents for Robust Hallucination Detection</a:t>
                      </a:r>
                      <a:endParaRPr sz="1300"/>
                    </a:p>
                  </a:txBody>
                  <a:tcPr marT="91425" marB="91425" marR="91425" marL="91425"/>
                </a:tc>
                <a:tc>
                  <a:txBody>
                    <a:bodyPr/>
                    <a:lstStyle/>
                    <a:p>
                      <a:pPr indent="0" lvl="0" marL="0" rtl="0" algn="l">
                        <a:spcBef>
                          <a:spcPts val="0"/>
                        </a:spcBef>
                        <a:spcAft>
                          <a:spcPts val="0"/>
                        </a:spcAft>
                        <a:buNone/>
                      </a:pPr>
                      <a:r>
                        <a:rPr lang="en" sz="1000"/>
                        <a:t>This paper introduces </a:t>
                      </a:r>
                      <a:r>
                        <a:rPr b="1" lang="en" sz="1000"/>
                        <a:t>CEDA</a:t>
                      </a:r>
                      <a:r>
                        <a:rPr lang="en" sz="1000"/>
                        <a:t>, a system to detect </a:t>
                      </a:r>
                      <a:r>
                        <a:rPr b="1" lang="en" sz="1000"/>
                        <a:t>hallucinations (wrong or fake outputs)</a:t>
                      </a:r>
                      <a:r>
                        <a:rPr lang="en" sz="1000"/>
                        <a:t> in AI models using </a:t>
                      </a:r>
                      <a:r>
                        <a:rPr b="1" lang="en" sz="1000"/>
                        <a:t>multi-agent debate</a:t>
                      </a:r>
                      <a:r>
                        <a:rPr lang="en" sz="1000"/>
                        <a:t>. It uses multiple agents: (1) Retrieval Agent (gets context using RAG), (2) Image Agent (understands images), (3) Context Agent (combines info), (4) Debate Agents (argue about correctness), (5) Judge Agent (gives final decision). After debate, a </a:t>
                      </a:r>
                      <a:r>
                        <a:rPr b="1" lang="en" sz="1000"/>
                        <a:t>classifier</a:t>
                      </a:r>
                      <a:r>
                        <a:rPr lang="en" sz="1000"/>
                        <a:t> gives final prediction with a </a:t>
                      </a:r>
                      <a:r>
                        <a:rPr b="1" lang="en" sz="1000"/>
                        <a:t>confidence score</a:t>
                      </a:r>
                      <a:r>
                        <a:rPr lang="en" sz="1000"/>
                        <a:t>. It also uses </a:t>
                      </a:r>
                      <a:r>
                        <a:rPr b="1" lang="en" sz="1000"/>
                        <a:t>dynamic prompts</a:t>
                      </a:r>
                      <a:r>
                        <a:rPr lang="en" sz="1000"/>
                        <a:t>, meaning prompts change based on context to improve reasoning. Tested on datasets like </a:t>
                      </a:r>
                      <a:r>
                        <a:rPr b="1" lang="en" sz="1000"/>
                        <a:t>TruthfulQA, FEVER, NQ, HallusionBench, HaluEval</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gives </a:t>
                      </a:r>
                      <a:r>
                        <a:rPr b="1" lang="en" sz="1000"/>
                        <a:t>better hallucination detection than many existing methods</a:t>
                      </a:r>
                      <a:r>
                        <a:rPr lang="en" sz="1000"/>
                        <a:t>. It improves accuracy across multiple datasets and works well in </a:t>
                      </a:r>
                      <a:r>
                        <a:rPr b="1" lang="en" sz="1000"/>
                        <a:t>both text and image-based tasks</a:t>
                      </a:r>
                      <a:r>
                        <a:rPr lang="en" sz="1000"/>
                        <a:t>. Multi-agent debate helps catch errors better than single models. The system also provides </a:t>
                      </a:r>
                      <a:r>
                        <a:rPr b="1" lang="en" sz="1000"/>
                        <a:t>explainable results (debate reasoning)</a:t>
                      </a:r>
                      <a:r>
                        <a:rPr lang="en" sz="1000"/>
                        <a:t> and confidence scores, making it more reliable. Works well even with </a:t>
                      </a:r>
                      <a:r>
                        <a:rPr b="1" lang="en" sz="1000"/>
                        <a:t>limited training data</a:t>
                      </a:r>
                      <a:r>
                        <a:rPr lang="en" sz="1000"/>
                        <a:t>.</a:t>
                      </a:r>
                      <a:endParaRPr sz="1000"/>
                    </a:p>
                  </a:txBody>
                  <a:tcPr marT="91425" marB="91425" marR="91425" marL="91425"/>
                </a:tc>
                <a:tc>
                  <a:txBody>
                    <a:bodyPr/>
                    <a:lstStyle/>
                    <a:p>
                      <a:pPr indent="0" lvl="0" marL="0" rtl="0" algn="l">
                        <a:spcBef>
                          <a:spcPts val="0"/>
                        </a:spcBef>
                        <a:spcAft>
                          <a:spcPts val="0"/>
                        </a:spcAft>
                        <a:buNone/>
                      </a:pPr>
                      <a:r>
                        <a:rPr lang="en" sz="1000"/>
                        <a:t>The system is </a:t>
                      </a:r>
                      <a:r>
                        <a:rPr b="1" lang="en" sz="1000"/>
                        <a:t>computationally expensive and slower</a:t>
                      </a:r>
                      <a:r>
                        <a:rPr lang="en" sz="1000"/>
                        <a:t> due to multiple agents and debate rounds. Performance depends on quality of underlying models and retrieval. Requires careful tuning of number of debate rounds. More rounds improve accuracy but increase cost and time. Complex system design makes real-world deployment harder.</a:t>
                      </a:r>
                      <a:endParaRPr sz="1000"/>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1681618" y="729853"/>
            <a:ext cx="5756175"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GAPS IDENTIFICATION</a:t>
            </a:r>
            <a:endParaRPr/>
          </a:p>
        </p:txBody>
      </p:sp>
      <p:sp>
        <p:nvSpPr>
          <p:cNvPr id="306" name="Google Shape;306;p44"/>
          <p:cNvSpPr txBox="1"/>
          <p:nvPr>
            <p:ph idx="1" type="body"/>
          </p:nvPr>
        </p:nvSpPr>
        <p:spPr>
          <a:xfrm>
            <a:off x="1124750" y="1516500"/>
            <a:ext cx="5093100" cy="1522800"/>
          </a:xfrm>
          <a:prstGeom prst="rect">
            <a:avLst/>
          </a:prstGeom>
          <a:noFill/>
          <a:ln>
            <a:noFill/>
          </a:ln>
        </p:spPr>
        <p:txBody>
          <a:bodyPr anchorCtr="0" anchor="t" bIns="34275" lIns="68575" spcFirstLastPara="1" rIns="68575" wrap="square" tIns="34275">
            <a:noAutofit/>
          </a:bodyPr>
          <a:lstStyle/>
          <a:p>
            <a:pPr indent="-311150" lvl="0" marL="457200" rtl="0" algn="l">
              <a:lnSpc>
                <a:spcPct val="100000"/>
              </a:lnSpc>
              <a:spcBef>
                <a:spcPts val="800"/>
              </a:spcBef>
              <a:spcAft>
                <a:spcPts val="0"/>
              </a:spcAft>
              <a:buSzPts val="1300"/>
              <a:buFont typeface="Arial"/>
              <a:buChar char="●"/>
            </a:pPr>
            <a:r>
              <a:rPr lang="en" sz="1300">
                <a:latin typeface="Arial"/>
                <a:ea typeface="Arial"/>
                <a:cs typeface="Arial"/>
                <a:sym typeface="Arial"/>
              </a:rPr>
              <a:t>Lack of </a:t>
            </a:r>
            <a:r>
              <a:rPr b="1" lang="en" sz="1300">
                <a:latin typeface="Arial"/>
                <a:ea typeface="Arial"/>
                <a:cs typeface="Arial"/>
                <a:sym typeface="Arial"/>
              </a:rPr>
              <a:t>multi-agent coordination</a:t>
            </a:r>
            <a:r>
              <a:rPr lang="en" sz="1300">
                <a:latin typeface="Arial"/>
                <a:ea typeface="Arial"/>
                <a:cs typeface="Arial"/>
                <a:sym typeface="Arial"/>
              </a:rPr>
              <a:t> in existing AI systems</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No </a:t>
            </a:r>
            <a:r>
              <a:rPr b="1" lang="en" sz="1300">
                <a:latin typeface="Arial"/>
                <a:ea typeface="Arial"/>
                <a:cs typeface="Arial"/>
                <a:sym typeface="Arial"/>
              </a:rPr>
              <a:t>personalized learning or adaptive AI responses</a:t>
            </a:r>
            <a:endParaRPr b="1"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Absence of </a:t>
            </a:r>
            <a:r>
              <a:rPr b="1" lang="en" sz="1300">
                <a:latin typeface="Arial"/>
                <a:ea typeface="Arial"/>
                <a:cs typeface="Arial"/>
                <a:sym typeface="Arial"/>
              </a:rPr>
              <a:t>continuous learning from user feedback</a:t>
            </a:r>
            <a:endParaRPr b="1"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Limited </a:t>
            </a:r>
            <a:r>
              <a:rPr b="1" lang="en" sz="1300">
                <a:latin typeface="Arial"/>
                <a:ea typeface="Arial"/>
                <a:cs typeface="Arial"/>
                <a:sym typeface="Arial"/>
              </a:rPr>
              <a:t>explainability of AI decisions and reasoning</a:t>
            </a:r>
            <a:endParaRPr b="1"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No </a:t>
            </a:r>
            <a:r>
              <a:rPr b="1" lang="en" sz="1300">
                <a:latin typeface="Arial"/>
                <a:ea typeface="Arial"/>
                <a:cs typeface="Arial"/>
                <a:sym typeface="Arial"/>
              </a:rPr>
              <a:t>standard evaluation metrics</a:t>
            </a:r>
            <a:r>
              <a:rPr lang="en" sz="1300">
                <a:latin typeface="Arial"/>
                <a:ea typeface="Arial"/>
                <a:cs typeface="Arial"/>
                <a:sym typeface="Arial"/>
              </a:rPr>
              <a:t> for RAG and agent systems</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High </a:t>
            </a:r>
            <a:r>
              <a:rPr b="1" lang="en" sz="1300">
                <a:latin typeface="Arial"/>
                <a:ea typeface="Arial"/>
                <a:cs typeface="Arial"/>
                <a:sym typeface="Arial"/>
              </a:rPr>
              <a:t>computational cost without optimization strategies</a:t>
            </a:r>
            <a:endParaRPr b="1"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Weak </a:t>
            </a:r>
            <a:r>
              <a:rPr b="1" lang="en" sz="1300">
                <a:latin typeface="Arial"/>
                <a:ea typeface="Arial"/>
                <a:cs typeface="Arial"/>
                <a:sym typeface="Arial"/>
              </a:rPr>
              <a:t>trust and verification mechanisms</a:t>
            </a:r>
            <a:r>
              <a:rPr lang="en" sz="1300">
                <a:latin typeface="Arial"/>
                <a:ea typeface="Arial"/>
                <a:cs typeface="Arial"/>
                <a:sym typeface="Arial"/>
              </a:rPr>
              <a:t> in AI outputs</a:t>
            </a:r>
            <a:endParaRPr sz="1300">
              <a:latin typeface="Arial"/>
              <a:ea typeface="Arial"/>
              <a:cs typeface="Arial"/>
              <a:sym typeface="Arial"/>
            </a:endParaRPr>
          </a:p>
          <a:p>
            <a:pPr indent="0" lvl="0" marL="0" rtl="0" algn="l">
              <a:lnSpc>
                <a:spcPct val="100000"/>
              </a:lnSpc>
              <a:spcBef>
                <a:spcPts val="800"/>
              </a:spcBef>
              <a:spcAft>
                <a:spcPts val="0"/>
              </a:spcAft>
              <a:buSzPts val="1100"/>
              <a:buNone/>
            </a:pPr>
            <a:r>
              <a:t/>
            </a:r>
            <a:endParaRPr b="1" sz="1300">
              <a:latin typeface="Arial"/>
              <a:ea typeface="Arial"/>
              <a:cs typeface="Arial"/>
              <a:sym typeface="Arial"/>
            </a:endParaRPr>
          </a:p>
        </p:txBody>
      </p:sp>
      <p:sp>
        <p:nvSpPr>
          <p:cNvPr id="307" name="Google Shape;307;p44"/>
          <p:cNvSpPr txBox="1"/>
          <p:nvPr>
            <p:ph idx="12" type="sldNum"/>
          </p:nvPr>
        </p:nvSpPr>
        <p:spPr>
          <a:xfrm>
            <a:off x="7754540" y="114300"/>
            <a:ext cx="628650" cy="35955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title"/>
          </p:nvPr>
        </p:nvSpPr>
        <p:spPr>
          <a:xfrm>
            <a:off x="1681618" y="729853"/>
            <a:ext cx="5756175"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SOFTWARE / HARDWARE REQUIREMENTS</a:t>
            </a:r>
            <a:endParaRPr/>
          </a:p>
        </p:txBody>
      </p:sp>
      <p:sp>
        <p:nvSpPr>
          <p:cNvPr id="314" name="Google Shape;314;p45"/>
          <p:cNvSpPr txBox="1"/>
          <p:nvPr>
            <p:ph idx="12" type="sldNum"/>
          </p:nvPr>
        </p:nvSpPr>
        <p:spPr>
          <a:xfrm>
            <a:off x="7754540" y="114300"/>
            <a:ext cx="628650" cy="35955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
        <p:nvSpPr>
          <p:cNvPr id="315" name="Google Shape;315;p45"/>
          <p:cNvSpPr txBox="1"/>
          <p:nvPr/>
        </p:nvSpPr>
        <p:spPr>
          <a:xfrm>
            <a:off x="1243072" y="1413225"/>
            <a:ext cx="7091400" cy="34164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1000"/>
              </a:spcBef>
              <a:spcAft>
                <a:spcPts val="0"/>
              </a:spcAft>
              <a:buNone/>
            </a:pPr>
            <a:r>
              <a:rPr b="1" lang="en" sz="1100">
                <a:solidFill>
                  <a:srgbClr val="000000"/>
                </a:solidFill>
                <a:latin typeface="Gill Sans"/>
                <a:ea typeface="Gill Sans"/>
                <a:cs typeface="Gill Sans"/>
                <a:sym typeface="Gill Sans"/>
              </a:rPr>
              <a:t>Software Requirements</a:t>
            </a:r>
            <a:endParaRPr sz="1100">
              <a:solidFill>
                <a:srgbClr val="000000"/>
              </a:solidFill>
              <a:latin typeface="Gill Sans"/>
              <a:ea typeface="Gill Sans"/>
              <a:cs typeface="Gill Sans"/>
              <a:sym typeface="Gill Sans"/>
            </a:endParaRPr>
          </a:p>
          <a:p>
            <a:pPr indent="-171450" lvl="0" marL="228600" rtl="0" algn="l">
              <a:lnSpc>
                <a:spcPct val="120000"/>
              </a:lnSpc>
              <a:spcBef>
                <a:spcPts val="1000"/>
              </a:spcBef>
              <a:spcAft>
                <a:spcPts val="0"/>
              </a:spcAft>
              <a:buClr>
                <a:srgbClr val="B71E42"/>
              </a:buClr>
              <a:buSzPts val="1100"/>
              <a:buChar char="•"/>
            </a:pPr>
            <a:r>
              <a:rPr b="1" lang="en" sz="1100">
                <a:solidFill>
                  <a:srgbClr val="000000"/>
                </a:solidFill>
                <a:latin typeface="Gill Sans"/>
                <a:ea typeface="Gill Sans"/>
                <a:cs typeface="Gill Sans"/>
                <a:sym typeface="Gill Sans"/>
              </a:rPr>
              <a:t>Programming Language:</a:t>
            </a:r>
            <a:r>
              <a:rPr lang="en" sz="1100">
                <a:solidFill>
                  <a:srgbClr val="000000"/>
                </a:solidFill>
                <a:latin typeface="Gill Sans"/>
                <a:ea typeface="Gill Sans"/>
                <a:cs typeface="Gill Sans"/>
                <a:sym typeface="Gill Sans"/>
              </a:rPr>
              <a:t> </a:t>
            </a:r>
            <a:r>
              <a:rPr lang="en" sz="1100">
                <a:latin typeface="Gill Sans"/>
                <a:ea typeface="Gill Sans"/>
                <a:cs typeface="Gill Sans"/>
                <a:sym typeface="Gill Sans"/>
              </a:rPr>
              <a:t>JavaScript (Node.js), Python</a:t>
            </a:r>
            <a:endParaRPr sz="1100">
              <a:solidFill>
                <a:srgbClr val="000000"/>
              </a:solidFill>
              <a:latin typeface="Gill Sans"/>
              <a:ea typeface="Gill Sans"/>
              <a:cs typeface="Gill Sans"/>
              <a:sym typeface="Gill Sans"/>
            </a:endParaRPr>
          </a:p>
          <a:p>
            <a:pPr indent="-171450" lvl="0" marL="228600" rtl="0" algn="l">
              <a:lnSpc>
                <a:spcPct val="120000"/>
              </a:lnSpc>
              <a:spcBef>
                <a:spcPts val="1000"/>
              </a:spcBef>
              <a:spcAft>
                <a:spcPts val="0"/>
              </a:spcAft>
              <a:buClr>
                <a:srgbClr val="B71E42"/>
              </a:buClr>
              <a:buSzPts val="1100"/>
              <a:buChar char="•"/>
            </a:pPr>
            <a:r>
              <a:rPr b="1" lang="en" sz="1100">
                <a:solidFill>
                  <a:schemeClr val="dk1"/>
                </a:solidFill>
              </a:rPr>
              <a:t>Frontend Framework:</a:t>
            </a:r>
            <a:r>
              <a:rPr lang="en" sz="1100">
                <a:solidFill>
                  <a:schemeClr val="dk1"/>
                </a:solidFill>
              </a:rPr>
              <a:t> Next.js (React), Tailwind CSS</a:t>
            </a:r>
            <a:endParaRPr sz="1100">
              <a:solidFill>
                <a:schemeClr val="dk1"/>
              </a:solidFill>
            </a:endParaRPr>
          </a:p>
          <a:p>
            <a:pPr indent="-171450" lvl="0" marL="228600" rtl="0" algn="l">
              <a:lnSpc>
                <a:spcPct val="120000"/>
              </a:lnSpc>
              <a:spcBef>
                <a:spcPts val="1000"/>
              </a:spcBef>
              <a:spcAft>
                <a:spcPts val="0"/>
              </a:spcAft>
              <a:buClr>
                <a:schemeClr val="dk1"/>
              </a:buClr>
              <a:buSzPts val="1100"/>
              <a:buChar char="•"/>
            </a:pPr>
            <a:r>
              <a:rPr b="1" lang="en" sz="1100">
                <a:solidFill>
                  <a:schemeClr val="dk1"/>
                </a:solidFill>
              </a:rPr>
              <a:t>Backend Frameworks:</a:t>
            </a:r>
            <a:r>
              <a:rPr lang="en" sz="1100">
                <a:solidFill>
                  <a:schemeClr val="dk1"/>
                </a:solidFill>
              </a:rPr>
              <a:t> Node.js, FastAPI</a:t>
            </a:r>
            <a:endParaRPr sz="1100">
              <a:solidFill>
                <a:schemeClr val="dk1"/>
              </a:solidFill>
            </a:endParaRPr>
          </a:p>
          <a:p>
            <a:pPr indent="-171450" lvl="0" marL="228600" rtl="0" algn="l">
              <a:lnSpc>
                <a:spcPct val="120000"/>
              </a:lnSpc>
              <a:spcBef>
                <a:spcPts val="1000"/>
              </a:spcBef>
              <a:spcAft>
                <a:spcPts val="0"/>
              </a:spcAft>
              <a:buClr>
                <a:schemeClr val="dk1"/>
              </a:buClr>
              <a:buSzPts val="1100"/>
              <a:buChar char="•"/>
            </a:pPr>
            <a:r>
              <a:rPr b="1" lang="en" sz="1100">
                <a:solidFill>
                  <a:schemeClr val="dk1"/>
                </a:solidFill>
              </a:rPr>
              <a:t>AI &amp; NLP Technologies:</a:t>
            </a:r>
            <a:endParaRPr b="1" sz="1100">
              <a:solidFill>
                <a:schemeClr val="dk1"/>
              </a:solidFill>
            </a:endParaRPr>
          </a:p>
          <a:p>
            <a:pPr indent="0" lvl="0" marL="228600" rtl="0" algn="l">
              <a:lnSpc>
                <a:spcPct val="120000"/>
              </a:lnSpc>
              <a:spcBef>
                <a:spcPts val="1000"/>
              </a:spcBef>
              <a:spcAft>
                <a:spcPts val="0"/>
              </a:spcAft>
              <a:buNone/>
            </a:pPr>
            <a:r>
              <a:rPr b="1" lang="en" sz="1100">
                <a:solidFill>
                  <a:schemeClr val="dk1"/>
                </a:solidFill>
              </a:rPr>
              <a:t>    </a:t>
            </a:r>
            <a:r>
              <a:rPr lang="en" sz="900">
                <a:solidFill>
                  <a:schemeClr val="dk1"/>
                </a:solidFill>
              </a:rPr>
              <a:t>Google Gemini (LLM)</a:t>
            </a:r>
            <a:endParaRPr sz="900">
              <a:solidFill>
                <a:schemeClr val="dk1"/>
              </a:solidFill>
            </a:endParaRPr>
          </a:p>
          <a:p>
            <a:pPr indent="0" lvl="0" marL="228600" rtl="0" algn="l">
              <a:lnSpc>
                <a:spcPct val="120000"/>
              </a:lnSpc>
              <a:spcBef>
                <a:spcPts val="1000"/>
              </a:spcBef>
              <a:spcAft>
                <a:spcPts val="0"/>
              </a:spcAft>
              <a:buNone/>
            </a:pPr>
            <a:r>
              <a:rPr lang="en" sz="900">
                <a:solidFill>
                  <a:schemeClr val="dk1"/>
                </a:solidFill>
              </a:rPr>
              <a:t>     Retrieval-Augmented Generation (RAG)</a:t>
            </a:r>
            <a:endParaRPr sz="900">
              <a:solidFill>
                <a:schemeClr val="dk1"/>
              </a:solidFill>
            </a:endParaRPr>
          </a:p>
          <a:p>
            <a:pPr indent="0" lvl="0" marL="228600" rtl="0" algn="l">
              <a:lnSpc>
                <a:spcPct val="120000"/>
              </a:lnSpc>
              <a:spcBef>
                <a:spcPts val="1000"/>
              </a:spcBef>
              <a:spcAft>
                <a:spcPts val="0"/>
              </a:spcAft>
              <a:buNone/>
            </a:pPr>
            <a:r>
              <a:rPr lang="en" sz="900">
                <a:solidFill>
                  <a:schemeClr val="dk1"/>
                </a:solidFill>
              </a:rPr>
              <a:t>     LangChain / LangGraph (Agent workflows)</a:t>
            </a:r>
            <a:endParaRPr sz="900">
              <a:solidFill>
                <a:schemeClr val="dk1"/>
              </a:solidFill>
            </a:endParaRPr>
          </a:p>
          <a:p>
            <a:pPr indent="0" lvl="0" marL="0" rtl="0" algn="l">
              <a:lnSpc>
                <a:spcPct val="120000"/>
              </a:lnSpc>
              <a:spcBef>
                <a:spcPts val="1000"/>
              </a:spcBef>
              <a:spcAft>
                <a:spcPts val="0"/>
              </a:spcAft>
              <a:buNone/>
            </a:pPr>
            <a:r>
              <a:t/>
            </a:r>
            <a:endParaRPr sz="1100">
              <a:solidFill>
                <a:srgbClr val="000000"/>
              </a:solidFill>
              <a:latin typeface="Gill Sans"/>
              <a:ea typeface="Gill Sans"/>
              <a:cs typeface="Gill Sans"/>
              <a:sym typeface="Gill Sans"/>
            </a:endParaRPr>
          </a:p>
          <a:p>
            <a:pPr indent="0" lvl="0" marL="0" rtl="0" algn="l">
              <a:spcBef>
                <a:spcPts val="1000"/>
              </a:spcBef>
              <a:spcAft>
                <a:spcPts val="0"/>
              </a:spcAft>
              <a:buNone/>
            </a:pPr>
            <a:r>
              <a:t/>
            </a:r>
            <a:endParaRPr sz="1100">
              <a:solidFill>
                <a:srgbClr val="000000"/>
              </a:solidFill>
              <a:latin typeface="Gill Sans"/>
              <a:ea typeface="Gill Sans"/>
              <a:cs typeface="Gill Sans"/>
              <a:sym typeface="Gill Sans"/>
            </a:endParaRPr>
          </a:p>
        </p:txBody>
      </p:sp>
      <p:sp>
        <p:nvSpPr>
          <p:cNvPr id="316" name="Google Shape;316;p45"/>
          <p:cNvSpPr txBox="1"/>
          <p:nvPr/>
        </p:nvSpPr>
        <p:spPr>
          <a:xfrm>
            <a:off x="10339387" y="152400"/>
            <a:ext cx="838200" cy="479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 sz="1900">
                <a:solidFill>
                  <a:srgbClr val="B71E42"/>
                </a:solidFill>
                <a:latin typeface="Gill Sans"/>
                <a:ea typeface="Gill Sans"/>
                <a:cs typeface="Gill Sans"/>
                <a:sym typeface="Gill Sans"/>
              </a:rPr>
              <a:t>‹#›</a:t>
            </a:fld>
            <a:endParaRPr sz="1900">
              <a:solidFill>
                <a:srgbClr val="B71E42"/>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6"/>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SOFTWARE / HARDWARE REQUIREMENTS</a:t>
            </a:r>
            <a:endParaRPr/>
          </a:p>
        </p:txBody>
      </p:sp>
      <p:sp>
        <p:nvSpPr>
          <p:cNvPr id="323" name="Google Shape;323;p46"/>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
        <p:nvSpPr>
          <p:cNvPr id="324" name="Google Shape;324;p46"/>
          <p:cNvSpPr txBox="1"/>
          <p:nvPr/>
        </p:nvSpPr>
        <p:spPr>
          <a:xfrm>
            <a:off x="1243072" y="1413225"/>
            <a:ext cx="7091400" cy="34164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1000"/>
              </a:spcBef>
              <a:spcAft>
                <a:spcPts val="0"/>
              </a:spcAft>
              <a:buNone/>
            </a:pPr>
            <a:r>
              <a:rPr b="1" lang="en" sz="1100">
                <a:solidFill>
                  <a:srgbClr val="000000"/>
                </a:solidFill>
                <a:latin typeface="Gill Sans"/>
                <a:ea typeface="Gill Sans"/>
                <a:cs typeface="Gill Sans"/>
                <a:sym typeface="Gill Sans"/>
              </a:rPr>
              <a:t>Software Requirements</a:t>
            </a:r>
            <a:endParaRPr sz="1100">
              <a:solidFill>
                <a:srgbClr val="000000"/>
              </a:solidFill>
              <a:latin typeface="Gill Sans"/>
              <a:ea typeface="Gill Sans"/>
              <a:cs typeface="Gill Sans"/>
              <a:sym typeface="Gill Sans"/>
            </a:endParaRPr>
          </a:p>
          <a:p>
            <a:pPr indent="-171450" lvl="0" marL="228600" rtl="0" algn="l">
              <a:lnSpc>
                <a:spcPct val="120000"/>
              </a:lnSpc>
              <a:spcBef>
                <a:spcPts val="1000"/>
              </a:spcBef>
              <a:spcAft>
                <a:spcPts val="0"/>
              </a:spcAft>
              <a:buClr>
                <a:srgbClr val="B71E42"/>
              </a:buClr>
              <a:buSzPts val="1100"/>
              <a:buChar char="●"/>
            </a:pPr>
            <a:r>
              <a:rPr b="1" lang="en" sz="1100">
                <a:latin typeface="Gill Sans"/>
                <a:ea typeface="Gill Sans"/>
                <a:cs typeface="Gill Sans"/>
                <a:sym typeface="Gill Sans"/>
              </a:rPr>
              <a:t>Libraries &amp; Tools:</a:t>
            </a:r>
            <a:endParaRPr b="1" sz="1100">
              <a:latin typeface="Gill Sans"/>
              <a:ea typeface="Gill Sans"/>
              <a:cs typeface="Gill Sans"/>
              <a:sym typeface="Gill Sans"/>
            </a:endParaRPr>
          </a:p>
          <a:p>
            <a:pPr indent="0" lvl="0" marL="228600" rtl="0" algn="l">
              <a:lnSpc>
                <a:spcPct val="120000"/>
              </a:lnSpc>
              <a:spcBef>
                <a:spcPts val="1000"/>
              </a:spcBef>
              <a:spcAft>
                <a:spcPts val="0"/>
              </a:spcAft>
              <a:buNone/>
            </a:pPr>
            <a:r>
              <a:rPr b="1" lang="en" sz="1100">
                <a:latin typeface="Gill Sans"/>
                <a:ea typeface="Gill Sans"/>
                <a:cs typeface="Gill Sans"/>
                <a:sym typeface="Gill Sans"/>
              </a:rPr>
              <a:t>   </a:t>
            </a:r>
            <a:r>
              <a:rPr lang="en" sz="1000">
                <a:latin typeface="Gill Sans"/>
                <a:ea typeface="Gill Sans"/>
                <a:cs typeface="Gill Sans"/>
                <a:sym typeface="Gill Sans"/>
              </a:rPr>
              <a:t>Pandas, NumPy</a:t>
            </a:r>
            <a:endParaRPr sz="1000">
              <a:latin typeface="Gill Sans"/>
              <a:ea typeface="Gill Sans"/>
              <a:cs typeface="Gill Sans"/>
              <a:sym typeface="Gill Sans"/>
            </a:endParaRPr>
          </a:p>
          <a:p>
            <a:pPr indent="0" lvl="0" marL="228600" rtl="0" algn="l">
              <a:lnSpc>
                <a:spcPct val="120000"/>
              </a:lnSpc>
              <a:spcBef>
                <a:spcPts val="1000"/>
              </a:spcBef>
              <a:spcAft>
                <a:spcPts val="0"/>
              </a:spcAft>
              <a:buNone/>
            </a:pPr>
            <a:r>
              <a:rPr lang="en" sz="1000">
                <a:latin typeface="Gill Sans"/>
                <a:ea typeface="Gill Sans"/>
                <a:cs typeface="Gill Sans"/>
                <a:sym typeface="Gill Sans"/>
              </a:rPr>
              <a:t>   Transformers (optional NLP tasks)</a:t>
            </a:r>
            <a:endParaRPr b="1" sz="1100">
              <a:latin typeface="Gill Sans"/>
              <a:ea typeface="Gill Sans"/>
              <a:cs typeface="Gill Sans"/>
              <a:sym typeface="Gill Sans"/>
            </a:endParaRPr>
          </a:p>
          <a:p>
            <a:pPr indent="-171450" lvl="0" marL="228600" rtl="0" algn="l">
              <a:lnSpc>
                <a:spcPct val="120000"/>
              </a:lnSpc>
              <a:spcBef>
                <a:spcPts val="1000"/>
              </a:spcBef>
              <a:spcAft>
                <a:spcPts val="0"/>
              </a:spcAft>
              <a:buClr>
                <a:schemeClr val="dk1"/>
              </a:buClr>
              <a:buSzPts val="1100"/>
              <a:buChar char="●"/>
            </a:pPr>
            <a:r>
              <a:rPr b="1" lang="en" sz="1100">
                <a:solidFill>
                  <a:schemeClr val="dk1"/>
                </a:solidFill>
              </a:rPr>
              <a:t>Database Systems:</a:t>
            </a:r>
            <a:endParaRPr b="1" sz="1100">
              <a:solidFill>
                <a:schemeClr val="dk1"/>
              </a:solidFill>
            </a:endParaRPr>
          </a:p>
          <a:p>
            <a:pPr indent="0" lvl="0" marL="228600" rtl="0" algn="l">
              <a:lnSpc>
                <a:spcPct val="120000"/>
              </a:lnSpc>
              <a:spcBef>
                <a:spcPts val="1000"/>
              </a:spcBef>
              <a:spcAft>
                <a:spcPts val="0"/>
              </a:spcAft>
              <a:buNone/>
            </a:pPr>
            <a:r>
              <a:rPr b="1" lang="en" sz="1100">
                <a:solidFill>
                  <a:schemeClr val="dk1"/>
                </a:solidFill>
              </a:rPr>
              <a:t>   </a:t>
            </a:r>
            <a:r>
              <a:rPr lang="en" sz="1000">
                <a:solidFill>
                  <a:schemeClr val="dk1"/>
                </a:solidFill>
              </a:rPr>
              <a:t>PostgreSQL (main database)</a:t>
            </a:r>
            <a:endParaRPr sz="1000">
              <a:solidFill>
                <a:schemeClr val="dk1"/>
              </a:solidFill>
            </a:endParaRPr>
          </a:p>
          <a:p>
            <a:pPr indent="0" lvl="0" marL="228600" rtl="0" algn="l">
              <a:lnSpc>
                <a:spcPct val="120000"/>
              </a:lnSpc>
              <a:spcBef>
                <a:spcPts val="1000"/>
              </a:spcBef>
              <a:spcAft>
                <a:spcPts val="0"/>
              </a:spcAft>
              <a:buNone/>
            </a:pPr>
            <a:r>
              <a:rPr lang="en" sz="1000">
                <a:solidFill>
                  <a:schemeClr val="dk1"/>
                </a:solidFill>
              </a:rPr>
              <a:t>   Redis (caching &amp; real-time state)</a:t>
            </a:r>
            <a:endParaRPr sz="1000">
              <a:solidFill>
                <a:schemeClr val="dk1"/>
              </a:solidFill>
            </a:endParaRPr>
          </a:p>
          <a:p>
            <a:pPr indent="-171450" lvl="0" marL="228600" rtl="0" algn="l">
              <a:lnSpc>
                <a:spcPct val="120000"/>
              </a:lnSpc>
              <a:spcBef>
                <a:spcPts val="1000"/>
              </a:spcBef>
              <a:spcAft>
                <a:spcPts val="0"/>
              </a:spcAft>
              <a:buClr>
                <a:schemeClr val="dk1"/>
              </a:buClr>
              <a:buSzPts val="1100"/>
              <a:buChar char="●"/>
            </a:pPr>
            <a:r>
              <a:rPr b="1" lang="en" sz="1100">
                <a:solidFill>
                  <a:schemeClr val="dk1"/>
                </a:solidFill>
              </a:rPr>
              <a:t>Vector Database:</a:t>
            </a:r>
            <a:endParaRPr b="1" sz="1100">
              <a:solidFill>
                <a:schemeClr val="dk1"/>
              </a:solidFill>
            </a:endParaRPr>
          </a:p>
          <a:p>
            <a:pPr indent="0" lvl="0" marL="228600" rtl="0" algn="l">
              <a:lnSpc>
                <a:spcPct val="120000"/>
              </a:lnSpc>
              <a:spcBef>
                <a:spcPts val="1000"/>
              </a:spcBef>
              <a:spcAft>
                <a:spcPts val="0"/>
              </a:spcAft>
              <a:buNone/>
            </a:pPr>
            <a:r>
              <a:rPr b="1" lang="en" sz="1100">
                <a:solidFill>
                  <a:schemeClr val="dk1"/>
                </a:solidFill>
              </a:rPr>
              <a:t>   </a:t>
            </a:r>
            <a:r>
              <a:rPr lang="en" sz="900">
                <a:solidFill>
                  <a:schemeClr val="dk1"/>
                </a:solidFill>
              </a:rPr>
              <a:t>gvector / Pinecone (for embeddings &amp; semantic search)</a:t>
            </a:r>
            <a:endParaRPr sz="900">
              <a:solidFill>
                <a:schemeClr val="dk1"/>
              </a:solidFill>
            </a:endParaRPr>
          </a:p>
          <a:p>
            <a:pPr indent="0" lvl="0" marL="228600" rtl="0" algn="l">
              <a:lnSpc>
                <a:spcPct val="120000"/>
              </a:lnSpc>
              <a:spcBef>
                <a:spcPts val="1000"/>
              </a:spcBef>
              <a:spcAft>
                <a:spcPts val="0"/>
              </a:spcAft>
              <a:buNone/>
            </a:pPr>
            <a:r>
              <a:rPr lang="en" sz="900">
                <a:solidFill>
                  <a:schemeClr val="dk1"/>
                </a:solidFill>
              </a:rPr>
              <a:t>    </a:t>
            </a:r>
            <a:endParaRPr sz="1100">
              <a:solidFill>
                <a:srgbClr val="000000"/>
              </a:solidFill>
              <a:latin typeface="Gill Sans"/>
              <a:ea typeface="Gill Sans"/>
              <a:cs typeface="Gill Sans"/>
              <a:sym typeface="Gill Sans"/>
            </a:endParaRPr>
          </a:p>
          <a:p>
            <a:pPr indent="0" lvl="0" marL="0" rtl="0" algn="l">
              <a:spcBef>
                <a:spcPts val="1000"/>
              </a:spcBef>
              <a:spcAft>
                <a:spcPts val="0"/>
              </a:spcAft>
              <a:buNone/>
            </a:pPr>
            <a:r>
              <a:t/>
            </a:r>
            <a:endParaRPr sz="1100">
              <a:solidFill>
                <a:srgbClr val="000000"/>
              </a:solidFill>
              <a:latin typeface="Gill Sans"/>
              <a:ea typeface="Gill Sans"/>
              <a:cs typeface="Gill Sans"/>
              <a:sym typeface="Gill Sans"/>
            </a:endParaRPr>
          </a:p>
        </p:txBody>
      </p:sp>
      <p:sp>
        <p:nvSpPr>
          <p:cNvPr id="325" name="Google Shape;325;p46"/>
          <p:cNvSpPr txBox="1"/>
          <p:nvPr/>
        </p:nvSpPr>
        <p:spPr>
          <a:xfrm>
            <a:off x="10339387" y="152400"/>
            <a:ext cx="838200" cy="479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 sz="1900">
                <a:solidFill>
                  <a:srgbClr val="B71E42"/>
                </a:solidFill>
                <a:latin typeface="Gill Sans"/>
                <a:ea typeface="Gill Sans"/>
                <a:cs typeface="Gill Sans"/>
                <a:sym typeface="Gill Sans"/>
              </a:rPr>
              <a:t>‹#›</a:t>
            </a:fld>
            <a:endParaRPr sz="1900">
              <a:solidFill>
                <a:srgbClr val="B71E42"/>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SOFTWARE / HARDWARE REQUIREMENTS</a:t>
            </a:r>
            <a:endParaRPr/>
          </a:p>
        </p:txBody>
      </p:sp>
      <p:sp>
        <p:nvSpPr>
          <p:cNvPr id="332" name="Google Shape;332;p47"/>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
        <p:nvSpPr>
          <p:cNvPr id="333" name="Google Shape;333;p47"/>
          <p:cNvSpPr txBox="1"/>
          <p:nvPr/>
        </p:nvSpPr>
        <p:spPr>
          <a:xfrm>
            <a:off x="1243072" y="1413225"/>
            <a:ext cx="7091400" cy="34164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1000"/>
              </a:spcBef>
              <a:spcAft>
                <a:spcPts val="0"/>
              </a:spcAft>
              <a:buNone/>
            </a:pPr>
            <a:r>
              <a:rPr b="1" lang="en" sz="1100">
                <a:solidFill>
                  <a:srgbClr val="000000"/>
                </a:solidFill>
                <a:latin typeface="Gill Sans"/>
                <a:ea typeface="Gill Sans"/>
                <a:cs typeface="Gill Sans"/>
                <a:sym typeface="Gill Sans"/>
              </a:rPr>
              <a:t>Software Requirements</a:t>
            </a:r>
            <a:endParaRPr sz="1100">
              <a:solidFill>
                <a:srgbClr val="000000"/>
              </a:solidFill>
              <a:latin typeface="Gill Sans"/>
              <a:ea typeface="Gill Sans"/>
              <a:cs typeface="Gill Sans"/>
              <a:sym typeface="Gill Sans"/>
            </a:endParaRPr>
          </a:p>
          <a:p>
            <a:pPr indent="-171450" lvl="0" marL="228600" rtl="0" algn="l">
              <a:lnSpc>
                <a:spcPct val="120000"/>
              </a:lnSpc>
              <a:spcBef>
                <a:spcPts val="1000"/>
              </a:spcBef>
              <a:spcAft>
                <a:spcPts val="0"/>
              </a:spcAft>
              <a:buClr>
                <a:srgbClr val="B71E42"/>
              </a:buClr>
              <a:buSzPts val="1100"/>
              <a:buChar char="•"/>
            </a:pPr>
            <a:r>
              <a:rPr b="1" lang="en" sz="1100">
                <a:solidFill>
                  <a:schemeClr val="dk1"/>
                </a:solidFill>
              </a:rPr>
              <a:t>Real-time &amp; Collaboration:</a:t>
            </a:r>
            <a:endParaRPr b="1" sz="1100">
              <a:solidFill>
                <a:schemeClr val="dk1"/>
              </a:solidFill>
            </a:endParaRPr>
          </a:p>
          <a:p>
            <a:pPr indent="0" lvl="0" marL="228600" rtl="0" algn="l">
              <a:lnSpc>
                <a:spcPct val="120000"/>
              </a:lnSpc>
              <a:spcBef>
                <a:spcPts val="1000"/>
              </a:spcBef>
              <a:spcAft>
                <a:spcPts val="0"/>
              </a:spcAft>
              <a:buNone/>
            </a:pPr>
            <a:r>
              <a:rPr b="1" lang="en" sz="1100">
                <a:solidFill>
                  <a:schemeClr val="dk1"/>
                </a:solidFill>
              </a:rPr>
              <a:t>   </a:t>
            </a:r>
            <a:r>
              <a:rPr lang="en" sz="900">
                <a:solidFill>
                  <a:schemeClr val="dk1"/>
                </a:solidFill>
              </a:rPr>
              <a:t>Socket.io (WebSocket communication)</a:t>
            </a:r>
            <a:endParaRPr sz="900">
              <a:solidFill>
                <a:schemeClr val="dk1"/>
              </a:solidFill>
            </a:endParaRPr>
          </a:p>
          <a:p>
            <a:pPr indent="0" lvl="0" marL="228600" rtl="0" algn="l">
              <a:lnSpc>
                <a:spcPct val="120000"/>
              </a:lnSpc>
              <a:spcBef>
                <a:spcPts val="1000"/>
              </a:spcBef>
              <a:spcAft>
                <a:spcPts val="0"/>
              </a:spcAft>
              <a:buNone/>
            </a:pPr>
            <a:r>
              <a:rPr lang="en" sz="900">
                <a:solidFill>
                  <a:schemeClr val="dk1"/>
                </a:solidFill>
              </a:rPr>
              <a:t>    Y.js (collaborative editing)</a:t>
            </a:r>
            <a:endParaRPr sz="900">
              <a:solidFill>
                <a:schemeClr val="dk1"/>
              </a:solidFill>
            </a:endParaRPr>
          </a:p>
          <a:p>
            <a:pPr indent="-171450" lvl="0" marL="228600" rtl="0" algn="l">
              <a:lnSpc>
                <a:spcPct val="120000"/>
              </a:lnSpc>
              <a:spcBef>
                <a:spcPts val="1000"/>
              </a:spcBef>
              <a:spcAft>
                <a:spcPts val="0"/>
              </a:spcAft>
              <a:buClr>
                <a:schemeClr val="accent1"/>
              </a:buClr>
              <a:buSzPts val="1100"/>
              <a:buChar char="•"/>
            </a:pPr>
            <a:r>
              <a:rPr b="1" lang="en" sz="1100">
                <a:solidFill>
                  <a:schemeClr val="dk1"/>
                </a:solidFill>
              </a:rPr>
              <a:t>Development Tools:</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          </a:t>
            </a:r>
            <a:r>
              <a:rPr lang="en" sz="800">
                <a:solidFill>
                  <a:schemeClr val="dk1"/>
                </a:solidFill>
              </a:rPr>
              <a:t>VS Code</a:t>
            </a:r>
            <a:endParaRPr sz="800">
              <a:solidFill>
                <a:schemeClr val="dk1"/>
              </a:solidFill>
            </a:endParaRPr>
          </a:p>
          <a:p>
            <a:pPr indent="0" lvl="0" marL="0" rtl="0" algn="l">
              <a:lnSpc>
                <a:spcPct val="115000"/>
              </a:lnSpc>
              <a:spcBef>
                <a:spcPts val="1200"/>
              </a:spcBef>
              <a:spcAft>
                <a:spcPts val="0"/>
              </a:spcAft>
              <a:buNone/>
            </a:pPr>
            <a:r>
              <a:rPr lang="en" sz="800">
                <a:solidFill>
                  <a:schemeClr val="dk1"/>
                </a:solidFill>
              </a:rPr>
              <a:t>             GitHub (version control)</a:t>
            </a:r>
            <a:endParaRPr sz="800">
              <a:solidFill>
                <a:schemeClr val="dk1"/>
              </a:solidFill>
            </a:endParaRPr>
          </a:p>
          <a:p>
            <a:pPr indent="0" lvl="0" marL="228600" rtl="0" algn="l">
              <a:lnSpc>
                <a:spcPct val="120000"/>
              </a:lnSpc>
              <a:spcBef>
                <a:spcPts val="1200"/>
              </a:spcBef>
              <a:spcAft>
                <a:spcPts val="0"/>
              </a:spcAft>
              <a:buNone/>
            </a:pPr>
            <a:r>
              <a:rPr lang="en" sz="900">
                <a:solidFill>
                  <a:schemeClr val="dk1"/>
                </a:solidFill>
              </a:rPr>
              <a:t>    </a:t>
            </a:r>
            <a:endParaRPr sz="1100">
              <a:solidFill>
                <a:srgbClr val="000000"/>
              </a:solidFill>
              <a:latin typeface="Gill Sans"/>
              <a:ea typeface="Gill Sans"/>
              <a:cs typeface="Gill Sans"/>
              <a:sym typeface="Gill Sans"/>
            </a:endParaRPr>
          </a:p>
          <a:p>
            <a:pPr indent="0" lvl="0" marL="0" rtl="0" algn="l">
              <a:spcBef>
                <a:spcPts val="1000"/>
              </a:spcBef>
              <a:spcAft>
                <a:spcPts val="0"/>
              </a:spcAft>
              <a:buNone/>
            </a:pPr>
            <a:r>
              <a:t/>
            </a:r>
            <a:endParaRPr sz="1100">
              <a:solidFill>
                <a:srgbClr val="000000"/>
              </a:solidFill>
              <a:latin typeface="Gill Sans"/>
              <a:ea typeface="Gill Sans"/>
              <a:cs typeface="Gill Sans"/>
              <a:sym typeface="Gill Sans"/>
            </a:endParaRPr>
          </a:p>
        </p:txBody>
      </p:sp>
      <p:sp>
        <p:nvSpPr>
          <p:cNvPr id="334" name="Google Shape;334;p47"/>
          <p:cNvSpPr txBox="1"/>
          <p:nvPr/>
        </p:nvSpPr>
        <p:spPr>
          <a:xfrm>
            <a:off x="10339387" y="152400"/>
            <a:ext cx="838200" cy="479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 sz="1900">
                <a:solidFill>
                  <a:srgbClr val="B71E42"/>
                </a:solidFill>
                <a:latin typeface="Gill Sans"/>
                <a:ea typeface="Gill Sans"/>
                <a:cs typeface="Gill Sans"/>
                <a:sym typeface="Gill Sans"/>
              </a:rPr>
              <a:t>‹#›</a:t>
            </a:fld>
            <a:endParaRPr sz="1900">
              <a:solidFill>
                <a:srgbClr val="B71E42"/>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8"/>
          <p:cNvSpPr txBox="1"/>
          <p:nvPr>
            <p:ph type="title"/>
          </p:nvPr>
        </p:nvSpPr>
        <p:spPr>
          <a:xfrm>
            <a:off x="1681618" y="729853"/>
            <a:ext cx="5756175"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REFERENCES</a:t>
            </a:r>
            <a:endParaRPr/>
          </a:p>
        </p:txBody>
      </p:sp>
      <p:sp>
        <p:nvSpPr>
          <p:cNvPr id="341" name="Google Shape;341;p48"/>
          <p:cNvSpPr txBox="1"/>
          <p:nvPr>
            <p:ph idx="1" type="body"/>
          </p:nvPr>
        </p:nvSpPr>
        <p:spPr>
          <a:xfrm>
            <a:off x="866675" y="1626950"/>
            <a:ext cx="6571200" cy="2562300"/>
          </a:xfrm>
          <a:prstGeom prst="rect">
            <a:avLst/>
          </a:prstGeom>
          <a:noFill/>
          <a:ln>
            <a:noFill/>
          </a:ln>
        </p:spPr>
        <p:txBody>
          <a:bodyPr anchorCtr="0" anchor="t" bIns="34275" lIns="68575" spcFirstLastPara="1" rIns="68575" wrap="square" tIns="34275">
            <a:noAutofit/>
          </a:bodyPr>
          <a:lstStyle/>
          <a:p>
            <a:pPr indent="-298450" lvl="0" marL="457200" rtl="0" algn="l">
              <a:lnSpc>
                <a:spcPct val="115000"/>
              </a:lnSpc>
              <a:spcBef>
                <a:spcPts val="1200"/>
              </a:spcBef>
              <a:spcAft>
                <a:spcPts val="0"/>
              </a:spcAft>
              <a:buClr>
                <a:schemeClr val="dk1"/>
              </a:buClr>
              <a:buSzPts val="1100"/>
              <a:buAutoNum type="arabicPeriod"/>
            </a:pPr>
            <a:r>
              <a:rPr b="1" lang="en" sz="1100">
                <a:latin typeface="Arial"/>
                <a:ea typeface="Arial"/>
                <a:cs typeface="Arial"/>
                <a:sym typeface="Arial"/>
              </a:rPr>
              <a:t>Lewis, P., Perez, E., Piktus, A., et al. (2020)</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Retrieval-Augmented Generation for Knowledge-Intensive NLP Tasks</a:t>
            </a:r>
            <a:br>
              <a:rPr i="1" lang="en" sz="1100">
                <a:latin typeface="Arial"/>
                <a:ea typeface="Arial"/>
                <a:cs typeface="Arial"/>
                <a:sym typeface="Arial"/>
              </a:rPr>
            </a:br>
            <a:r>
              <a:rPr lang="en" sz="1100">
                <a:latin typeface="Arial"/>
                <a:ea typeface="Arial"/>
                <a:cs typeface="Arial"/>
                <a:sym typeface="Arial"/>
              </a:rPr>
              <a:t> NeurIPS 2020.</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2"/>
            </a:pPr>
            <a:r>
              <a:rPr b="1" lang="en" sz="1100">
                <a:latin typeface="Arial"/>
                <a:ea typeface="Arial"/>
                <a:cs typeface="Arial"/>
                <a:sym typeface="Arial"/>
              </a:rPr>
              <a:t>Yao, S., Zhao, J., Yu, D., et al. (2022)</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ReAct: Synergizing Reasoning and Acting in Language Models</a:t>
            </a:r>
            <a:br>
              <a:rPr i="1" lang="en" sz="1100">
                <a:latin typeface="Arial"/>
                <a:ea typeface="Arial"/>
                <a:cs typeface="Arial"/>
                <a:sym typeface="Arial"/>
              </a:rPr>
            </a:br>
            <a:r>
              <a:rPr lang="en" sz="1100">
                <a:latin typeface="Arial"/>
                <a:ea typeface="Arial"/>
                <a:cs typeface="Arial"/>
                <a:sym typeface="Arial"/>
              </a:rPr>
              <a:t> ICLR 2023.</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3"/>
            </a:pPr>
            <a:r>
              <a:rPr b="1" lang="en" sz="1100">
                <a:latin typeface="Arial"/>
                <a:ea typeface="Arial"/>
                <a:cs typeface="Arial"/>
                <a:sym typeface="Arial"/>
              </a:rPr>
              <a:t>Besrour, I., He, J., Schreieder, T., &amp; Färber, M. (2025)</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RAGentA: Multi-Agent Retrieval-Augmented Generation for Attributed Question Answering</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4"/>
            </a:pPr>
            <a:r>
              <a:rPr b="1" lang="en" sz="1100">
                <a:latin typeface="Arial"/>
                <a:ea typeface="Arial"/>
                <a:cs typeface="Arial"/>
                <a:sym typeface="Arial"/>
              </a:rPr>
              <a:t>Nguyen, T., Chin, P., &amp; Tai, Y. (2025)</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MA-RAG: Multi-Agent Retrieval-Augmented Generation via Collaborative Chain-of-Thought Reasoning</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p:txBody>
      </p:sp>
      <p:sp>
        <p:nvSpPr>
          <p:cNvPr id="342" name="Google Shape;342;p48"/>
          <p:cNvSpPr txBox="1"/>
          <p:nvPr>
            <p:ph idx="12" type="sldNum"/>
          </p:nvPr>
        </p:nvSpPr>
        <p:spPr>
          <a:xfrm>
            <a:off x="7754540" y="114300"/>
            <a:ext cx="628650" cy="35955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9"/>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REFERENCES</a:t>
            </a:r>
            <a:endParaRPr/>
          </a:p>
        </p:txBody>
      </p:sp>
      <p:sp>
        <p:nvSpPr>
          <p:cNvPr id="349" name="Google Shape;349;p49"/>
          <p:cNvSpPr txBox="1"/>
          <p:nvPr>
            <p:ph idx="1" type="body"/>
          </p:nvPr>
        </p:nvSpPr>
        <p:spPr>
          <a:xfrm>
            <a:off x="866675" y="1626950"/>
            <a:ext cx="6571200" cy="25623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startAt="5"/>
            </a:pPr>
            <a:r>
              <a:rPr b="1" lang="en" sz="1100">
                <a:latin typeface="Arial"/>
                <a:ea typeface="Arial"/>
                <a:cs typeface="Arial"/>
                <a:sym typeface="Arial"/>
              </a:rPr>
              <a:t>Ye, H., Guo, J., Liu, Z., &amp; Lam, K. (2026)</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Efficient Privacy-Preserving Retrieval-Augmented Generation with Distance-Preserving Encryption</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6"/>
            </a:pPr>
            <a:r>
              <a:rPr b="1" lang="en" sz="1100">
                <a:latin typeface="Arial"/>
                <a:ea typeface="Arial"/>
                <a:cs typeface="Arial"/>
                <a:sym typeface="Arial"/>
              </a:rPr>
              <a:t>Fu, S., Liu, F., Zhou, J., Cai, J., &amp; Pan, Z. (2026)</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PP-EDUVec: Privacy-Preserving Intelligent Management Algorithms for Educational-Corpus Vector Databases</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7"/>
            </a:pPr>
            <a:r>
              <a:rPr b="1" lang="en" sz="1100">
                <a:latin typeface="Arial"/>
                <a:ea typeface="Arial"/>
                <a:cs typeface="Arial"/>
                <a:sym typeface="Arial"/>
              </a:rPr>
              <a:t>Fourney, A., Bansal, G., Mozannar, H., et al. (2024)</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Magentic-One: A Generalist Multi-Agent System for Solving Complex Tasks</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p:txBody>
      </p:sp>
      <p:sp>
        <p:nvSpPr>
          <p:cNvPr id="350" name="Google Shape;350;p49"/>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0"/>
          <p:cNvSpPr txBox="1"/>
          <p:nvPr>
            <p:ph type="title"/>
          </p:nvPr>
        </p:nvSpPr>
        <p:spPr>
          <a:xfrm>
            <a:off x="1681618" y="729853"/>
            <a:ext cx="5756100" cy="5103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400"/>
              <a:buFont typeface="Gill Sans"/>
              <a:buNone/>
            </a:pPr>
            <a:r>
              <a:rPr lang="en"/>
              <a:t>REFERENCES</a:t>
            </a:r>
            <a:endParaRPr/>
          </a:p>
        </p:txBody>
      </p:sp>
      <p:sp>
        <p:nvSpPr>
          <p:cNvPr id="357" name="Google Shape;357;p50"/>
          <p:cNvSpPr txBox="1"/>
          <p:nvPr>
            <p:ph idx="1" type="body"/>
          </p:nvPr>
        </p:nvSpPr>
        <p:spPr>
          <a:xfrm>
            <a:off x="866675" y="1626950"/>
            <a:ext cx="6571200" cy="25623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startAt="8"/>
            </a:pPr>
            <a:r>
              <a:rPr b="1" lang="en" sz="1100">
                <a:latin typeface="Arial"/>
                <a:ea typeface="Arial"/>
                <a:cs typeface="Arial"/>
                <a:sym typeface="Arial"/>
              </a:rPr>
              <a:t>Meyerson, E., Paolo, G., Dailey, R., et al. (2025)</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Solving a Million-Step LLM Task with Zero Errors</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9"/>
            </a:pPr>
            <a:r>
              <a:rPr b="1" lang="en" sz="1100">
                <a:latin typeface="Arial"/>
                <a:ea typeface="Arial"/>
                <a:cs typeface="Arial"/>
                <a:sym typeface="Arial"/>
              </a:rPr>
              <a:t>Lu, R., Bi, J., Ma, Y., et al. (2025)</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MV-Debate: Multi-view Agent Debate for Multimodal Harmful Content Detection</a:t>
            </a:r>
            <a:br>
              <a:rPr i="1" lang="en" sz="1100">
                <a:latin typeface="Arial"/>
                <a:ea typeface="Arial"/>
                <a:cs typeface="Arial"/>
                <a:sym typeface="Arial"/>
              </a:rPr>
            </a:br>
            <a:r>
              <a:rPr lang="en" sz="1100">
                <a:latin typeface="Arial"/>
                <a:ea typeface="Arial"/>
                <a:cs typeface="Arial"/>
                <a:sym typeface="Arial"/>
              </a:rPr>
              <a:t> arXiv preprint.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startAt="10"/>
            </a:pPr>
            <a:r>
              <a:rPr b="1" lang="en" sz="1100">
                <a:latin typeface="Arial"/>
                <a:ea typeface="Arial"/>
                <a:cs typeface="Arial"/>
                <a:sym typeface="Arial"/>
              </a:rPr>
              <a:t>Neogi, S., &amp; Wang, Y. (2025)</a:t>
            </a:r>
            <a:br>
              <a:rPr b="1" lang="en" sz="1100">
                <a:latin typeface="Arial"/>
                <a:ea typeface="Arial"/>
                <a:cs typeface="Arial"/>
                <a:sym typeface="Arial"/>
              </a:rPr>
            </a:br>
            <a:r>
              <a:rPr lang="en" sz="1100">
                <a:latin typeface="Arial"/>
                <a:ea typeface="Arial"/>
                <a:cs typeface="Arial"/>
                <a:sym typeface="Arial"/>
              </a:rPr>
              <a:t> </a:t>
            </a:r>
            <a:r>
              <a:rPr i="1" lang="en" sz="1100">
                <a:latin typeface="Arial"/>
                <a:ea typeface="Arial"/>
                <a:cs typeface="Arial"/>
                <a:sym typeface="Arial"/>
              </a:rPr>
              <a:t>CEDA: Cross-modal Evaluation through Debate Agents for Robust Hallucination Detection</a:t>
            </a:r>
            <a:br>
              <a:rPr i="1" lang="en" sz="1100">
                <a:latin typeface="Arial"/>
                <a:ea typeface="Arial"/>
                <a:cs typeface="Arial"/>
                <a:sym typeface="Arial"/>
              </a:rPr>
            </a:br>
            <a:r>
              <a:rPr lang="en" sz="1100">
                <a:latin typeface="Arial"/>
                <a:ea typeface="Arial"/>
                <a:cs typeface="Arial"/>
                <a:sym typeface="Arial"/>
              </a:rPr>
              <a:t> NeurIPS 2025 Workshop.</a:t>
            </a:r>
            <a:endParaRPr sz="1100">
              <a:latin typeface="Arial"/>
              <a:ea typeface="Arial"/>
              <a:cs typeface="Arial"/>
              <a:sym typeface="Arial"/>
            </a:endParaRPr>
          </a:p>
        </p:txBody>
      </p:sp>
      <p:sp>
        <p:nvSpPr>
          <p:cNvPr id="358" name="Google Shape;358;p50"/>
          <p:cNvSpPr txBox="1"/>
          <p:nvPr>
            <p:ph idx="12" type="sldNum"/>
          </p:nvPr>
        </p:nvSpPr>
        <p:spPr>
          <a:xfrm>
            <a:off x="7754540" y="114300"/>
            <a:ext cx="628800" cy="359700"/>
          </a:xfrm>
          <a:prstGeom prst="rect">
            <a:avLst/>
          </a:prstGeom>
          <a:noFill/>
          <a:ln>
            <a:noFill/>
          </a:ln>
        </p:spPr>
        <p:txBody>
          <a:bodyPr anchorCtr="0" anchor="b" bIns="34275" lIns="68575" spcFirstLastPara="1" rIns="68575" wrap="square" tIns="34275">
            <a:noAutofit/>
          </a:bodyPr>
          <a:lstStyle/>
          <a:p>
            <a:pPr indent="0" lvl="0" marL="0" rtl="0" algn="ctr">
              <a:lnSpc>
                <a:spcPct val="100000"/>
              </a:lnSpc>
              <a:spcBef>
                <a:spcPts val="0"/>
              </a:spcBef>
              <a:spcAft>
                <a:spcPts val="0"/>
              </a:spcAft>
              <a:buClr>
                <a:schemeClr val="lt1"/>
              </a:buClr>
              <a:buSzPts val="2100"/>
              <a:buFont typeface="Century Gothic"/>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